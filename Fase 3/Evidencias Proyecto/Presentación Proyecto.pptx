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x="18288000" cy="10287000"/>
  <p:notesSz cx="6858000" cy="9144000"/>
  <p:embeddedFontLst>
    <p:embeddedFont>
      <p:font typeface="Belleza" charset="1" panose="02000503050000020003"/>
      <p:regular r:id="rId23"/>
    </p:embeddedFont>
    <p:embeddedFont>
      <p:font typeface="Open Sans" charset="1" panose="020B0606030504020204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svg" Type="http://schemas.openxmlformats.org/officeDocument/2006/relationships/image"/><Relationship Id="rId11" Target="../media/image16.png" Type="http://schemas.openxmlformats.org/officeDocument/2006/relationships/image"/><Relationship Id="rId12" Target="../media/image17.svg" Type="http://schemas.openxmlformats.org/officeDocument/2006/relationships/image"/><Relationship Id="rId13" Target="../media/image18.png" Type="http://schemas.openxmlformats.org/officeDocument/2006/relationships/image"/><Relationship Id="rId14" Target="../media/image19.svg" Type="http://schemas.openxmlformats.org/officeDocument/2006/relationships/image"/><Relationship Id="rId15" Target="../media/image9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3.png" Type="http://schemas.openxmlformats.org/officeDocument/2006/relationships/image"/><Relationship Id="rId9" Target="../media/image1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svg" Type="http://schemas.openxmlformats.org/officeDocument/2006/relationships/image"/><Relationship Id="rId11" Target="../media/image20.png" Type="http://schemas.openxmlformats.org/officeDocument/2006/relationships/image"/><Relationship Id="rId12" Target="../media/image21.svg" Type="http://schemas.openxmlformats.org/officeDocument/2006/relationships/image"/><Relationship Id="rId13" Target="../media/image22.png" Type="http://schemas.openxmlformats.org/officeDocument/2006/relationships/image"/><Relationship Id="rId14" Target="../media/image23.svg" Type="http://schemas.openxmlformats.org/officeDocument/2006/relationships/image"/><Relationship Id="rId15" Target="../media/image9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3.pn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svg" Type="http://schemas.openxmlformats.org/officeDocument/2006/relationships/image"/><Relationship Id="rId11" Target="../media/image24.png" Type="http://schemas.openxmlformats.org/officeDocument/2006/relationships/image"/><Relationship Id="rId12" Target="../media/image25.svg" Type="http://schemas.openxmlformats.org/officeDocument/2006/relationships/image"/><Relationship Id="rId13" Target="../media/image26.png" Type="http://schemas.openxmlformats.org/officeDocument/2006/relationships/image"/><Relationship Id="rId14" Target="../media/image27.svg" Type="http://schemas.openxmlformats.org/officeDocument/2006/relationships/image"/><Relationship Id="rId15" Target="../media/image9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3.pn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svg" Type="http://schemas.openxmlformats.org/officeDocument/2006/relationships/image"/><Relationship Id="rId11" Target="../media/image30.png" Type="http://schemas.openxmlformats.org/officeDocument/2006/relationships/image"/><Relationship Id="rId12" Target="../media/image31.svg" Type="http://schemas.openxmlformats.org/officeDocument/2006/relationships/image"/><Relationship Id="rId13" Target="../media/image9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3.pn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Relationship Id="rId9" Target="../media/image2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12.png" Type="http://schemas.openxmlformats.org/officeDocument/2006/relationships/image"/><Relationship Id="rId6" Target="../media/image13.svg" Type="http://schemas.openxmlformats.org/officeDocument/2006/relationships/image"/><Relationship Id="rId7" Target="../media/image32.png" Type="http://schemas.openxmlformats.org/officeDocument/2006/relationships/image"/><Relationship Id="rId8" Target="../embeddings/oleObject1.bin" Type="http://schemas.openxmlformats.org/officeDocument/2006/relationships/oleObject"/><Relationship Id="rId9" Target="../media/image9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33.png" Type="http://schemas.openxmlformats.org/officeDocument/2006/relationships/image"/><Relationship Id="rId7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svg" Type="http://schemas.openxmlformats.org/officeDocument/2006/relationships/image"/><Relationship Id="rId11" Target="../media/image34.png" Type="http://schemas.openxmlformats.org/officeDocument/2006/relationships/image"/><Relationship Id="rId12" Target="../media/image35.png" Type="http://schemas.openxmlformats.org/officeDocument/2006/relationships/image"/><Relationship Id="rId13" Target="../media/image36.svg" Type="http://schemas.openxmlformats.org/officeDocument/2006/relationships/image"/><Relationship Id="rId14" Target="../media/image9.png" Type="http://schemas.openxmlformats.org/officeDocument/2006/relationships/image"/><Relationship Id="rId15" Target="../media/image37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3.pn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9.png" Type="http://schemas.openxmlformats.org/officeDocument/2006/relationships/image"/><Relationship Id="rId11" Target="../media/image40.svg" Type="http://schemas.openxmlformats.org/officeDocument/2006/relationships/image"/><Relationship Id="rId12" Target="../media/image9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3.pn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Relationship Id="rId9" Target="../media/image3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2.svg" Type="http://schemas.openxmlformats.org/officeDocument/2006/relationships/image"/><Relationship Id="rId11" Target="../media/image43.png" Type="http://schemas.openxmlformats.org/officeDocument/2006/relationships/image"/><Relationship Id="rId12" Target="../media/image44.png" Type="http://schemas.openxmlformats.org/officeDocument/2006/relationships/image"/><Relationship Id="rId13" Target="../media/image45.png" Type="http://schemas.openxmlformats.org/officeDocument/2006/relationships/image"/><Relationship Id="rId14" Target="../media/image39.png" Type="http://schemas.openxmlformats.org/officeDocument/2006/relationships/image"/><Relationship Id="rId15" Target="../media/image40.svg" Type="http://schemas.openxmlformats.org/officeDocument/2006/relationships/image"/><Relationship Id="rId16" Target="../media/image9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3.pn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Relationship Id="rId9" Target="../media/image41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svg" Type="http://schemas.openxmlformats.org/officeDocument/2006/relationships/image"/><Relationship Id="rId11" Target="../media/image46.png" Type="http://schemas.openxmlformats.org/officeDocument/2006/relationships/image"/><Relationship Id="rId12" Target="../media/image47.svg" Type="http://schemas.openxmlformats.org/officeDocument/2006/relationships/image"/><Relationship Id="rId13" Target="../media/image9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3.pn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embeddings/oleObject2.bin" Type="http://schemas.openxmlformats.org/officeDocument/2006/relationships/oleObject"/><Relationship Id="rId11" Target="../media/image49.png" Type="http://schemas.openxmlformats.org/officeDocument/2006/relationships/image"/><Relationship Id="rId12" Target="../media/image50.svg" Type="http://schemas.openxmlformats.org/officeDocument/2006/relationships/image"/><Relationship Id="rId13" Target="../media/image9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3.pn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Relationship Id="rId9" Target="../media/image4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2.png" Type="http://schemas.openxmlformats.org/officeDocument/2006/relationships/image"/><Relationship Id="rId11" Target="../media/image18.png" Type="http://schemas.openxmlformats.org/officeDocument/2006/relationships/image"/><Relationship Id="rId12" Target="../media/image19.svg" Type="http://schemas.openxmlformats.org/officeDocument/2006/relationships/image"/><Relationship Id="rId13" Target="../media/image53.png" Type="http://schemas.openxmlformats.org/officeDocument/2006/relationships/image"/><Relationship Id="rId14" Target="../media/image54.svg" Type="http://schemas.openxmlformats.org/officeDocument/2006/relationships/image"/><Relationship Id="rId15" Target="../media/image9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3.pn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Relationship Id="rId9" Target="../media/image51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svg" Type="http://schemas.openxmlformats.org/officeDocument/2006/relationships/image"/><Relationship Id="rId11" Target="../media/image55.png" Type="http://schemas.openxmlformats.org/officeDocument/2006/relationships/image"/><Relationship Id="rId12" Target="../media/image56.svg" Type="http://schemas.openxmlformats.org/officeDocument/2006/relationships/image"/><Relationship Id="rId13" Target="../media/image9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3.pn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svg" Type="http://schemas.openxmlformats.org/officeDocument/2006/relationships/image"/><Relationship Id="rId11" Target="../media/image57.png" Type="http://schemas.openxmlformats.org/officeDocument/2006/relationships/image"/><Relationship Id="rId12" Target="../media/image58.svg" Type="http://schemas.openxmlformats.org/officeDocument/2006/relationships/image"/><Relationship Id="rId13" Target="../media/image9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3.pn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svg" Type="http://schemas.openxmlformats.org/officeDocument/2006/relationships/image"/><Relationship Id="rId11" Target="../media/image59.png" Type="http://schemas.openxmlformats.org/officeDocument/2006/relationships/image"/><Relationship Id="rId12" Target="../media/image60.svg" Type="http://schemas.openxmlformats.org/officeDocument/2006/relationships/image"/><Relationship Id="rId13" Target="../media/image9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3.pn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svg" Type="http://schemas.openxmlformats.org/officeDocument/2006/relationships/image"/><Relationship Id="rId11" Target="../media/image61.png" Type="http://schemas.openxmlformats.org/officeDocument/2006/relationships/image"/><Relationship Id="rId12" Target="../media/image62.svg" Type="http://schemas.openxmlformats.org/officeDocument/2006/relationships/image"/><Relationship Id="rId13" Target="../media/image9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0.png" Type="http://schemas.openxmlformats.org/officeDocument/2006/relationships/image"/><Relationship Id="rId5" Target="../media/image11.svg" Type="http://schemas.openxmlformats.org/officeDocument/2006/relationships/image"/><Relationship Id="rId6" Target="../media/image3.pn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Relationship Id="rId9" Target="../media/image1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A6A6A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46799" y="-15308"/>
            <a:ext cx="19781597" cy="1294795"/>
          </a:xfrm>
          <a:custGeom>
            <a:avLst/>
            <a:gdLst/>
            <a:ahLst/>
            <a:cxnLst/>
            <a:rect r="r" b="b" t="t" l="l"/>
            <a:pathLst>
              <a:path h="1294795" w="19781597">
                <a:moveTo>
                  <a:pt x="0" y="0"/>
                </a:moveTo>
                <a:lnTo>
                  <a:pt x="19781598" y="0"/>
                </a:lnTo>
                <a:lnTo>
                  <a:pt x="19781598" y="1294795"/>
                </a:lnTo>
                <a:lnTo>
                  <a:pt x="0" y="12947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87811" y="425963"/>
            <a:ext cx="515317" cy="412253"/>
          </a:xfrm>
          <a:custGeom>
            <a:avLst/>
            <a:gdLst/>
            <a:ahLst/>
            <a:cxnLst/>
            <a:rect r="r" b="b" t="t" l="l"/>
            <a:pathLst>
              <a:path h="412253" w="515317">
                <a:moveTo>
                  <a:pt x="0" y="0"/>
                </a:moveTo>
                <a:lnTo>
                  <a:pt x="515317" y="0"/>
                </a:lnTo>
                <a:lnTo>
                  <a:pt x="515317" y="412253"/>
                </a:lnTo>
                <a:lnTo>
                  <a:pt x="0" y="4122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125438" y="3071172"/>
            <a:ext cx="3196646" cy="3196646"/>
          </a:xfrm>
          <a:custGeom>
            <a:avLst/>
            <a:gdLst/>
            <a:ahLst/>
            <a:cxnLst/>
            <a:rect r="r" b="b" t="t" l="l"/>
            <a:pathLst>
              <a:path h="3196646" w="3196646">
                <a:moveTo>
                  <a:pt x="0" y="0"/>
                </a:moveTo>
                <a:lnTo>
                  <a:pt x="3196645" y="0"/>
                </a:lnTo>
                <a:lnTo>
                  <a:pt x="3196645" y="3196646"/>
                </a:lnTo>
                <a:lnTo>
                  <a:pt x="0" y="319664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350868" y="3615649"/>
            <a:ext cx="10429235" cy="2517479"/>
          </a:xfrm>
          <a:custGeom>
            <a:avLst/>
            <a:gdLst/>
            <a:ahLst/>
            <a:cxnLst/>
            <a:rect r="r" b="b" t="t" l="l"/>
            <a:pathLst>
              <a:path h="2517479" w="10429235">
                <a:moveTo>
                  <a:pt x="0" y="0"/>
                </a:moveTo>
                <a:lnTo>
                  <a:pt x="10429236" y="0"/>
                </a:lnTo>
                <a:lnTo>
                  <a:pt x="10429236" y="2517479"/>
                </a:lnTo>
                <a:lnTo>
                  <a:pt x="0" y="251747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09892" y="7528136"/>
            <a:ext cx="4472959" cy="1079713"/>
          </a:xfrm>
          <a:custGeom>
            <a:avLst/>
            <a:gdLst/>
            <a:ahLst/>
            <a:cxnLst/>
            <a:rect r="r" b="b" t="t" l="l"/>
            <a:pathLst>
              <a:path h="1079713" w="4472959">
                <a:moveTo>
                  <a:pt x="0" y="0"/>
                </a:moveTo>
                <a:lnTo>
                  <a:pt x="4472959" y="0"/>
                </a:lnTo>
                <a:lnTo>
                  <a:pt x="4472959" y="1079713"/>
                </a:lnTo>
                <a:lnTo>
                  <a:pt x="0" y="107971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09892" y="8864707"/>
            <a:ext cx="4472959" cy="1079713"/>
          </a:xfrm>
          <a:custGeom>
            <a:avLst/>
            <a:gdLst/>
            <a:ahLst/>
            <a:cxnLst/>
            <a:rect r="r" b="b" t="t" l="l"/>
            <a:pathLst>
              <a:path h="1079713" w="4472959">
                <a:moveTo>
                  <a:pt x="0" y="0"/>
                </a:moveTo>
                <a:lnTo>
                  <a:pt x="4472959" y="0"/>
                </a:lnTo>
                <a:lnTo>
                  <a:pt x="4472959" y="1079713"/>
                </a:lnTo>
                <a:lnTo>
                  <a:pt x="0" y="107971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140886" y="7399188"/>
            <a:ext cx="4899101" cy="1353933"/>
          </a:xfrm>
          <a:custGeom>
            <a:avLst/>
            <a:gdLst/>
            <a:ahLst/>
            <a:cxnLst/>
            <a:rect r="r" b="b" t="t" l="l"/>
            <a:pathLst>
              <a:path h="1353933" w="4899101">
                <a:moveTo>
                  <a:pt x="0" y="0"/>
                </a:moveTo>
                <a:lnTo>
                  <a:pt x="4899101" y="0"/>
                </a:lnTo>
                <a:lnTo>
                  <a:pt x="4899101" y="1353933"/>
                </a:lnTo>
                <a:lnTo>
                  <a:pt x="0" y="135393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6140886" y="8753121"/>
            <a:ext cx="4899101" cy="1353933"/>
          </a:xfrm>
          <a:custGeom>
            <a:avLst/>
            <a:gdLst/>
            <a:ahLst/>
            <a:cxnLst/>
            <a:rect r="r" b="b" t="t" l="l"/>
            <a:pathLst>
              <a:path h="1353933" w="4899101">
                <a:moveTo>
                  <a:pt x="0" y="0"/>
                </a:moveTo>
                <a:lnTo>
                  <a:pt x="4899101" y="0"/>
                </a:lnTo>
                <a:lnTo>
                  <a:pt x="4899101" y="1353933"/>
                </a:lnTo>
                <a:lnTo>
                  <a:pt x="0" y="135393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165264" y="72874"/>
            <a:ext cx="6122736" cy="1530684"/>
          </a:xfrm>
          <a:custGeom>
            <a:avLst/>
            <a:gdLst/>
            <a:ahLst/>
            <a:cxnLst/>
            <a:rect r="r" b="b" t="t" l="l"/>
            <a:pathLst>
              <a:path h="1530684" w="6122736">
                <a:moveTo>
                  <a:pt x="0" y="0"/>
                </a:moveTo>
                <a:lnTo>
                  <a:pt x="6122736" y="0"/>
                </a:lnTo>
                <a:lnTo>
                  <a:pt x="6122736" y="1530684"/>
                </a:lnTo>
                <a:lnTo>
                  <a:pt x="0" y="1530684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6861753" y="4146728"/>
            <a:ext cx="8824912" cy="102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73"/>
              </a:lnSpc>
            </a:pPr>
            <a:r>
              <a:rPr lang="en-US" sz="5909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Sist</a:t>
            </a:r>
            <a:r>
              <a:rPr lang="en-US" sz="5909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ema analítico de consumo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45470" y="7734935"/>
            <a:ext cx="4637382" cy="58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Sebastián Solar Aburto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67682" y="9008844"/>
            <a:ext cx="3932188" cy="58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Carlos Catalán Donoso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140886" y="7734935"/>
            <a:ext cx="5083817" cy="58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Backend y Arquitectura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607883" y="9008844"/>
            <a:ext cx="3780390" cy="58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Frontend y Datos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A6A6A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57362" y="-143352"/>
            <a:ext cx="16977437" cy="1111250"/>
          </a:xfrm>
          <a:custGeom>
            <a:avLst/>
            <a:gdLst/>
            <a:ahLst/>
            <a:cxnLst/>
            <a:rect r="r" b="b" t="t" l="l"/>
            <a:pathLst>
              <a:path h="1111250" w="16977437">
                <a:moveTo>
                  <a:pt x="0" y="0"/>
                </a:moveTo>
                <a:lnTo>
                  <a:pt x="16977437" y="0"/>
                </a:lnTo>
                <a:lnTo>
                  <a:pt x="16977437" y="1111250"/>
                </a:lnTo>
                <a:lnTo>
                  <a:pt x="0" y="11112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5853" y="-578697"/>
            <a:ext cx="4114724" cy="14127808"/>
          </a:xfrm>
          <a:custGeom>
            <a:avLst/>
            <a:gdLst/>
            <a:ahLst/>
            <a:cxnLst/>
            <a:rect r="r" b="b" t="t" l="l"/>
            <a:pathLst>
              <a:path h="14127808" w="4114724">
                <a:moveTo>
                  <a:pt x="0" y="0"/>
                </a:moveTo>
                <a:lnTo>
                  <a:pt x="4114724" y="0"/>
                </a:lnTo>
                <a:lnTo>
                  <a:pt x="4114724" y="14127808"/>
                </a:lnTo>
                <a:lnTo>
                  <a:pt x="0" y="141278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dash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397370" y="1584599"/>
            <a:ext cx="3319984" cy="959777"/>
          </a:xfrm>
          <a:custGeom>
            <a:avLst/>
            <a:gdLst/>
            <a:ahLst/>
            <a:cxnLst/>
            <a:rect r="r" b="b" t="t" l="l"/>
            <a:pathLst>
              <a:path h="959777" w="3319984">
                <a:moveTo>
                  <a:pt x="0" y="0"/>
                </a:moveTo>
                <a:lnTo>
                  <a:pt x="3319984" y="0"/>
                </a:lnTo>
                <a:lnTo>
                  <a:pt x="3319984" y="959777"/>
                </a:lnTo>
                <a:lnTo>
                  <a:pt x="0" y="9597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97370" y="5143500"/>
            <a:ext cx="3319984" cy="959777"/>
          </a:xfrm>
          <a:custGeom>
            <a:avLst/>
            <a:gdLst/>
            <a:ahLst/>
            <a:cxnLst/>
            <a:rect r="r" b="b" t="t" l="l"/>
            <a:pathLst>
              <a:path h="959777" w="3319984">
                <a:moveTo>
                  <a:pt x="0" y="0"/>
                </a:moveTo>
                <a:lnTo>
                  <a:pt x="3319984" y="0"/>
                </a:lnTo>
                <a:lnTo>
                  <a:pt x="3319984" y="959777"/>
                </a:lnTo>
                <a:lnTo>
                  <a:pt x="0" y="95977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374621" y="316798"/>
            <a:ext cx="442267" cy="353814"/>
          </a:xfrm>
          <a:custGeom>
            <a:avLst/>
            <a:gdLst/>
            <a:ahLst/>
            <a:cxnLst/>
            <a:rect r="r" b="b" t="t" l="l"/>
            <a:pathLst>
              <a:path h="353814" w="442267">
                <a:moveTo>
                  <a:pt x="0" y="0"/>
                </a:moveTo>
                <a:lnTo>
                  <a:pt x="442267" y="0"/>
                </a:lnTo>
                <a:lnTo>
                  <a:pt x="442267" y="353814"/>
                </a:lnTo>
                <a:lnTo>
                  <a:pt x="0" y="35381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454757" y="2544376"/>
            <a:ext cx="1153504" cy="1203133"/>
          </a:xfrm>
          <a:custGeom>
            <a:avLst/>
            <a:gdLst/>
            <a:ahLst/>
            <a:cxnLst/>
            <a:rect r="r" b="b" t="t" l="l"/>
            <a:pathLst>
              <a:path h="1203133" w="1153504">
                <a:moveTo>
                  <a:pt x="0" y="0"/>
                </a:moveTo>
                <a:lnTo>
                  <a:pt x="1153504" y="0"/>
                </a:lnTo>
                <a:lnTo>
                  <a:pt x="1153504" y="1203133"/>
                </a:lnTo>
                <a:lnTo>
                  <a:pt x="0" y="120313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81022" y="6103277"/>
            <a:ext cx="1300973" cy="1467953"/>
          </a:xfrm>
          <a:custGeom>
            <a:avLst/>
            <a:gdLst/>
            <a:ahLst/>
            <a:cxnLst/>
            <a:rect r="r" b="b" t="t" l="l"/>
            <a:pathLst>
              <a:path h="1467953" w="1300973">
                <a:moveTo>
                  <a:pt x="0" y="0"/>
                </a:moveTo>
                <a:lnTo>
                  <a:pt x="1300973" y="0"/>
                </a:lnTo>
                <a:lnTo>
                  <a:pt x="1300973" y="1467953"/>
                </a:lnTo>
                <a:lnTo>
                  <a:pt x="0" y="146795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945559" y="1140075"/>
            <a:ext cx="10237331" cy="4226456"/>
          </a:xfrm>
          <a:custGeom>
            <a:avLst/>
            <a:gdLst/>
            <a:ahLst/>
            <a:cxnLst/>
            <a:rect r="r" b="b" t="t" l="l"/>
            <a:pathLst>
              <a:path h="4226456" w="10237331">
                <a:moveTo>
                  <a:pt x="0" y="0"/>
                </a:moveTo>
                <a:lnTo>
                  <a:pt x="10237331" y="0"/>
                </a:lnTo>
                <a:lnTo>
                  <a:pt x="10237331" y="4226456"/>
                </a:lnTo>
                <a:lnTo>
                  <a:pt x="0" y="422645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397370" y="1731430"/>
            <a:ext cx="3319984" cy="58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Problema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5945559" y="5623389"/>
            <a:ext cx="10237331" cy="4226456"/>
          </a:xfrm>
          <a:custGeom>
            <a:avLst/>
            <a:gdLst/>
            <a:ahLst/>
            <a:cxnLst/>
            <a:rect r="r" b="b" t="t" l="l"/>
            <a:pathLst>
              <a:path h="4226456" w="10237331">
                <a:moveTo>
                  <a:pt x="0" y="0"/>
                </a:moveTo>
                <a:lnTo>
                  <a:pt x="10237331" y="0"/>
                </a:lnTo>
                <a:lnTo>
                  <a:pt x="10237331" y="4226456"/>
                </a:lnTo>
                <a:lnTo>
                  <a:pt x="0" y="4226456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5244531" y="2016862"/>
            <a:ext cx="11344713" cy="2117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4"/>
              </a:lnSpc>
              <a:spcBef>
                <a:spcPct val="0"/>
              </a:spcBef>
            </a:pPr>
            <a:r>
              <a:rPr lang="en-US" sz="2402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No existe una plataforma única que centralice los precios de supermercados.</a:t>
            </a:r>
          </a:p>
          <a:p>
            <a:pPr algn="ctr">
              <a:lnSpc>
                <a:spcPts val="3364"/>
              </a:lnSpc>
              <a:spcBef>
                <a:spcPct val="0"/>
              </a:spcBef>
            </a:pPr>
            <a:r>
              <a:rPr lang="en-US" sz="2402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Las Pymes no saben dónde abastecerse al mejor costo.</a:t>
            </a:r>
          </a:p>
          <a:p>
            <a:pPr algn="ctr">
              <a:lnSpc>
                <a:spcPts val="3364"/>
              </a:lnSpc>
              <a:spcBef>
                <a:spcPct val="0"/>
              </a:spcBef>
            </a:pPr>
            <a:r>
              <a:rPr lang="en-US" sz="2402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Los consumidores deben comparar manualmente en múltiples sitios.</a:t>
            </a:r>
          </a:p>
          <a:p>
            <a:pPr algn="ctr">
              <a:lnSpc>
                <a:spcPts val="3364"/>
              </a:lnSpc>
              <a:spcBef>
                <a:spcPct val="0"/>
              </a:spcBef>
            </a:pPr>
            <a:r>
              <a:rPr lang="en-US" sz="2402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No hay historial de precios ni análisis de tendencias.</a:t>
            </a:r>
          </a:p>
          <a:p>
            <a:pPr algn="ctr">
              <a:lnSpc>
                <a:spcPts val="3364"/>
              </a:lnSpc>
              <a:spcBef>
                <a:spcPct val="0"/>
              </a:spcBef>
            </a:pPr>
            <a:r>
              <a:rPr lang="en-US" sz="2402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Falta información confiable para tomar decisiones de compra.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97370" y="5290331"/>
            <a:ext cx="3319984" cy="58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Solución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795517" y="6565832"/>
            <a:ext cx="8242740" cy="2090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64"/>
              </a:lnSpc>
              <a:spcBef>
                <a:spcPct val="0"/>
              </a:spcBef>
            </a:pPr>
            <a:r>
              <a:rPr lang="en-US" sz="2403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Plataforma web que centraliza precios en tiempo real.</a:t>
            </a:r>
          </a:p>
          <a:p>
            <a:pPr algn="ctr">
              <a:lnSpc>
                <a:spcPts val="3364"/>
              </a:lnSpc>
              <a:spcBef>
                <a:spcPct val="0"/>
              </a:spcBef>
            </a:pPr>
            <a:r>
              <a:rPr lang="en-US" sz="2403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Scraping automatizado para obtener datos reales de supermercados.</a:t>
            </a:r>
          </a:p>
          <a:p>
            <a:pPr algn="ctr">
              <a:lnSpc>
                <a:spcPts val="3364"/>
              </a:lnSpc>
              <a:spcBef>
                <a:spcPct val="0"/>
              </a:spcBef>
            </a:pPr>
            <a:r>
              <a:rPr lang="en-US" sz="2403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Historial de precios y análisis de variación.</a:t>
            </a:r>
          </a:p>
          <a:p>
            <a:pPr algn="ctr">
              <a:lnSpc>
                <a:spcPts val="3364"/>
              </a:lnSpc>
              <a:spcBef>
                <a:spcPct val="0"/>
              </a:spcBef>
            </a:pPr>
            <a:r>
              <a:rPr lang="en-US" sz="2403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Dashboards para Pymes y comparación para consumidores.</a:t>
            </a:r>
          </a:p>
          <a:p>
            <a:pPr algn="ctr">
              <a:lnSpc>
                <a:spcPts val="3364"/>
              </a:lnSpc>
              <a:spcBef>
                <a:spcPct val="0"/>
              </a:spcBef>
            </a:pPr>
            <a:r>
              <a:rPr lang="en-US" sz="2403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Ecosistema digital que transforma datos en inteligencia comercial.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4130386" y="-19421"/>
            <a:ext cx="4105008" cy="1026252"/>
          </a:xfrm>
          <a:custGeom>
            <a:avLst/>
            <a:gdLst/>
            <a:ahLst/>
            <a:cxnLst/>
            <a:rect r="r" b="b" t="t" l="l"/>
            <a:pathLst>
              <a:path h="1026252" w="4105008">
                <a:moveTo>
                  <a:pt x="0" y="0"/>
                </a:moveTo>
                <a:lnTo>
                  <a:pt x="4105008" y="0"/>
                </a:lnTo>
                <a:lnTo>
                  <a:pt x="4105008" y="1026252"/>
                </a:lnTo>
                <a:lnTo>
                  <a:pt x="0" y="102625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A6A6A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57362" y="-143352"/>
            <a:ext cx="16977437" cy="1111250"/>
          </a:xfrm>
          <a:custGeom>
            <a:avLst/>
            <a:gdLst/>
            <a:ahLst/>
            <a:cxnLst/>
            <a:rect r="r" b="b" t="t" l="l"/>
            <a:pathLst>
              <a:path h="1111250" w="16977437">
                <a:moveTo>
                  <a:pt x="0" y="0"/>
                </a:moveTo>
                <a:lnTo>
                  <a:pt x="16977437" y="0"/>
                </a:lnTo>
                <a:lnTo>
                  <a:pt x="16977437" y="1111250"/>
                </a:lnTo>
                <a:lnTo>
                  <a:pt x="0" y="11112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591558"/>
            <a:ext cx="4114724" cy="14127808"/>
          </a:xfrm>
          <a:custGeom>
            <a:avLst/>
            <a:gdLst/>
            <a:ahLst/>
            <a:cxnLst/>
            <a:rect r="r" b="b" t="t" l="l"/>
            <a:pathLst>
              <a:path h="14127808" w="4114724">
                <a:moveTo>
                  <a:pt x="0" y="0"/>
                </a:moveTo>
                <a:lnTo>
                  <a:pt x="4114724" y="0"/>
                </a:lnTo>
                <a:lnTo>
                  <a:pt x="4114724" y="14127808"/>
                </a:lnTo>
                <a:lnTo>
                  <a:pt x="0" y="141278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dash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4374621" y="316798"/>
            <a:ext cx="442267" cy="353814"/>
          </a:xfrm>
          <a:custGeom>
            <a:avLst/>
            <a:gdLst/>
            <a:ahLst/>
            <a:cxnLst/>
            <a:rect r="r" b="b" t="t" l="l"/>
            <a:pathLst>
              <a:path h="353814" w="442267">
                <a:moveTo>
                  <a:pt x="0" y="0"/>
                </a:moveTo>
                <a:lnTo>
                  <a:pt x="442267" y="0"/>
                </a:lnTo>
                <a:lnTo>
                  <a:pt x="442267" y="353814"/>
                </a:lnTo>
                <a:lnTo>
                  <a:pt x="0" y="3538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97370" y="1584599"/>
            <a:ext cx="3319984" cy="959777"/>
          </a:xfrm>
          <a:custGeom>
            <a:avLst/>
            <a:gdLst/>
            <a:ahLst/>
            <a:cxnLst/>
            <a:rect r="r" b="b" t="t" l="l"/>
            <a:pathLst>
              <a:path h="959777" w="3319984">
                <a:moveTo>
                  <a:pt x="0" y="0"/>
                </a:moveTo>
                <a:lnTo>
                  <a:pt x="3319984" y="0"/>
                </a:lnTo>
                <a:lnTo>
                  <a:pt x="3319984" y="959777"/>
                </a:lnTo>
                <a:lnTo>
                  <a:pt x="0" y="95977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97370" y="5554517"/>
            <a:ext cx="3319984" cy="959777"/>
          </a:xfrm>
          <a:custGeom>
            <a:avLst/>
            <a:gdLst/>
            <a:ahLst/>
            <a:cxnLst/>
            <a:rect r="r" b="b" t="t" l="l"/>
            <a:pathLst>
              <a:path h="959777" w="3319984">
                <a:moveTo>
                  <a:pt x="0" y="0"/>
                </a:moveTo>
                <a:lnTo>
                  <a:pt x="3319984" y="0"/>
                </a:lnTo>
                <a:lnTo>
                  <a:pt x="3319984" y="959777"/>
                </a:lnTo>
                <a:lnTo>
                  <a:pt x="0" y="95977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816248" y="1188447"/>
            <a:ext cx="8525453" cy="3519712"/>
          </a:xfrm>
          <a:custGeom>
            <a:avLst/>
            <a:gdLst/>
            <a:ahLst/>
            <a:cxnLst/>
            <a:rect r="r" b="b" t="t" l="l"/>
            <a:pathLst>
              <a:path h="3519712" w="8525453">
                <a:moveTo>
                  <a:pt x="0" y="0"/>
                </a:moveTo>
                <a:lnTo>
                  <a:pt x="8525454" y="0"/>
                </a:lnTo>
                <a:lnTo>
                  <a:pt x="8525454" y="3519712"/>
                </a:lnTo>
                <a:lnTo>
                  <a:pt x="0" y="351971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5515318" y="5339080"/>
            <a:ext cx="4816458" cy="1988462"/>
          </a:xfrm>
          <a:custGeom>
            <a:avLst/>
            <a:gdLst/>
            <a:ahLst/>
            <a:cxnLst/>
            <a:rect r="r" b="b" t="t" l="l"/>
            <a:pathLst>
              <a:path h="1988462" w="4816458">
                <a:moveTo>
                  <a:pt x="0" y="0"/>
                </a:moveTo>
                <a:lnTo>
                  <a:pt x="4816457" y="0"/>
                </a:lnTo>
                <a:lnTo>
                  <a:pt x="4816457" y="1988462"/>
                </a:lnTo>
                <a:lnTo>
                  <a:pt x="0" y="19884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731950" y="5339080"/>
            <a:ext cx="4816458" cy="1988462"/>
          </a:xfrm>
          <a:custGeom>
            <a:avLst/>
            <a:gdLst/>
            <a:ahLst/>
            <a:cxnLst/>
            <a:rect r="r" b="b" t="t" l="l"/>
            <a:pathLst>
              <a:path h="1988462" w="4816458">
                <a:moveTo>
                  <a:pt x="0" y="0"/>
                </a:moveTo>
                <a:lnTo>
                  <a:pt x="4816458" y="0"/>
                </a:lnTo>
                <a:lnTo>
                  <a:pt x="4816458" y="1988462"/>
                </a:lnTo>
                <a:lnTo>
                  <a:pt x="0" y="19884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5515318" y="7998244"/>
            <a:ext cx="4816458" cy="1988462"/>
          </a:xfrm>
          <a:custGeom>
            <a:avLst/>
            <a:gdLst/>
            <a:ahLst/>
            <a:cxnLst/>
            <a:rect r="r" b="b" t="t" l="l"/>
            <a:pathLst>
              <a:path h="1988462" w="4816458">
                <a:moveTo>
                  <a:pt x="0" y="0"/>
                </a:moveTo>
                <a:lnTo>
                  <a:pt x="4816457" y="0"/>
                </a:lnTo>
                <a:lnTo>
                  <a:pt x="4816457" y="1988462"/>
                </a:lnTo>
                <a:lnTo>
                  <a:pt x="0" y="198846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731950" y="7956192"/>
            <a:ext cx="4816458" cy="1988462"/>
          </a:xfrm>
          <a:custGeom>
            <a:avLst/>
            <a:gdLst/>
            <a:ahLst/>
            <a:cxnLst/>
            <a:rect r="r" b="b" t="t" l="l"/>
            <a:pathLst>
              <a:path h="1988462" w="4816458">
                <a:moveTo>
                  <a:pt x="0" y="0"/>
                </a:moveTo>
                <a:lnTo>
                  <a:pt x="4816458" y="0"/>
                </a:lnTo>
                <a:lnTo>
                  <a:pt x="4816458" y="1988463"/>
                </a:lnTo>
                <a:lnTo>
                  <a:pt x="0" y="198846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86004" y="2740203"/>
            <a:ext cx="900078" cy="1443273"/>
          </a:xfrm>
          <a:custGeom>
            <a:avLst/>
            <a:gdLst/>
            <a:ahLst/>
            <a:cxnLst/>
            <a:rect r="r" b="b" t="t" l="l"/>
            <a:pathLst>
              <a:path h="1443273" w="900078">
                <a:moveTo>
                  <a:pt x="0" y="0"/>
                </a:moveTo>
                <a:lnTo>
                  <a:pt x="900078" y="0"/>
                </a:lnTo>
                <a:lnTo>
                  <a:pt x="900078" y="1443273"/>
                </a:lnTo>
                <a:lnTo>
                  <a:pt x="0" y="1443273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80834" y="7133419"/>
            <a:ext cx="1553056" cy="1674453"/>
          </a:xfrm>
          <a:custGeom>
            <a:avLst/>
            <a:gdLst/>
            <a:ahLst/>
            <a:cxnLst/>
            <a:rect r="r" b="b" t="t" l="l"/>
            <a:pathLst>
              <a:path h="1674453" w="1553056">
                <a:moveTo>
                  <a:pt x="0" y="0"/>
                </a:moveTo>
                <a:lnTo>
                  <a:pt x="1553056" y="0"/>
                </a:lnTo>
                <a:lnTo>
                  <a:pt x="1553056" y="1674453"/>
                </a:lnTo>
                <a:lnTo>
                  <a:pt x="0" y="1674453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68737" y="1811758"/>
            <a:ext cx="3977251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Objetivo General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97370" y="5781675"/>
            <a:ext cx="3319984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Objetivos Específicos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126088" y="1821283"/>
            <a:ext cx="7905773" cy="2087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29"/>
              </a:lnSpc>
              <a:spcBef>
                <a:spcPct val="0"/>
              </a:spcBef>
            </a:pPr>
            <a:r>
              <a:rPr lang="en-US" sz="2378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Desarrollar una plataforma web capaz de centralizar, procesar y analizar datos de precios de supermercados, permitiendo a pymes y consumidores tomar decisiones informadas mediante comparación en tiempo real e indicadores analíticos basados en datos históricos.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043383" y="5668763"/>
            <a:ext cx="3397852" cy="11860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6"/>
              </a:lnSpc>
              <a:spcBef>
                <a:spcPct val="0"/>
              </a:spcBef>
            </a:pPr>
            <a:r>
              <a:rPr lang="en-US" sz="2311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M</a:t>
            </a:r>
            <a:r>
              <a:rPr lang="en-US" sz="2311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antener un 95% de precios actualizados diariamente en los 5 supermercados.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402303" y="5658031"/>
            <a:ext cx="3475752" cy="10867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55"/>
              </a:lnSpc>
              <a:spcBef>
                <a:spcPct val="0"/>
              </a:spcBef>
            </a:pPr>
            <a:r>
              <a:rPr lang="en-US" sz="2039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Com</a:t>
            </a:r>
            <a:r>
              <a:rPr lang="en-US" sz="2039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parar tendencias temporales mediante datos  (Trimestre 1 vs Trimestre 2).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002228" y="8358217"/>
            <a:ext cx="3439007" cy="1220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54"/>
              </a:lnSpc>
              <a:spcBef>
                <a:spcPct val="0"/>
              </a:spcBef>
            </a:pPr>
            <a:r>
              <a:rPr lang="en-US" sz="2324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G</a:t>
            </a:r>
            <a:r>
              <a:rPr lang="en-US" sz="2324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arantizar tiempos de respuesta &lt; 5 segundos en búsquedas y reportes.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301480" y="8208962"/>
            <a:ext cx="3525389" cy="1574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35"/>
              </a:lnSpc>
              <a:spcBef>
                <a:spcPct val="0"/>
              </a:spcBef>
            </a:pPr>
            <a:r>
              <a:rPr lang="en-US" sz="2239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Al</a:t>
            </a:r>
            <a:r>
              <a:rPr lang="en-US" sz="2239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canzar 80% de satisfacción en pruebas de usabilidad con 20 usuarios el primer mes de lanzamiento.</a:t>
            </a:r>
          </a:p>
        </p:txBody>
      </p:sp>
      <p:sp>
        <p:nvSpPr>
          <p:cNvPr name="Freeform 21" id="21"/>
          <p:cNvSpPr/>
          <p:nvPr/>
        </p:nvSpPr>
        <p:spPr>
          <a:xfrm flipH="false" flipV="false" rot="0">
            <a:off x="14130386" y="-19421"/>
            <a:ext cx="4105008" cy="1026252"/>
          </a:xfrm>
          <a:custGeom>
            <a:avLst/>
            <a:gdLst/>
            <a:ahLst/>
            <a:cxnLst/>
            <a:rect r="r" b="b" t="t" l="l"/>
            <a:pathLst>
              <a:path h="1026252" w="4105008">
                <a:moveTo>
                  <a:pt x="0" y="0"/>
                </a:moveTo>
                <a:lnTo>
                  <a:pt x="4105008" y="0"/>
                </a:lnTo>
                <a:lnTo>
                  <a:pt x="4105008" y="1026252"/>
                </a:lnTo>
                <a:lnTo>
                  <a:pt x="0" y="102625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A6A6A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57362" y="-143352"/>
            <a:ext cx="16977437" cy="1111250"/>
          </a:xfrm>
          <a:custGeom>
            <a:avLst/>
            <a:gdLst/>
            <a:ahLst/>
            <a:cxnLst/>
            <a:rect r="r" b="b" t="t" l="l"/>
            <a:pathLst>
              <a:path h="1111250" w="16977437">
                <a:moveTo>
                  <a:pt x="0" y="0"/>
                </a:moveTo>
                <a:lnTo>
                  <a:pt x="16977437" y="0"/>
                </a:lnTo>
                <a:lnTo>
                  <a:pt x="16977437" y="1111250"/>
                </a:lnTo>
                <a:lnTo>
                  <a:pt x="0" y="11112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530325"/>
            <a:ext cx="4114724" cy="14127808"/>
          </a:xfrm>
          <a:custGeom>
            <a:avLst/>
            <a:gdLst/>
            <a:ahLst/>
            <a:cxnLst/>
            <a:rect r="r" b="b" t="t" l="l"/>
            <a:pathLst>
              <a:path h="14127808" w="4114724">
                <a:moveTo>
                  <a:pt x="0" y="0"/>
                </a:moveTo>
                <a:lnTo>
                  <a:pt x="4114724" y="0"/>
                </a:lnTo>
                <a:lnTo>
                  <a:pt x="4114724" y="14127808"/>
                </a:lnTo>
                <a:lnTo>
                  <a:pt x="0" y="141278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dash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4374621" y="316798"/>
            <a:ext cx="442267" cy="353814"/>
          </a:xfrm>
          <a:custGeom>
            <a:avLst/>
            <a:gdLst/>
            <a:ahLst/>
            <a:cxnLst/>
            <a:rect r="r" b="b" t="t" l="l"/>
            <a:pathLst>
              <a:path h="353814" w="442267">
                <a:moveTo>
                  <a:pt x="0" y="0"/>
                </a:moveTo>
                <a:lnTo>
                  <a:pt x="442267" y="0"/>
                </a:lnTo>
                <a:lnTo>
                  <a:pt x="442267" y="353814"/>
                </a:lnTo>
                <a:lnTo>
                  <a:pt x="0" y="3538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97370" y="1584599"/>
            <a:ext cx="3319984" cy="959777"/>
          </a:xfrm>
          <a:custGeom>
            <a:avLst/>
            <a:gdLst/>
            <a:ahLst/>
            <a:cxnLst/>
            <a:rect r="r" b="b" t="t" l="l"/>
            <a:pathLst>
              <a:path h="959777" w="3319984">
                <a:moveTo>
                  <a:pt x="0" y="0"/>
                </a:moveTo>
                <a:lnTo>
                  <a:pt x="3319984" y="0"/>
                </a:lnTo>
                <a:lnTo>
                  <a:pt x="3319984" y="959777"/>
                </a:lnTo>
                <a:lnTo>
                  <a:pt x="0" y="95977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97370" y="7081982"/>
            <a:ext cx="3319984" cy="959777"/>
          </a:xfrm>
          <a:custGeom>
            <a:avLst/>
            <a:gdLst/>
            <a:ahLst/>
            <a:cxnLst/>
            <a:rect r="r" b="b" t="t" l="l"/>
            <a:pathLst>
              <a:path h="959777" w="3319984">
                <a:moveTo>
                  <a:pt x="0" y="0"/>
                </a:moveTo>
                <a:lnTo>
                  <a:pt x="3319984" y="0"/>
                </a:lnTo>
                <a:lnTo>
                  <a:pt x="3319984" y="959777"/>
                </a:lnTo>
                <a:lnTo>
                  <a:pt x="0" y="95977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7288944" y="7081982"/>
            <a:ext cx="7089984" cy="2927082"/>
          </a:xfrm>
          <a:custGeom>
            <a:avLst/>
            <a:gdLst/>
            <a:ahLst/>
            <a:cxnLst/>
            <a:rect r="r" b="b" t="t" l="l"/>
            <a:pathLst>
              <a:path h="2927082" w="7089984">
                <a:moveTo>
                  <a:pt x="0" y="0"/>
                </a:moveTo>
                <a:lnTo>
                  <a:pt x="7089984" y="0"/>
                </a:lnTo>
                <a:lnTo>
                  <a:pt x="7089984" y="2927082"/>
                </a:lnTo>
                <a:lnTo>
                  <a:pt x="0" y="292708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897369" y="1584599"/>
            <a:ext cx="11816127" cy="4878258"/>
          </a:xfrm>
          <a:custGeom>
            <a:avLst/>
            <a:gdLst/>
            <a:ahLst/>
            <a:cxnLst/>
            <a:rect r="r" b="b" t="t" l="l"/>
            <a:pathLst>
              <a:path h="4878258" w="11816127">
                <a:moveTo>
                  <a:pt x="0" y="0"/>
                </a:moveTo>
                <a:lnTo>
                  <a:pt x="11816127" y="0"/>
                </a:lnTo>
                <a:lnTo>
                  <a:pt x="11816127" y="4878258"/>
                </a:lnTo>
                <a:lnTo>
                  <a:pt x="0" y="487825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28700" y="2670910"/>
            <a:ext cx="1816215" cy="1816215"/>
          </a:xfrm>
          <a:custGeom>
            <a:avLst/>
            <a:gdLst/>
            <a:ahLst/>
            <a:cxnLst/>
            <a:rect r="r" b="b" t="t" l="l"/>
            <a:pathLst>
              <a:path h="1816215" w="1816215">
                <a:moveTo>
                  <a:pt x="0" y="0"/>
                </a:moveTo>
                <a:lnTo>
                  <a:pt x="1816215" y="0"/>
                </a:lnTo>
                <a:lnTo>
                  <a:pt x="1816215" y="1816214"/>
                </a:lnTo>
                <a:lnTo>
                  <a:pt x="0" y="181621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04908" y="8380361"/>
            <a:ext cx="1367434" cy="1332627"/>
          </a:xfrm>
          <a:custGeom>
            <a:avLst/>
            <a:gdLst/>
            <a:ahLst/>
            <a:cxnLst/>
            <a:rect r="r" b="b" t="t" l="l"/>
            <a:pathLst>
              <a:path h="1332627" w="1367434">
                <a:moveTo>
                  <a:pt x="0" y="0"/>
                </a:moveTo>
                <a:lnTo>
                  <a:pt x="1367435" y="0"/>
                </a:lnTo>
                <a:lnTo>
                  <a:pt x="1367435" y="1332627"/>
                </a:lnTo>
                <a:lnTo>
                  <a:pt x="0" y="1332627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0" y="1766990"/>
            <a:ext cx="3977251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Alcances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97370" y="7250828"/>
            <a:ext cx="3319984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Limitaciones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721522" y="7455933"/>
            <a:ext cx="5704668" cy="20365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7"/>
              </a:lnSpc>
              <a:spcBef>
                <a:spcPct val="0"/>
              </a:spcBef>
            </a:pPr>
            <a:r>
              <a:rPr lang="en-US" sz="2319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1) El</a:t>
            </a:r>
            <a:r>
              <a:rPr lang="en-US" sz="2319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 sistema no procesa compras reales.</a:t>
            </a:r>
          </a:p>
          <a:p>
            <a:pPr algn="ctr">
              <a:lnSpc>
                <a:spcPts val="3247"/>
              </a:lnSpc>
              <a:spcBef>
                <a:spcPct val="0"/>
              </a:spcBef>
            </a:pPr>
            <a:r>
              <a:rPr lang="en-US" sz="2319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2) Catálogo limitado a la categoría “Despensa”.</a:t>
            </a:r>
          </a:p>
          <a:p>
            <a:pPr algn="ctr">
              <a:lnSpc>
                <a:spcPts val="3247"/>
              </a:lnSpc>
              <a:spcBef>
                <a:spcPct val="0"/>
              </a:spcBef>
            </a:pPr>
            <a:r>
              <a:rPr lang="en-US" sz="2319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3) Dependencia de sitios externos.</a:t>
            </a:r>
          </a:p>
          <a:p>
            <a:pPr algn="ctr">
              <a:lnSpc>
                <a:spcPts val="3247"/>
              </a:lnSpc>
              <a:spcBef>
                <a:spcPct val="0"/>
              </a:spcBef>
            </a:pPr>
            <a:r>
              <a:rPr lang="en-US" sz="2319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4) No incorpora modelos predictivos.</a:t>
            </a:r>
          </a:p>
          <a:p>
            <a:pPr algn="ctr">
              <a:lnSpc>
                <a:spcPts val="3247"/>
              </a:lnSpc>
              <a:spcBef>
                <a:spcPct val="0"/>
              </a:spcBef>
            </a:pPr>
            <a:r>
              <a:rPr lang="en-US" sz="2319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5) Sin aplicación móvil nativa.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495584" y="2018695"/>
            <a:ext cx="5092557" cy="1776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9"/>
              </a:lnSpc>
              <a:spcBef>
                <a:spcPct val="0"/>
              </a:spcBef>
            </a:pPr>
            <a:r>
              <a:rPr lang="en-US" sz="1678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1) Plataforma W</a:t>
            </a:r>
            <a:r>
              <a:rPr lang="en-US" sz="1678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eb Completa</a:t>
            </a:r>
          </a:p>
          <a:p>
            <a:pPr algn="ctr">
              <a:lnSpc>
                <a:spcPts val="2349"/>
              </a:lnSpc>
              <a:spcBef>
                <a:spcPct val="0"/>
              </a:spcBef>
            </a:pPr>
            <a:r>
              <a:rPr lang="en-US" sz="1678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 -Catálogo de productos con comparación de precios.</a:t>
            </a:r>
          </a:p>
          <a:p>
            <a:pPr algn="ctr">
              <a:lnSpc>
                <a:spcPts val="2349"/>
              </a:lnSpc>
              <a:spcBef>
                <a:spcPct val="0"/>
              </a:spcBef>
            </a:pPr>
            <a:r>
              <a:rPr lang="en-US" sz="1678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 -Panel de Administración para ejecutar scraping y gestionar datos.</a:t>
            </a:r>
          </a:p>
          <a:p>
            <a:pPr algn="ctr">
              <a:lnSpc>
                <a:spcPts val="2349"/>
              </a:lnSpc>
              <a:spcBef>
                <a:spcPct val="0"/>
              </a:spcBef>
            </a:pPr>
            <a:r>
              <a:rPr lang="en-US" sz="1678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 -Dashboard Analítico para visualizar variaciones e indicadores clave.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279380" y="4171683"/>
            <a:ext cx="4317196" cy="14808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4) Módulo de Analítica</a:t>
            </a:r>
          </a:p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 -Captura de iteraciones de usuarios.</a:t>
            </a:r>
          </a:p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 -Almacenamiento estructurado para análisis.</a:t>
            </a:r>
          </a:p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 -Información orientada a apoyar decisiones comerciales de Pymes.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495584" y="4171683"/>
            <a:ext cx="4593180" cy="1573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04"/>
              </a:lnSpc>
              <a:spcBef>
                <a:spcPct val="0"/>
              </a:spcBef>
            </a:pPr>
            <a:r>
              <a:rPr lang="en-US" sz="1789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3) Gestión de Usuarios y Roles</a:t>
            </a:r>
          </a:p>
          <a:p>
            <a:pPr algn="ctr">
              <a:lnSpc>
                <a:spcPts val="2504"/>
              </a:lnSpc>
              <a:spcBef>
                <a:spcPct val="0"/>
              </a:spcBef>
            </a:pPr>
            <a:r>
              <a:rPr lang="en-US" sz="1789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 -Registro, login y perfiles.</a:t>
            </a:r>
          </a:p>
          <a:p>
            <a:pPr algn="ctr">
              <a:lnSpc>
                <a:spcPts val="2504"/>
              </a:lnSpc>
              <a:spcBef>
                <a:spcPct val="0"/>
              </a:spcBef>
            </a:pPr>
            <a:r>
              <a:rPr lang="en-US" sz="1789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 -Roles diferenciados: Cliente, usuario y Administrador.</a:t>
            </a:r>
          </a:p>
          <a:p>
            <a:pPr algn="ctr">
              <a:lnSpc>
                <a:spcPts val="2504"/>
              </a:lnSpc>
              <a:spcBef>
                <a:spcPct val="0"/>
              </a:spcBef>
            </a:pPr>
            <a:r>
              <a:rPr lang="en-US" sz="1789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 -Acceso seguro a módulos críticos del sistema.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279380" y="1972095"/>
            <a:ext cx="4293621" cy="14805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5"/>
              </a:lnSpc>
              <a:spcBef>
                <a:spcPct val="0"/>
              </a:spcBef>
            </a:pPr>
            <a:r>
              <a:rPr lang="en-US" sz="1711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2) Sistema de Scraping Funcional</a:t>
            </a:r>
          </a:p>
          <a:p>
            <a:pPr algn="ctr">
              <a:lnSpc>
                <a:spcPts val="2395"/>
              </a:lnSpc>
              <a:spcBef>
                <a:spcPct val="0"/>
              </a:spcBef>
            </a:pPr>
            <a:r>
              <a:rPr lang="en-US" sz="1711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 -Scrapers asíncronos desarrollados en Playwright.</a:t>
            </a:r>
          </a:p>
          <a:p>
            <a:pPr algn="ctr">
              <a:lnSpc>
                <a:spcPts val="2395"/>
              </a:lnSpc>
              <a:spcBef>
                <a:spcPct val="0"/>
              </a:spcBef>
            </a:pPr>
            <a:r>
              <a:rPr lang="en-US" sz="1711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 -Extracción y actualización desde Jumbo, Tottus, Unimarc, Santa Isabel y Acuenta.</a:t>
            </a:r>
          </a:p>
          <a:p>
            <a:pPr algn="ctr">
              <a:lnSpc>
                <a:spcPts val="2395"/>
              </a:lnSpc>
              <a:spcBef>
                <a:spcPct val="0"/>
              </a:spcBef>
            </a:pPr>
            <a:r>
              <a:rPr lang="en-US" sz="1711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 -Datos centrales para análisis.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14130386" y="-19421"/>
            <a:ext cx="4105008" cy="1026252"/>
          </a:xfrm>
          <a:custGeom>
            <a:avLst/>
            <a:gdLst/>
            <a:ahLst/>
            <a:cxnLst/>
            <a:rect r="r" b="b" t="t" l="l"/>
            <a:pathLst>
              <a:path h="1026252" w="4105008">
                <a:moveTo>
                  <a:pt x="0" y="0"/>
                </a:moveTo>
                <a:lnTo>
                  <a:pt x="4105008" y="0"/>
                </a:lnTo>
                <a:lnTo>
                  <a:pt x="4105008" y="1026252"/>
                </a:lnTo>
                <a:lnTo>
                  <a:pt x="0" y="102625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A6A6A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57362" y="-143352"/>
            <a:ext cx="16977437" cy="1111250"/>
          </a:xfrm>
          <a:custGeom>
            <a:avLst/>
            <a:gdLst/>
            <a:ahLst/>
            <a:cxnLst/>
            <a:rect r="r" b="b" t="t" l="l"/>
            <a:pathLst>
              <a:path h="1111250" w="16977437">
                <a:moveTo>
                  <a:pt x="0" y="0"/>
                </a:moveTo>
                <a:lnTo>
                  <a:pt x="16977437" y="0"/>
                </a:lnTo>
                <a:lnTo>
                  <a:pt x="16977437" y="1111250"/>
                </a:lnTo>
                <a:lnTo>
                  <a:pt x="0" y="11112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530325"/>
            <a:ext cx="4114724" cy="14127808"/>
          </a:xfrm>
          <a:custGeom>
            <a:avLst/>
            <a:gdLst/>
            <a:ahLst/>
            <a:cxnLst/>
            <a:rect r="r" b="b" t="t" l="l"/>
            <a:pathLst>
              <a:path h="14127808" w="4114724">
                <a:moveTo>
                  <a:pt x="0" y="0"/>
                </a:moveTo>
                <a:lnTo>
                  <a:pt x="4114724" y="0"/>
                </a:lnTo>
                <a:lnTo>
                  <a:pt x="4114724" y="14127808"/>
                </a:lnTo>
                <a:lnTo>
                  <a:pt x="0" y="141278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dash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4374621" y="316798"/>
            <a:ext cx="442267" cy="353814"/>
          </a:xfrm>
          <a:custGeom>
            <a:avLst/>
            <a:gdLst/>
            <a:ahLst/>
            <a:cxnLst/>
            <a:rect r="r" b="b" t="t" l="l"/>
            <a:pathLst>
              <a:path h="353814" w="442267">
                <a:moveTo>
                  <a:pt x="0" y="0"/>
                </a:moveTo>
                <a:lnTo>
                  <a:pt x="442267" y="0"/>
                </a:lnTo>
                <a:lnTo>
                  <a:pt x="442267" y="353814"/>
                </a:lnTo>
                <a:lnTo>
                  <a:pt x="0" y="3538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97370" y="1584599"/>
            <a:ext cx="3319984" cy="959777"/>
          </a:xfrm>
          <a:custGeom>
            <a:avLst/>
            <a:gdLst/>
            <a:ahLst/>
            <a:cxnLst/>
            <a:rect r="r" b="b" t="t" l="l"/>
            <a:pathLst>
              <a:path h="959777" w="3319984">
                <a:moveTo>
                  <a:pt x="0" y="0"/>
                </a:moveTo>
                <a:lnTo>
                  <a:pt x="3319984" y="0"/>
                </a:lnTo>
                <a:lnTo>
                  <a:pt x="3319984" y="959777"/>
                </a:lnTo>
                <a:lnTo>
                  <a:pt x="0" y="95977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487488" y="2544376"/>
            <a:ext cx="13604211" cy="5616464"/>
          </a:xfrm>
          <a:custGeom>
            <a:avLst/>
            <a:gdLst/>
            <a:ahLst/>
            <a:cxnLst/>
            <a:rect r="r" b="b" t="t" l="l"/>
            <a:pathLst>
              <a:path h="5616464" w="13604211">
                <a:moveTo>
                  <a:pt x="0" y="0"/>
                </a:moveTo>
                <a:lnTo>
                  <a:pt x="13604211" y="0"/>
                </a:lnTo>
                <a:lnTo>
                  <a:pt x="13604211" y="5616464"/>
                </a:lnTo>
                <a:lnTo>
                  <a:pt x="0" y="561646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006226" y="2794358"/>
            <a:ext cx="12566734" cy="46783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7"/>
              </a:lnSpc>
            </a:pPr>
            <a:r>
              <a:rPr lang="en-US" sz="2198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Iteraciones cortas, retroalimentación continua y mejoras incrementales durante el desarrollo.</a:t>
            </a:r>
          </a:p>
          <a:p>
            <a:pPr algn="l">
              <a:lnSpc>
                <a:spcPts val="3077"/>
              </a:lnSpc>
            </a:pPr>
            <a:r>
              <a:rPr lang="en-US" sz="2198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Etapas:</a:t>
            </a:r>
          </a:p>
          <a:p>
            <a:pPr algn="l">
              <a:lnSpc>
                <a:spcPts val="3077"/>
              </a:lnSpc>
            </a:pPr>
            <a:r>
              <a:rPr lang="en-US" sz="2198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1) Análisis: requerimientos, perfiles de usuario, fuentes de datos y necesidades analíticas; definición del alcance y evaluación técnica.</a:t>
            </a:r>
          </a:p>
          <a:p>
            <a:pPr algn="l">
              <a:lnSpc>
                <a:spcPts val="3077"/>
              </a:lnSpc>
            </a:pPr>
            <a:r>
              <a:rPr lang="en-US" sz="2198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2) Diseño: arquitectura del sistema, modelo de datos, flujos y prototipos de interfaz; planificación completa.</a:t>
            </a:r>
          </a:p>
          <a:p>
            <a:pPr algn="l">
              <a:lnSpc>
                <a:spcPts val="3077"/>
              </a:lnSpc>
            </a:pPr>
            <a:r>
              <a:rPr lang="en-US" sz="2198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3)Desarrollo (sprints): scrapers, API REST, vistas web y módulos integrados; construcción iterativa con integración continua.</a:t>
            </a:r>
          </a:p>
          <a:p>
            <a:pPr algn="l">
              <a:lnSpc>
                <a:spcPts val="3077"/>
              </a:lnSpc>
            </a:pPr>
            <a:r>
              <a:rPr lang="en-US" sz="2198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4) Pruebas: validación funcional, analítica, rendimiento y usuarios piloto; ajustes según resultados técnicos y de usabilidad.</a:t>
            </a:r>
          </a:p>
          <a:p>
            <a:pPr algn="l">
              <a:lnSpc>
                <a:spcPts val="3077"/>
              </a:lnSpc>
            </a:pPr>
            <a:r>
              <a:rPr lang="en-US" sz="2198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5) Despliegue: documentación, entorno productivo y presentación final; configuración en la nube y puesta en marcha del sistema.</a:t>
            </a:r>
          </a:p>
          <a:p>
            <a:pPr algn="ctr">
              <a:lnSpc>
                <a:spcPts val="3077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326151" y="2730873"/>
            <a:ext cx="1462423" cy="1462423"/>
          </a:xfrm>
          <a:custGeom>
            <a:avLst/>
            <a:gdLst/>
            <a:ahLst/>
            <a:cxnLst/>
            <a:rect r="r" b="b" t="t" l="l"/>
            <a:pathLst>
              <a:path h="1462423" w="1462423">
                <a:moveTo>
                  <a:pt x="0" y="0"/>
                </a:moveTo>
                <a:lnTo>
                  <a:pt x="1462422" y="0"/>
                </a:lnTo>
                <a:lnTo>
                  <a:pt x="1462422" y="1462422"/>
                </a:lnTo>
                <a:lnTo>
                  <a:pt x="0" y="146242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98685" y="1803636"/>
            <a:ext cx="3717354" cy="448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54"/>
              </a:lnSpc>
              <a:spcBef>
                <a:spcPct val="0"/>
              </a:spcBef>
            </a:pPr>
            <a:r>
              <a:rPr lang="en-US" sz="261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Metodología de trabajo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8452001" y="1484357"/>
            <a:ext cx="5602337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Metodología híbrida (modular + ágil)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4130386" y="-19421"/>
            <a:ext cx="4105008" cy="1026252"/>
          </a:xfrm>
          <a:custGeom>
            <a:avLst/>
            <a:gdLst/>
            <a:ahLst/>
            <a:cxnLst/>
            <a:rect r="r" b="b" t="t" l="l"/>
            <a:pathLst>
              <a:path h="1026252" w="4105008">
                <a:moveTo>
                  <a:pt x="0" y="0"/>
                </a:moveTo>
                <a:lnTo>
                  <a:pt x="4105008" y="0"/>
                </a:lnTo>
                <a:lnTo>
                  <a:pt x="4105008" y="1026252"/>
                </a:lnTo>
                <a:lnTo>
                  <a:pt x="0" y="102625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711002" y="-143352"/>
            <a:ext cx="19745801" cy="1292452"/>
          </a:xfrm>
          <a:custGeom>
            <a:avLst/>
            <a:gdLst/>
            <a:ahLst/>
            <a:cxnLst/>
            <a:rect r="r" b="b" t="t" l="l"/>
            <a:pathLst>
              <a:path h="1292452" w="19745801">
                <a:moveTo>
                  <a:pt x="0" y="0"/>
                </a:moveTo>
                <a:lnTo>
                  <a:pt x="19745801" y="0"/>
                </a:lnTo>
                <a:lnTo>
                  <a:pt x="19745801" y="1292452"/>
                </a:lnTo>
                <a:lnTo>
                  <a:pt x="0" y="12924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26360" y="325967"/>
            <a:ext cx="442267" cy="353814"/>
          </a:xfrm>
          <a:custGeom>
            <a:avLst/>
            <a:gdLst/>
            <a:ahLst/>
            <a:cxnLst/>
            <a:rect r="r" b="b" t="t" l="l"/>
            <a:pathLst>
              <a:path h="353814" w="442267">
                <a:moveTo>
                  <a:pt x="0" y="0"/>
                </a:moveTo>
                <a:lnTo>
                  <a:pt x="442267" y="0"/>
                </a:lnTo>
                <a:lnTo>
                  <a:pt x="442267" y="353814"/>
                </a:lnTo>
                <a:lnTo>
                  <a:pt x="0" y="3538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731166" y="1279875"/>
            <a:ext cx="2869285" cy="829484"/>
          </a:xfrm>
          <a:custGeom>
            <a:avLst/>
            <a:gdLst/>
            <a:ahLst/>
            <a:cxnLst/>
            <a:rect r="r" b="b" t="t" l="l"/>
            <a:pathLst>
              <a:path h="829484" w="2869285">
                <a:moveTo>
                  <a:pt x="0" y="0"/>
                </a:moveTo>
                <a:lnTo>
                  <a:pt x="2869285" y="0"/>
                </a:lnTo>
                <a:lnTo>
                  <a:pt x="2869285" y="829484"/>
                </a:lnTo>
                <a:lnTo>
                  <a:pt x="0" y="82948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00740" y="1279875"/>
            <a:ext cx="2869285" cy="829484"/>
          </a:xfrm>
          <a:custGeom>
            <a:avLst/>
            <a:gdLst/>
            <a:ahLst/>
            <a:cxnLst/>
            <a:rect r="r" b="b" t="t" l="l"/>
            <a:pathLst>
              <a:path h="829484" w="2869285">
                <a:moveTo>
                  <a:pt x="0" y="0"/>
                </a:moveTo>
                <a:lnTo>
                  <a:pt x="2869285" y="0"/>
                </a:lnTo>
                <a:lnTo>
                  <a:pt x="2869285" y="829484"/>
                </a:lnTo>
                <a:lnTo>
                  <a:pt x="0" y="82948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6" id="6"/>
          <p:cNvGraphicFramePr/>
          <p:nvPr/>
        </p:nvGraphicFramePr>
        <p:xfrm>
          <a:off x="299807" y="2337959"/>
          <a:ext cx="27174825" cy="5029200"/>
        </p:xfrm>
        <a:graphic>
          <a:graphicData uri="http://schemas.openxmlformats.org/presentationml/2006/ole">
            <p:oleObj imgW="32613600" imgH="10464800" r:id="rId8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11949489" y="1442021"/>
            <a:ext cx="2432640" cy="448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54"/>
              </a:lnSpc>
              <a:spcBef>
                <a:spcPct val="0"/>
              </a:spcBef>
            </a:pPr>
            <a:r>
              <a:rPr lang="en-US" sz="261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Cronograma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21693" y="1441887"/>
            <a:ext cx="3319984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Actividades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4130386" y="-19421"/>
            <a:ext cx="4105008" cy="1026252"/>
          </a:xfrm>
          <a:custGeom>
            <a:avLst/>
            <a:gdLst/>
            <a:ahLst/>
            <a:cxnLst/>
            <a:rect r="r" b="b" t="t" l="l"/>
            <a:pathLst>
              <a:path h="1026252" w="4105008">
                <a:moveTo>
                  <a:pt x="0" y="0"/>
                </a:moveTo>
                <a:lnTo>
                  <a:pt x="4105008" y="0"/>
                </a:lnTo>
                <a:lnTo>
                  <a:pt x="4105008" y="1026252"/>
                </a:lnTo>
                <a:lnTo>
                  <a:pt x="0" y="1026252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D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85799" y="-143352"/>
            <a:ext cx="19720598" cy="1290803"/>
          </a:xfrm>
          <a:custGeom>
            <a:avLst/>
            <a:gdLst/>
            <a:ahLst/>
            <a:cxnLst/>
            <a:rect r="r" b="b" t="t" l="l"/>
            <a:pathLst>
              <a:path h="1290803" w="19720598">
                <a:moveTo>
                  <a:pt x="0" y="0"/>
                </a:moveTo>
                <a:lnTo>
                  <a:pt x="19720598" y="0"/>
                </a:lnTo>
                <a:lnTo>
                  <a:pt x="19720598" y="1290803"/>
                </a:lnTo>
                <a:lnTo>
                  <a:pt x="0" y="12908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12678" y="89553"/>
            <a:ext cx="3319984" cy="959777"/>
          </a:xfrm>
          <a:custGeom>
            <a:avLst/>
            <a:gdLst/>
            <a:ahLst/>
            <a:cxnLst/>
            <a:rect r="r" b="b" t="t" l="l"/>
            <a:pathLst>
              <a:path h="959777" w="3319984">
                <a:moveTo>
                  <a:pt x="0" y="0"/>
                </a:moveTo>
                <a:lnTo>
                  <a:pt x="3319984" y="0"/>
                </a:lnTo>
                <a:lnTo>
                  <a:pt x="3319984" y="959777"/>
                </a:lnTo>
                <a:lnTo>
                  <a:pt x="0" y="95977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13993" y="261096"/>
            <a:ext cx="3717354" cy="431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4"/>
              </a:lnSpc>
              <a:spcBef>
                <a:spcPct val="0"/>
              </a:spcBef>
            </a:pPr>
            <a:r>
              <a:rPr lang="en-US" sz="251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Arquitectura del software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01794" y="1446815"/>
            <a:ext cx="17819810" cy="8408723"/>
          </a:xfrm>
          <a:custGeom>
            <a:avLst/>
            <a:gdLst/>
            <a:ahLst/>
            <a:cxnLst/>
            <a:rect r="r" b="b" t="t" l="l"/>
            <a:pathLst>
              <a:path h="8408723" w="17819810">
                <a:moveTo>
                  <a:pt x="0" y="0"/>
                </a:moveTo>
                <a:lnTo>
                  <a:pt x="17819810" y="0"/>
                </a:lnTo>
                <a:lnTo>
                  <a:pt x="17819810" y="8408723"/>
                </a:lnTo>
                <a:lnTo>
                  <a:pt x="0" y="840872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130386" y="-19421"/>
            <a:ext cx="4105008" cy="1026252"/>
          </a:xfrm>
          <a:custGeom>
            <a:avLst/>
            <a:gdLst/>
            <a:ahLst/>
            <a:cxnLst/>
            <a:rect r="r" b="b" t="t" l="l"/>
            <a:pathLst>
              <a:path h="1026252" w="4105008">
                <a:moveTo>
                  <a:pt x="0" y="0"/>
                </a:moveTo>
                <a:lnTo>
                  <a:pt x="4105008" y="0"/>
                </a:lnTo>
                <a:lnTo>
                  <a:pt x="4105008" y="1026252"/>
                </a:lnTo>
                <a:lnTo>
                  <a:pt x="0" y="102625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A6A6A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57362" y="-143352"/>
            <a:ext cx="16977437" cy="1111250"/>
          </a:xfrm>
          <a:custGeom>
            <a:avLst/>
            <a:gdLst/>
            <a:ahLst/>
            <a:cxnLst/>
            <a:rect r="r" b="b" t="t" l="l"/>
            <a:pathLst>
              <a:path h="1111250" w="16977437">
                <a:moveTo>
                  <a:pt x="0" y="0"/>
                </a:moveTo>
                <a:lnTo>
                  <a:pt x="16977437" y="0"/>
                </a:lnTo>
                <a:lnTo>
                  <a:pt x="16977437" y="1111250"/>
                </a:lnTo>
                <a:lnTo>
                  <a:pt x="0" y="11112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530325"/>
            <a:ext cx="4114724" cy="14127808"/>
          </a:xfrm>
          <a:custGeom>
            <a:avLst/>
            <a:gdLst/>
            <a:ahLst/>
            <a:cxnLst/>
            <a:rect r="r" b="b" t="t" l="l"/>
            <a:pathLst>
              <a:path h="14127808" w="4114724">
                <a:moveTo>
                  <a:pt x="0" y="0"/>
                </a:moveTo>
                <a:lnTo>
                  <a:pt x="4114724" y="0"/>
                </a:lnTo>
                <a:lnTo>
                  <a:pt x="4114724" y="14127808"/>
                </a:lnTo>
                <a:lnTo>
                  <a:pt x="0" y="141278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dash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4374621" y="316798"/>
            <a:ext cx="442267" cy="353814"/>
          </a:xfrm>
          <a:custGeom>
            <a:avLst/>
            <a:gdLst/>
            <a:ahLst/>
            <a:cxnLst/>
            <a:rect r="r" b="b" t="t" l="l"/>
            <a:pathLst>
              <a:path h="353814" w="442267">
                <a:moveTo>
                  <a:pt x="0" y="0"/>
                </a:moveTo>
                <a:lnTo>
                  <a:pt x="442267" y="0"/>
                </a:lnTo>
                <a:lnTo>
                  <a:pt x="442267" y="353814"/>
                </a:lnTo>
                <a:lnTo>
                  <a:pt x="0" y="3538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97370" y="2141712"/>
            <a:ext cx="3319984" cy="959777"/>
          </a:xfrm>
          <a:custGeom>
            <a:avLst/>
            <a:gdLst/>
            <a:ahLst/>
            <a:cxnLst/>
            <a:rect r="r" b="b" t="t" l="l"/>
            <a:pathLst>
              <a:path h="959777" w="3319984">
                <a:moveTo>
                  <a:pt x="0" y="0"/>
                </a:moveTo>
                <a:lnTo>
                  <a:pt x="3319984" y="0"/>
                </a:lnTo>
                <a:lnTo>
                  <a:pt x="3319984" y="959778"/>
                </a:lnTo>
                <a:lnTo>
                  <a:pt x="0" y="95977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352619" y="1097035"/>
            <a:ext cx="10225831" cy="4221708"/>
          </a:xfrm>
          <a:custGeom>
            <a:avLst/>
            <a:gdLst/>
            <a:ahLst/>
            <a:cxnLst/>
            <a:rect r="r" b="b" t="t" l="l"/>
            <a:pathLst>
              <a:path h="4221708" w="10225831">
                <a:moveTo>
                  <a:pt x="0" y="0"/>
                </a:moveTo>
                <a:lnTo>
                  <a:pt x="10225830" y="0"/>
                </a:lnTo>
                <a:lnTo>
                  <a:pt x="10225830" y="4221709"/>
                </a:lnTo>
                <a:lnTo>
                  <a:pt x="0" y="422170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5904314" y="5366369"/>
            <a:ext cx="11122440" cy="4591871"/>
          </a:xfrm>
          <a:custGeom>
            <a:avLst/>
            <a:gdLst/>
            <a:ahLst/>
            <a:cxnLst/>
            <a:rect r="r" b="b" t="t" l="l"/>
            <a:pathLst>
              <a:path h="4591871" w="11122440">
                <a:moveTo>
                  <a:pt x="0" y="0"/>
                </a:moveTo>
                <a:lnTo>
                  <a:pt x="11122440" y="0"/>
                </a:lnTo>
                <a:lnTo>
                  <a:pt x="11122440" y="4591871"/>
                </a:lnTo>
                <a:lnTo>
                  <a:pt x="0" y="459187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6781852" y="2274961"/>
            <a:ext cx="9347869" cy="1865857"/>
          </a:xfrm>
          <a:custGeom>
            <a:avLst/>
            <a:gdLst/>
            <a:ahLst/>
            <a:cxnLst/>
            <a:rect r="r" b="b" t="t" l="l"/>
            <a:pathLst>
              <a:path h="1865857" w="9347869">
                <a:moveTo>
                  <a:pt x="0" y="0"/>
                </a:moveTo>
                <a:lnTo>
                  <a:pt x="9347870" y="0"/>
                </a:lnTo>
                <a:lnTo>
                  <a:pt x="9347870" y="1865857"/>
                </a:lnTo>
                <a:lnTo>
                  <a:pt x="0" y="1865857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598" t="-25527" r="-16820" b="-52379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63610" y="3337894"/>
            <a:ext cx="1387504" cy="1330269"/>
          </a:xfrm>
          <a:custGeom>
            <a:avLst/>
            <a:gdLst/>
            <a:ahLst/>
            <a:cxnLst/>
            <a:rect r="r" b="b" t="t" l="l"/>
            <a:pathLst>
              <a:path h="1330269" w="1387504">
                <a:moveTo>
                  <a:pt x="0" y="0"/>
                </a:moveTo>
                <a:lnTo>
                  <a:pt x="1387504" y="0"/>
                </a:lnTo>
                <a:lnTo>
                  <a:pt x="1387504" y="1330269"/>
                </a:lnTo>
                <a:lnTo>
                  <a:pt x="0" y="1330269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130386" y="-19421"/>
            <a:ext cx="4105008" cy="1026252"/>
          </a:xfrm>
          <a:custGeom>
            <a:avLst/>
            <a:gdLst/>
            <a:ahLst/>
            <a:cxnLst/>
            <a:rect r="r" b="b" t="t" l="l"/>
            <a:pathLst>
              <a:path h="1026252" w="4105008">
                <a:moveTo>
                  <a:pt x="0" y="0"/>
                </a:moveTo>
                <a:lnTo>
                  <a:pt x="4105008" y="0"/>
                </a:lnTo>
                <a:lnTo>
                  <a:pt x="4105008" y="1026252"/>
                </a:lnTo>
                <a:lnTo>
                  <a:pt x="0" y="1026252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620310" y="6533579"/>
            <a:ext cx="9690448" cy="2837802"/>
          </a:xfrm>
          <a:custGeom>
            <a:avLst/>
            <a:gdLst/>
            <a:ahLst/>
            <a:cxnLst/>
            <a:rect r="r" b="b" t="t" l="l"/>
            <a:pathLst>
              <a:path h="2837802" w="9690448">
                <a:moveTo>
                  <a:pt x="0" y="0"/>
                </a:moveTo>
                <a:lnTo>
                  <a:pt x="9690448" y="0"/>
                </a:lnTo>
                <a:lnTo>
                  <a:pt x="9690448" y="2837802"/>
                </a:lnTo>
                <a:lnTo>
                  <a:pt x="0" y="283780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-3104" t="-7983" r="-2420" b="-8227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74553" y="2140404"/>
            <a:ext cx="3242801" cy="905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54"/>
              </a:lnSpc>
              <a:spcBef>
                <a:spcPct val="0"/>
              </a:spcBef>
            </a:pPr>
            <a:r>
              <a:rPr lang="en-US" sz="261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Arquitectura de la solución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846781" y="5446284"/>
            <a:ext cx="1237506" cy="58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Cliente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44920" y="1288372"/>
            <a:ext cx="2441228" cy="5899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Administrador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A6A6A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57362" y="-143352"/>
            <a:ext cx="16977437" cy="1111250"/>
          </a:xfrm>
          <a:custGeom>
            <a:avLst/>
            <a:gdLst/>
            <a:ahLst/>
            <a:cxnLst/>
            <a:rect r="r" b="b" t="t" l="l"/>
            <a:pathLst>
              <a:path h="1111250" w="16977437">
                <a:moveTo>
                  <a:pt x="0" y="0"/>
                </a:moveTo>
                <a:lnTo>
                  <a:pt x="16977437" y="0"/>
                </a:lnTo>
                <a:lnTo>
                  <a:pt x="16977437" y="1111250"/>
                </a:lnTo>
                <a:lnTo>
                  <a:pt x="0" y="11112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530325"/>
            <a:ext cx="4114724" cy="14127808"/>
          </a:xfrm>
          <a:custGeom>
            <a:avLst/>
            <a:gdLst/>
            <a:ahLst/>
            <a:cxnLst/>
            <a:rect r="r" b="b" t="t" l="l"/>
            <a:pathLst>
              <a:path h="14127808" w="4114724">
                <a:moveTo>
                  <a:pt x="0" y="0"/>
                </a:moveTo>
                <a:lnTo>
                  <a:pt x="4114724" y="0"/>
                </a:lnTo>
                <a:lnTo>
                  <a:pt x="4114724" y="14127808"/>
                </a:lnTo>
                <a:lnTo>
                  <a:pt x="0" y="141278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dash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4374621" y="316798"/>
            <a:ext cx="442267" cy="353814"/>
          </a:xfrm>
          <a:custGeom>
            <a:avLst/>
            <a:gdLst/>
            <a:ahLst/>
            <a:cxnLst/>
            <a:rect r="r" b="b" t="t" l="l"/>
            <a:pathLst>
              <a:path h="353814" w="442267">
                <a:moveTo>
                  <a:pt x="0" y="0"/>
                </a:moveTo>
                <a:lnTo>
                  <a:pt x="442267" y="0"/>
                </a:lnTo>
                <a:lnTo>
                  <a:pt x="442267" y="353814"/>
                </a:lnTo>
                <a:lnTo>
                  <a:pt x="0" y="3538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97370" y="2141712"/>
            <a:ext cx="3319984" cy="959777"/>
          </a:xfrm>
          <a:custGeom>
            <a:avLst/>
            <a:gdLst/>
            <a:ahLst/>
            <a:cxnLst/>
            <a:rect r="r" b="b" t="t" l="l"/>
            <a:pathLst>
              <a:path h="959777" w="3319984">
                <a:moveTo>
                  <a:pt x="0" y="0"/>
                </a:moveTo>
                <a:lnTo>
                  <a:pt x="3319984" y="0"/>
                </a:lnTo>
                <a:lnTo>
                  <a:pt x="3319984" y="959778"/>
                </a:lnTo>
                <a:lnTo>
                  <a:pt x="0" y="95977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915702" y="1028700"/>
            <a:ext cx="8432568" cy="8749746"/>
          </a:xfrm>
          <a:custGeom>
            <a:avLst/>
            <a:gdLst/>
            <a:ahLst/>
            <a:cxnLst/>
            <a:rect r="r" b="b" t="t" l="l"/>
            <a:pathLst>
              <a:path h="8749746" w="8432568">
                <a:moveTo>
                  <a:pt x="0" y="0"/>
                </a:moveTo>
                <a:lnTo>
                  <a:pt x="8432568" y="0"/>
                </a:lnTo>
                <a:lnTo>
                  <a:pt x="8432568" y="8749746"/>
                </a:lnTo>
                <a:lnTo>
                  <a:pt x="0" y="874974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82584" y="3343348"/>
            <a:ext cx="1349556" cy="1349556"/>
          </a:xfrm>
          <a:custGeom>
            <a:avLst/>
            <a:gdLst/>
            <a:ahLst/>
            <a:cxnLst/>
            <a:rect r="r" b="b" t="t" l="l"/>
            <a:pathLst>
              <a:path h="1349556" w="1349556">
                <a:moveTo>
                  <a:pt x="0" y="0"/>
                </a:moveTo>
                <a:lnTo>
                  <a:pt x="1349556" y="0"/>
                </a:lnTo>
                <a:lnTo>
                  <a:pt x="1349556" y="1349555"/>
                </a:lnTo>
                <a:lnTo>
                  <a:pt x="0" y="134955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98685" y="2358505"/>
            <a:ext cx="3717354" cy="448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54"/>
              </a:lnSpc>
              <a:spcBef>
                <a:spcPct val="0"/>
              </a:spcBef>
            </a:pPr>
            <a:r>
              <a:rPr lang="en-US" sz="261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Modelo de datos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4130386" y="-19421"/>
            <a:ext cx="4105008" cy="1026252"/>
          </a:xfrm>
          <a:custGeom>
            <a:avLst/>
            <a:gdLst/>
            <a:ahLst/>
            <a:cxnLst/>
            <a:rect r="r" b="b" t="t" l="l"/>
            <a:pathLst>
              <a:path h="1026252" w="4105008">
                <a:moveTo>
                  <a:pt x="0" y="0"/>
                </a:moveTo>
                <a:lnTo>
                  <a:pt x="4105008" y="0"/>
                </a:lnTo>
                <a:lnTo>
                  <a:pt x="4105008" y="1026252"/>
                </a:lnTo>
                <a:lnTo>
                  <a:pt x="0" y="102625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A6A6A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57362" y="-143352"/>
            <a:ext cx="16977437" cy="1111250"/>
          </a:xfrm>
          <a:custGeom>
            <a:avLst/>
            <a:gdLst/>
            <a:ahLst/>
            <a:cxnLst/>
            <a:rect r="r" b="b" t="t" l="l"/>
            <a:pathLst>
              <a:path h="1111250" w="16977437">
                <a:moveTo>
                  <a:pt x="0" y="0"/>
                </a:moveTo>
                <a:lnTo>
                  <a:pt x="16977437" y="0"/>
                </a:lnTo>
                <a:lnTo>
                  <a:pt x="16977437" y="1111250"/>
                </a:lnTo>
                <a:lnTo>
                  <a:pt x="0" y="11112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530325"/>
            <a:ext cx="4114724" cy="14127808"/>
          </a:xfrm>
          <a:custGeom>
            <a:avLst/>
            <a:gdLst/>
            <a:ahLst/>
            <a:cxnLst/>
            <a:rect r="r" b="b" t="t" l="l"/>
            <a:pathLst>
              <a:path h="14127808" w="4114724">
                <a:moveTo>
                  <a:pt x="0" y="0"/>
                </a:moveTo>
                <a:lnTo>
                  <a:pt x="4114724" y="0"/>
                </a:lnTo>
                <a:lnTo>
                  <a:pt x="4114724" y="14127808"/>
                </a:lnTo>
                <a:lnTo>
                  <a:pt x="0" y="141278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dash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4374621" y="316798"/>
            <a:ext cx="442267" cy="353814"/>
          </a:xfrm>
          <a:custGeom>
            <a:avLst/>
            <a:gdLst/>
            <a:ahLst/>
            <a:cxnLst/>
            <a:rect r="r" b="b" t="t" l="l"/>
            <a:pathLst>
              <a:path h="353814" w="442267">
                <a:moveTo>
                  <a:pt x="0" y="0"/>
                </a:moveTo>
                <a:lnTo>
                  <a:pt x="442267" y="0"/>
                </a:lnTo>
                <a:lnTo>
                  <a:pt x="442267" y="353814"/>
                </a:lnTo>
                <a:lnTo>
                  <a:pt x="0" y="3538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97370" y="2141712"/>
            <a:ext cx="3319984" cy="959777"/>
          </a:xfrm>
          <a:custGeom>
            <a:avLst/>
            <a:gdLst/>
            <a:ahLst/>
            <a:cxnLst/>
            <a:rect r="r" b="b" t="t" l="l"/>
            <a:pathLst>
              <a:path h="959777" w="3319984">
                <a:moveTo>
                  <a:pt x="0" y="0"/>
                </a:moveTo>
                <a:lnTo>
                  <a:pt x="3319984" y="0"/>
                </a:lnTo>
                <a:lnTo>
                  <a:pt x="3319984" y="959778"/>
                </a:lnTo>
                <a:lnTo>
                  <a:pt x="0" y="95977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2002027" y="1624994"/>
            <a:ext cx="6040869" cy="4326143"/>
          </a:xfrm>
          <a:custGeom>
            <a:avLst/>
            <a:gdLst/>
            <a:ahLst/>
            <a:cxnLst/>
            <a:rect r="r" b="b" t="t" l="l"/>
            <a:pathLst>
              <a:path h="4326143" w="6040869">
                <a:moveTo>
                  <a:pt x="0" y="0"/>
                </a:moveTo>
                <a:lnTo>
                  <a:pt x="6040869" y="0"/>
                </a:lnTo>
                <a:lnTo>
                  <a:pt x="6040869" y="4326143"/>
                </a:lnTo>
                <a:lnTo>
                  <a:pt x="0" y="4326143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300379" y="1888641"/>
            <a:ext cx="5333579" cy="3650299"/>
          </a:xfrm>
          <a:custGeom>
            <a:avLst/>
            <a:gdLst/>
            <a:ahLst/>
            <a:cxnLst/>
            <a:rect r="r" b="b" t="t" l="l"/>
            <a:pathLst>
              <a:path h="3650299" w="5333579">
                <a:moveTo>
                  <a:pt x="0" y="0"/>
                </a:moveTo>
                <a:lnTo>
                  <a:pt x="5333579" y="0"/>
                </a:lnTo>
                <a:lnTo>
                  <a:pt x="5333579" y="3650299"/>
                </a:lnTo>
                <a:lnTo>
                  <a:pt x="0" y="3650299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-64354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374621" y="1512700"/>
            <a:ext cx="7255931" cy="5196305"/>
          </a:xfrm>
          <a:custGeom>
            <a:avLst/>
            <a:gdLst/>
            <a:ahLst/>
            <a:cxnLst/>
            <a:rect r="r" b="b" t="t" l="l"/>
            <a:pathLst>
              <a:path h="5196305" w="7255931">
                <a:moveTo>
                  <a:pt x="0" y="0"/>
                </a:moveTo>
                <a:lnTo>
                  <a:pt x="7255931" y="0"/>
                </a:lnTo>
                <a:lnTo>
                  <a:pt x="7255931" y="5196305"/>
                </a:lnTo>
                <a:lnTo>
                  <a:pt x="0" y="519630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197514" y="1731773"/>
            <a:ext cx="5523038" cy="4463517"/>
          </a:xfrm>
          <a:custGeom>
            <a:avLst/>
            <a:gdLst/>
            <a:ahLst/>
            <a:cxnLst/>
            <a:rect r="r" b="b" t="t" l="l"/>
            <a:pathLst>
              <a:path h="4463517" w="5523038">
                <a:moveTo>
                  <a:pt x="0" y="0"/>
                </a:moveTo>
                <a:lnTo>
                  <a:pt x="5523038" y="0"/>
                </a:lnTo>
                <a:lnTo>
                  <a:pt x="5523038" y="4463517"/>
                </a:lnTo>
                <a:lnTo>
                  <a:pt x="0" y="4463517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445565" y="6737580"/>
            <a:ext cx="4975491" cy="3563177"/>
          </a:xfrm>
          <a:custGeom>
            <a:avLst/>
            <a:gdLst/>
            <a:ahLst/>
            <a:cxnLst/>
            <a:rect r="r" b="b" t="t" l="l"/>
            <a:pathLst>
              <a:path h="3563177" w="4975491">
                <a:moveTo>
                  <a:pt x="0" y="0"/>
                </a:moveTo>
                <a:lnTo>
                  <a:pt x="4975490" y="0"/>
                </a:lnTo>
                <a:lnTo>
                  <a:pt x="4975490" y="3563176"/>
                </a:lnTo>
                <a:lnTo>
                  <a:pt x="0" y="3563176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2544383" y="7588488"/>
            <a:ext cx="4612041" cy="1850787"/>
          </a:xfrm>
          <a:custGeom>
            <a:avLst/>
            <a:gdLst/>
            <a:ahLst/>
            <a:cxnLst/>
            <a:rect r="r" b="b" t="t" l="l"/>
            <a:pathLst>
              <a:path h="1850787" w="4612041">
                <a:moveTo>
                  <a:pt x="0" y="0"/>
                </a:moveTo>
                <a:lnTo>
                  <a:pt x="4612041" y="0"/>
                </a:lnTo>
                <a:lnTo>
                  <a:pt x="4612041" y="1850787"/>
                </a:lnTo>
                <a:lnTo>
                  <a:pt x="0" y="1850787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98685" y="2358505"/>
            <a:ext cx="3717354" cy="448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54"/>
              </a:lnSpc>
              <a:spcBef>
                <a:spcPct val="0"/>
              </a:spcBef>
            </a:pPr>
            <a:r>
              <a:rPr lang="en-US" sz="261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Modelo de datos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963308" y="901223"/>
            <a:ext cx="1571774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Usuario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044434" y="932310"/>
            <a:ext cx="1845469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Producto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350821" y="6128615"/>
            <a:ext cx="3164979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Precio Histórico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382584" y="3343348"/>
            <a:ext cx="1349556" cy="1349556"/>
          </a:xfrm>
          <a:custGeom>
            <a:avLst/>
            <a:gdLst/>
            <a:ahLst/>
            <a:cxnLst/>
            <a:rect r="r" b="b" t="t" l="l"/>
            <a:pathLst>
              <a:path h="1349556" w="1349556">
                <a:moveTo>
                  <a:pt x="0" y="0"/>
                </a:moveTo>
                <a:lnTo>
                  <a:pt x="1349556" y="0"/>
                </a:lnTo>
                <a:lnTo>
                  <a:pt x="1349556" y="1349555"/>
                </a:lnTo>
                <a:lnTo>
                  <a:pt x="0" y="134955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4130386" y="-19421"/>
            <a:ext cx="4105008" cy="1026252"/>
          </a:xfrm>
          <a:custGeom>
            <a:avLst/>
            <a:gdLst/>
            <a:ahLst/>
            <a:cxnLst/>
            <a:rect r="r" b="b" t="t" l="l"/>
            <a:pathLst>
              <a:path h="1026252" w="4105008">
                <a:moveTo>
                  <a:pt x="0" y="0"/>
                </a:moveTo>
                <a:lnTo>
                  <a:pt x="4105008" y="0"/>
                </a:lnTo>
                <a:lnTo>
                  <a:pt x="4105008" y="1026252"/>
                </a:lnTo>
                <a:lnTo>
                  <a:pt x="0" y="1026252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A6A6A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57362" y="-143352"/>
            <a:ext cx="16977437" cy="1111250"/>
          </a:xfrm>
          <a:custGeom>
            <a:avLst/>
            <a:gdLst/>
            <a:ahLst/>
            <a:cxnLst/>
            <a:rect r="r" b="b" t="t" l="l"/>
            <a:pathLst>
              <a:path h="1111250" w="16977437">
                <a:moveTo>
                  <a:pt x="0" y="0"/>
                </a:moveTo>
                <a:lnTo>
                  <a:pt x="16977437" y="0"/>
                </a:lnTo>
                <a:lnTo>
                  <a:pt x="16977437" y="1111250"/>
                </a:lnTo>
                <a:lnTo>
                  <a:pt x="0" y="11112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530325"/>
            <a:ext cx="4114724" cy="14127808"/>
          </a:xfrm>
          <a:custGeom>
            <a:avLst/>
            <a:gdLst/>
            <a:ahLst/>
            <a:cxnLst/>
            <a:rect r="r" b="b" t="t" l="l"/>
            <a:pathLst>
              <a:path h="14127808" w="4114724">
                <a:moveTo>
                  <a:pt x="0" y="0"/>
                </a:moveTo>
                <a:lnTo>
                  <a:pt x="4114724" y="0"/>
                </a:lnTo>
                <a:lnTo>
                  <a:pt x="4114724" y="14127808"/>
                </a:lnTo>
                <a:lnTo>
                  <a:pt x="0" y="141278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dash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4374621" y="316798"/>
            <a:ext cx="442267" cy="353814"/>
          </a:xfrm>
          <a:custGeom>
            <a:avLst/>
            <a:gdLst/>
            <a:ahLst/>
            <a:cxnLst/>
            <a:rect r="r" b="b" t="t" l="l"/>
            <a:pathLst>
              <a:path h="353814" w="442267">
                <a:moveTo>
                  <a:pt x="0" y="0"/>
                </a:moveTo>
                <a:lnTo>
                  <a:pt x="442267" y="0"/>
                </a:lnTo>
                <a:lnTo>
                  <a:pt x="442267" y="353814"/>
                </a:lnTo>
                <a:lnTo>
                  <a:pt x="0" y="3538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97370" y="2141712"/>
            <a:ext cx="3319984" cy="959777"/>
          </a:xfrm>
          <a:custGeom>
            <a:avLst/>
            <a:gdLst/>
            <a:ahLst/>
            <a:cxnLst/>
            <a:rect r="r" b="b" t="t" l="l"/>
            <a:pathLst>
              <a:path h="959777" w="3319984">
                <a:moveTo>
                  <a:pt x="0" y="0"/>
                </a:moveTo>
                <a:lnTo>
                  <a:pt x="3319984" y="0"/>
                </a:lnTo>
                <a:lnTo>
                  <a:pt x="3319984" y="959778"/>
                </a:lnTo>
                <a:lnTo>
                  <a:pt x="0" y="95977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961455" y="2528293"/>
            <a:ext cx="5203572" cy="2148282"/>
          </a:xfrm>
          <a:custGeom>
            <a:avLst/>
            <a:gdLst/>
            <a:ahLst/>
            <a:cxnLst/>
            <a:rect r="r" b="b" t="t" l="l"/>
            <a:pathLst>
              <a:path h="2148282" w="5203572">
                <a:moveTo>
                  <a:pt x="0" y="0"/>
                </a:moveTo>
                <a:lnTo>
                  <a:pt x="5203572" y="0"/>
                </a:lnTo>
                <a:lnTo>
                  <a:pt x="5203572" y="2148282"/>
                </a:lnTo>
                <a:lnTo>
                  <a:pt x="0" y="214828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450902" y="2523492"/>
            <a:ext cx="5203572" cy="2148282"/>
          </a:xfrm>
          <a:custGeom>
            <a:avLst/>
            <a:gdLst/>
            <a:ahLst/>
            <a:cxnLst/>
            <a:rect r="r" b="b" t="t" l="l"/>
            <a:pathLst>
              <a:path h="2148282" w="5203572">
                <a:moveTo>
                  <a:pt x="0" y="0"/>
                </a:moveTo>
                <a:lnTo>
                  <a:pt x="5203572" y="0"/>
                </a:lnTo>
                <a:lnTo>
                  <a:pt x="5203572" y="2148282"/>
                </a:lnTo>
                <a:lnTo>
                  <a:pt x="0" y="214828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961455" y="7045883"/>
            <a:ext cx="5203572" cy="2148282"/>
          </a:xfrm>
          <a:custGeom>
            <a:avLst/>
            <a:gdLst/>
            <a:ahLst/>
            <a:cxnLst/>
            <a:rect r="r" b="b" t="t" l="l"/>
            <a:pathLst>
              <a:path h="2148282" w="5203572">
                <a:moveTo>
                  <a:pt x="0" y="0"/>
                </a:moveTo>
                <a:lnTo>
                  <a:pt x="5203572" y="0"/>
                </a:lnTo>
                <a:lnTo>
                  <a:pt x="5203572" y="2148282"/>
                </a:lnTo>
                <a:lnTo>
                  <a:pt x="0" y="214828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1517577" y="7045883"/>
            <a:ext cx="5203572" cy="2148282"/>
          </a:xfrm>
          <a:custGeom>
            <a:avLst/>
            <a:gdLst/>
            <a:ahLst/>
            <a:cxnLst/>
            <a:rect r="r" b="b" t="t" l="l"/>
            <a:pathLst>
              <a:path h="2148282" w="5203572">
                <a:moveTo>
                  <a:pt x="0" y="0"/>
                </a:moveTo>
                <a:lnTo>
                  <a:pt x="5203572" y="0"/>
                </a:lnTo>
                <a:lnTo>
                  <a:pt x="5203572" y="2148282"/>
                </a:lnTo>
                <a:lnTo>
                  <a:pt x="0" y="214828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27366" y="3429506"/>
            <a:ext cx="1659992" cy="1247069"/>
          </a:xfrm>
          <a:custGeom>
            <a:avLst/>
            <a:gdLst/>
            <a:ahLst/>
            <a:cxnLst/>
            <a:rect r="r" b="b" t="t" l="l"/>
            <a:pathLst>
              <a:path h="1247069" w="1659992">
                <a:moveTo>
                  <a:pt x="0" y="0"/>
                </a:moveTo>
                <a:lnTo>
                  <a:pt x="1659992" y="0"/>
                </a:lnTo>
                <a:lnTo>
                  <a:pt x="1659992" y="1247069"/>
                </a:lnTo>
                <a:lnTo>
                  <a:pt x="0" y="124706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98685" y="2140404"/>
            <a:ext cx="3717354" cy="869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4"/>
              </a:lnSpc>
              <a:spcBef>
                <a:spcPct val="0"/>
              </a:spcBef>
            </a:pPr>
            <a:r>
              <a:rPr lang="en-US" sz="251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Elementos Analíticos a Incorporar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403612" y="2573976"/>
            <a:ext cx="4319257" cy="19996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655"/>
              </a:lnSpc>
              <a:spcBef>
                <a:spcPct val="0"/>
              </a:spcBef>
            </a:pPr>
            <a:r>
              <a:rPr lang="en-US" sz="1897" strike="noStrike" u="none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Compara precios promedio por categoría y supermercado.</a:t>
            </a:r>
          </a:p>
          <a:p>
            <a:pPr algn="ctr" marL="0" indent="0" lvl="1">
              <a:lnSpc>
                <a:spcPts val="2655"/>
              </a:lnSpc>
              <a:spcBef>
                <a:spcPct val="0"/>
              </a:spcBef>
            </a:pPr>
            <a:r>
              <a:rPr lang="en-US" sz="1897" strike="noStrike" u="none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Permite detectar alzas/bajas y evaluar competitividad.</a:t>
            </a:r>
          </a:p>
          <a:p>
            <a:pPr algn="ctr" marL="0" indent="0" lvl="1">
              <a:lnSpc>
                <a:spcPts val="2655"/>
              </a:lnSpc>
              <a:spcBef>
                <a:spcPct val="0"/>
              </a:spcBef>
            </a:pPr>
            <a:r>
              <a:rPr lang="en-US" sz="1897" strike="noStrike" u="none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Basado en precio historico, filtrado por semestre y variación porcentual.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717602" y="2620361"/>
            <a:ext cx="4726623" cy="1720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305"/>
              </a:lnSpc>
              <a:spcBef>
                <a:spcPct val="0"/>
              </a:spcBef>
            </a:pPr>
            <a:r>
              <a:rPr lang="en-US" sz="1646" strike="noStrike" u="none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Mide cuánto pueden ahorrar las Pymes entre dos trimestres.</a:t>
            </a:r>
          </a:p>
          <a:p>
            <a:pPr algn="ctr" marL="0" indent="0" lvl="1">
              <a:lnSpc>
                <a:spcPts val="2305"/>
              </a:lnSpc>
              <a:spcBef>
                <a:spcPct val="0"/>
              </a:spcBef>
            </a:pPr>
            <a:r>
              <a:rPr lang="en-US" sz="1646" strike="noStrike" u="none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Identifica dónde conviene abastecerse según evolución de precios.</a:t>
            </a:r>
          </a:p>
          <a:p>
            <a:pPr algn="ctr" marL="0" indent="0" lvl="1">
              <a:lnSpc>
                <a:spcPts val="2305"/>
              </a:lnSpc>
              <a:spcBef>
                <a:spcPct val="0"/>
              </a:spcBef>
            </a:pPr>
            <a:r>
              <a:rPr lang="en-US" sz="1646" strike="noStrike" u="none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Utiliza precio historico + productos, calculando precio mínimo por categoría.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961455" y="7068104"/>
            <a:ext cx="4821983" cy="19444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550"/>
              </a:lnSpc>
              <a:spcBef>
                <a:spcPct val="0"/>
              </a:spcBef>
            </a:pPr>
            <a:r>
              <a:rPr lang="en-US" sz="1821" strike="noStrike" u="none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Compara comportamiento entre periodos mensuales.</a:t>
            </a:r>
          </a:p>
          <a:p>
            <a:pPr algn="ctr" marL="0" indent="0" lvl="1">
              <a:lnSpc>
                <a:spcPts val="2550"/>
              </a:lnSpc>
              <a:spcBef>
                <a:spcPct val="0"/>
              </a:spcBef>
            </a:pPr>
            <a:r>
              <a:rPr lang="en-US" sz="1821" strike="noStrike" u="none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Permite mejorar la experiencia y priorizar categorías.</a:t>
            </a:r>
          </a:p>
          <a:p>
            <a:pPr algn="ctr" marL="0" indent="0" lvl="1">
              <a:lnSpc>
                <a:spcPts val="2550"/>
              </a:lnSpc>
              <a:spcBef>
                <a:spcPct val="0"/>
              </a:spcBef>
            </a:pPr>
            <a:r>
              <a:rPr lang="en-US" sz="1821" strike="noStrike" u="none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Basado en datos de los usuarios que navegan. agrupados por mes.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1654356" y="7068104"/>
            <a:ext cx="4789870" cy="2397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774"/>
              </a:lnSpc>
              <a:spcBef>
                <a:spcPct val="0"/>
              </a:spcBef>
            </a:pPr>
            <a:r>
              <a:rPr lang="en-US" sz="1981" strike="noStrike" u="none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Detecta productos con mayor alza o baja mensual.</a:t>
            </a:r>
          </a:p>
          <a:p>
            <a:pPr algn="ctr" marL="0" indent="0" lvl="1">
              <a:lnSpc>
                <a:spcPts val="2774"/>
              </a:lnSpc>
              <a:spcBef>
                <a:spcPct val="0"/>
              </a:spcBef>
            </a:pPr>
            <a:r>
              <a:rPr lang="en-US" sz="1981" strike="noStrike" u="none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Apoya decisiones de compra y alerta sobre cambios relevantes.</a:t>
            </a:r>
          </a:p>
          <a:p>
            <a:pPr algn="ctr" marL="0" indent="0" lvl="1">
              <a:lnSpc>
                <a:spcPts val="2774"/>
              </a:lnSpc>
              <a:spcBef>
                <a:spcPct val="0"/>
              </a:spcBef>
            </a:pPr>
            <a:r>
              <a:rPr lang="en-US" sz="1981" strike="noStrike" u="none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Calculado a partir del último precio del mes vs. mes anterior.</a:t>
            </a:r>
          </a:p>
          <a:p>
            <a:pPr algn="ctr" marL="0" indent="0" lvl="1">
              <a:lnSpc>
                <a:spcPts val="2774"/>
              </a:lnSpc>
              <a:spcBef>
                <a:spcPct val="0"/>
              </a:spcBef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5326641" y="1296960"/>
            <a:ext cx="4296582" cy="931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94"/>
              </a:lnSpc>
              <a:spcBef>
                <a:spcPct val="0"/>
              </a:spcBef>
            </a:pPr>
            <a:r>
              <a:rPr lang="en-US" sz="271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Variación semestral de precios (2025–2026)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232509" y="1296960"/>
            <a:ext cx="5773708" cy="931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94"/>
              </a:lnSpc>
              <a:spcBef>
                <a:spcPct val="0"/>
              </a:spcBef>
            </a:pPr>
            <a:r>
              <a:rPr lang="en-US" sz="271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Tendencia trimestral de ahorro potencial (T4 vs T1)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924397" y="5602301"/>
            <a:ext cx="5277688" cy="931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94"/>
              </a:lnSpc>
              <a:spcBef>
                <a:spcPct val="0"/>
              </a:spcBef>
            </a:pPr>
            <a:r>
              <a:rPr lang="en-US" sz="271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Comportamiento de usuarios en el tiempo (mensual)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245522" y="5602301"/>
            <a:ext cx="3670783" cy="931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94"/>
              </a:lnSpc>
              <a:spcBef>
                <a:spcPct val="0"/>
              </a:spcBef>
            </a:pPr>
            <a:r>
              <a:rPr lang="en-US" sz="271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Ranking mensual de variación de precios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4130386" y="-19421"/>
            <a:ext cx="4105008" cy="1026252"/>
          </a:xfrm>
          <a:custGeom>
            <a:avLst/>
            <a:gdLst/>
            <a:ahLst/>
            <a:cxnLst/>
            <a:rect r="r" b="b" t="t" l="l"/>
            <a:pathLst>
              <a:path h="1026252" w="4105008">
                <a:moveTo>
                  <a:pt x="0" y="0"/>
                </a:moveTo>
                <a:lnTo>
                  <a:pt x="4105008" y="0"/>
                </a:lnTo>
                <a:lnTo>
                  <a:pt x="4105008" y="1026252"/>
                </a:lnTo>
                <a:lnTo>
                  <a:pt x="0" y="102625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A6A6A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57362" y="-143352"/>
            <a:ext cx="16977437" cy="1111250"/>
          </a:xfrm>
          <a:custGeom>
            <a:avLst/>
            <a:gdLst/>
            <a:ahLst/>
            <a:cxnLst/>
            <a:rect r="r" b="b" t="t" l="l"/>
            <a:pathLst>
              <a:path h="1111250" w="16977437">
                <a:moveTo>
                  <a:pt x="0" y="0"/>
                </a:moveTo>
                <a:lnTo>
                  <a:pt x="16977437" y="0"/>
                </a:lnTo>
                <a:lnTo>
                  <a:pt x="16977437" y="1111250"/>
                </a:lnTo>
                <a:lnTo>
                  <a:pt x="0" y="11112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530325"/>
            <a:ext cx="4114724" cy="14127808"/>
          </a:xfrm>
          <a:custGeom>
            <a:avLst/>
            <a:gdLst/>
            <a:ahLst/>
            <a:cxnLst/>
            <a:rect r="r" b="b" t="t" l="l"/>
            <a:pathLst>
              <a:path h="14127808" w="4114724">
                <a:moveTo>
                  <a:pt x="0" y="0"/>
                </a:moveTo>
                <a:lnTo>
                  <a:pt x="4114724" y="0"/>
                </a:lnTo>
                <a:lnTo>
                  <a:pt x="4114724" y="14127808"/>
                </a:lnTo>
                <a:lnTo>
                  <a:pt x="0" y="141278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dash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4374621" y="316798"/>
            <a:ext cx="442267" cy="353814"/>
          </a:xfrm>
          <a:custGeom>
            <a:avLst/>
            <a:gdLst/>
            <a:ahLst/>
            <a:cxnLst/>
            <a:rect r="r" b="b" t="t" l="l"/>
            <a:pathLst>
              <a:path h="353814" w="442267">
                <a:moveTo>
                  <a:pt x="0" y="0"/>
                </a:moveTo>
                <a:lnTo>
                  <a:pt x="442267" y="0"/>
                </a:lnTo>
                <a:lnTo>
                  <a:pt x="442267" y="353814"/>
                </a:lnTo>
                <a:lnTo>
                  <a:pt x="0" y="3538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97370" y="2141712"/>
            <a:ext cx="3319984" cy="959777"/>
          </a:xfrm>
          <a:custGeom>
            <a:avLst/>
            <a:gdLst/>
            <a:ahLst/>
            <a:cxnLst/>
            <a:rect r="r" b="b" t="t" l="l"/>
            <a:pathLst>
              <a:path h="959777" w="3319984">
                <a:moveTo>
                  <a:pt x="0" y="0"/>
                </a:moveTo>
                <a:lnTo>
                  <a:pt x="3319984" y="0"/>
                </a:lnTo>
                <a:lnTo>
                  <a:pt x="3319984" y="959778"/>
                </a:lnTo>
                <a:lnTo>
                  <a:pt x="0" y="95977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6" id="6"/>
          <p:cNvGraphicFramePr/>
          <p:nvPr/>
        </p:nvGraphicFramePr>
        <p:xfrm>
          <a:off x="4374621" y="1577377"/>
          <a:ext cx="14144625" cy="6286500"/>
        </p:xfrm>
        <a:graphic>
          <a:graphicData uri="http://schemas.openxmlformats.org/presentationml/2006/ole">
            <p:oleObj imgW="16967200" imgH="9105900" r:id="rId10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7" id="7"/>
          <p:cNvSpPr/>
          <p:nvPr/>
        </p:nvSpPr>
        <p:spPr>
          <a:xfrm flipH="false" flipV="false" rot="0">
            <a:off x="1600257" y="3392454"/>
            <a:ext cx="914211" cy="914211"/>
          </a:xfrm>
          <a:custGeom>
            <a:avLst/>
            <a:gdLst/>
            <a:ahLst/>
            <a:cxnLst/>
            <a:rect r="r" b="b" t="t" l="l"/>
            <a:pathLst>
              <a:path h="914211" w="914211">
                <a:moveTo>
                  <a:pt x="0" y="0"/>
                </a:moveTo>
                <a:lnTo>
                  <a:pt x="914211" y="0"/>
                </a:lnTo>
                <a:lnTo>
                  <a:pt x="914211" y="914211"/>
                </a:lnTo>
                <a:lnTo>
                  <a:pt x="0" y="91421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97060" y="2218432"/>
            <a:ext cx="3220294" cy="758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8"/>
              </a:lnSpc>
              <a:spcBef>
                <a:spcPct val="0"/>
              </a:spcBef>
            </a:pPr>
            <a:r>
              <a:rPr lang="en-US" sz="2206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Herramientas y Tecnologías utilizadas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4130386" y="-19421"/>
            <a:ext cx="4105008" cy="1026252"/>
          </a:xfrm>
          <a:custGeom>
            <a:avLst/>
            <a:gdLst/>
            <a:ahLst/>
            <a:cxnLst/>
            <a:rect r="r" b="b" t="t" l="l"/>
            <a:pathLst>
              <a:path h="1026252" w="4105008">
                <a:moveTo>
                  <a:pt x="0" y="0"/>
                </a:moveTo>
                <a:lnTo>
                  <a:pt x="4105008" y="0"/>
                </a:lnTo>
                <a:lnTo>
                  <a:pt x="4105008" y="1026252"/>
                </a:lnTo>
                <a:lnTo>
                  <a:pt x="0" y="102625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A6A6A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57362" y="-143352"/>
            <a:ext cx="16977437" cy="1111250"/>
          </a:xfrm>
          <a:custGeom>
            <a:avLst/>
            <a:gdLst/>
            <a:ahLst/>
            <a:cxnLst/>
            <a:rect r="r" b="b" t="t" l="l"/>
            <a:pathLst>
              <a:path h="1111250" w="16977437">
                <a:moveTo>
                  <a:pt x="0" y="0"/>
                </a:moveTo>
                <a:lnTo>
                  <a:pt x="16977437" y="0"/>
                </a:lnTo>
                <a:lnTo>
                  <a:pt x="16977437" y="1111250"/>
                </a:lnTo>
                <a:lnTo>
                  <a:pt x="0" y="11112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545633"/>
            <a:ext cx="4114724" cy="14127808"/>
          </a:xfrm>
          <a:custGeom>
            <a:avLst/>
            <a:gdLst/>
            <a:ahLst/>
            <a:cxnLst/>
            <a:rect r="r" b="b" t="t" l="l"/>
            <a:pathLst>
              <a:path h="14127808" w="4114724">
                <a:moveTo>
                  <a:pt x="0" y="0"/>
                </a:moveTo>
                <a:lnTo>
                  <a:pt x="4114724" y="0"/>
                </a:lnTo>
                <a:lnTo>
                  <a:pt x="4114724" y="14127808"/>
                </a:lnTo>
                <a:lnTo>
                  <a:pt x="0" y="141278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dash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4374621" y="316798"/>
            <a:ext cx="442267" cy="353814"/>
          </a:xfrm>
          <a:custGeom>
            <a:avLst/>
            <a:gdLst/>
            <a:ahLst/>
            <a:cxnLst/>
            <a:rect r="r" b="b" t="t" l="l"/>
            <a:pathLst>
              <a:path h="353814" w="442267">
                <a:moveTo>
                  <a:pt x="0" y="0"/>
                </a:moveTo>
                <a:lnTo>
                  <a:pt x="442267" y="0"/>
                </a:lnTo>
                <a:lnTo>
                  <a:pt x="442267" y="353814"/>
                </a:lnTo>
                <a:lnTo>
                  <a:pt x="0" y="3538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97370" y="1519456"/>
            <a:ext cx="3319984" cy="959777"/>
          </a:xfrm>
          <a:custGeom>
            <a:avLst/>
            <a:gdLst/>
            <a:ahLst/>
            <a:cxnLst/>
            <a:rect r="r" b="b" t="t" l="l"/>
            <a:pathLst>
              <a:path h="959777" w="3319984">
                <a:moveTo>
                  <a:pt x="0" y="0"/>
                </a:moveTo>
                <a:lnTo>
                  <a:pt x="3319984" y="0"/>
                </a:lnTo>
                <a:lnTo>
                  <a:pt x="3319984" y="959777"/>
                </a:lnTo>
                <a:lnTo>
                  <a:pt x="0" y="95977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654319" y="1519456"/>
            <a:ext cx="7604981" cy="3811997"/>
          </a:xfrm>
          <a:custGeom>
            <a:avLst/>
            <a:gdLst/>
            <a:ahLst/>
            <a:cxnLst/>
            <a:rect r="r" b="b" t="t" l="l"/>
            <a:pathLst>
              <a:path h="3811997" w="7604981">
                <a:moveTo>
                  <a:pt x="0" y="0"/>
                </a:moveTo>
                <a:lnTo>
                  <a:pt x="7604981" y="0"/>
                </a:lnTo>
                <a:lnTo>
                  <a:pt x="7604981" y="3811997"/>
                </a:lnTo>
                <a:lnTo>
                  <a:pt x="0" y="381199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654319" y="5890703"/>
            <a:ext cx="7514465" cy="4172179"/>
          </a:xfrm>
          <a:custGeom>
            <a:avLst/>
            <a:gdLst/>
            <a:ahLst/>
            <a:cxnLst/>
            <a:rect r="r" b="b" t="t" l="l"/>
            <a:pathLst>
              <a:path h="4172179" w="7514465">
                <a:moveTo>
                  <a:pt x="0" y="0"/>
                </a:moveTo>
                <a:lnTo>
                  <a:pt x="7514465" y="0"/>
                </a:lnTo>
                <a:lnTo>
                  <a:pt x="7514465" y="4172179"/>
                </a:lnTo>
                <a:lnTo>
                  <a:pt x="0" y="417217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-2732" r="0" b="-2732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166191" y="2132357"/>
            <a:ext cx="5066651" cy="2091754"/>
          </a:xfrm>
          <a:custGeom>
            <a:avLst/>
            <a:gdLst/>
            <a:ahLst/>
            <a:cxnLst/>
            <a:rect r="r" b="b" t="t" l="l"/>
            <a:pathLst>
              <a:path h="2091754" w="5066651">
                <a:moveTo>
                  <a:pt x="0" y="0"/>
                </a:moveTo>
                <a:lnTo>
                  <a:pt x="5066651" y="0"/>
                </a:lnTo>
                <a:lnTo>
                  <a:pt x="5066651" y="2091754"/>
                </a:lnTo>
                <a:lnTo>
                  <a:pt x="0" y="209175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261084" y="6893657"/>
            <a:ext cx="5247147" cy="2166271"/>
          </a:xfrm>
          <a:custGeom>
            <a:avLst/>
            <a:gdLst/>
            <a:ahLst/>
            <a:cxnLst/>
            <a:rect r="r" b="b" t="t" l="l"/>
            <a:pathLst>
              <a:path h="2166271" w="5247147">
                <a:moveTo>
                  <a:pt x="0" y="0"/>
                </a:moveTo>
                <a:lnTo>
                  <a:pt x="5247147" y="0"/>
                </a:lnTo>
                <a:lnTo>
                  <a:pt x="5247147" y="2166271"/>
                </a:lnTo>
                <a:lnTo>
                  <a:pt x="0" y="216627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25593" y="2670047"/>
            <a:ext cx="1336495" cy="1554064"/>
          </a:xfrm>
          <a:custGeom>
            <a:avLst/>
            <a:gdLst/>
            <a:ahLst/>
            <a:cxnLst/>
            <a:rect r="r" b="b" t="t" l="l"/>
            <a:pathLst>
              <a:path h="1554064" w="1336495">
                <a:moveTo>
                  <a:pt x="0" y="0"/>
                </a:moveTo>
                <a:lnTo>
                  <a:pt x="1336495" y="0"/>
                </a:lnTo>
                <a:lnTo>
                  <a:pt x="1336495" y="1554064"/>
                </a:lnTo>
                <a:lnTo>
                  <a:pt x="0" y="155406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77542" y="1700823"/>
            <a:ext cx="3717354" cy="431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14"/>
              </a:lnSpc>
              <a:spcBef>
                <a:spcPct val="0"/>
              </a:spcBef>
            </a:pPr>
            <a:r>
              <a:rPr lang="en-US" sz="251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Resultados obtenidos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261084" y="2151110"/>
            <a:ext cx="4769911" cy="1797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92"/>
              </a:lnSpc>
              <a:spcBef>
                <a:spcPct val="0"/>
              </a:spcBef>
            </a:pPr>
            <a:r>
              <a:rPr lang="en-US" sz="1708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Para el usuario</a:t>
            </a:r>
          </a:p>
          <a:p>
            <a:pPr algn="ctr">
              <a:lnSpc>
                <a:spcPts val="2392"/>
              </a:lnSpc>
              <a:spcBef>
                <a:spcPct val="0"/>
              </a:spcBef>
            </a:pPr>
            <a:r>
              <a:rPr lang="en-US" sz="1708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Buscador unificado plenamente operativo con comparación inmediata de precios.</a:t>
            </a:r>
          </a:p>
          <a:p>
            <a:pPr algn="ctr">
              <a:lnSpc>
                <a:spcPts val="2392"/>
              </a:lnSpc>
              <a:spcBef>
                <a:spcPct val="0"/>
              </a:spcBef>
            </a:pPr>
            <a:r>
              <a:rPr lang="en-US" sz="1708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Visualización clara y consistente de productos, precios actualizados y disponibilidad por supermercado.</a:t>
            </a:r>
          </a:p>
          <a:p>
            <a:pPr algn="ctr">
              <a:lnSpc>
                <a:spcPts val="2392"/>
              </a:lnSpc>
              <a:spcBef>
                <a:spcPct val="0"/>
              </a:spcBef>
            </a:pPr>
            <a:r>
              <a:rPr lang="en-US" sz="1708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Experiencia web fluida desde cualquier navegador.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374621" y="6952447"/>
            <a:ext cx="5051339" cy="2001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07"/>
              </a:lnSpc>
              <a:spcBef>
                <a:spcPct val="0"/>
              </a:spcBef>
            </a:pPr>
            <a:r>
              <a:rPr lang="en-US" sz="1648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Para Pymes </a:t>
            </a:r>
          </a:p>
          <a:p>
            <a:pPr algn="ctr">
              <a:lnSpc>
                <a:spcPts val="2307"/>
              </a:lnSpc>
              <a:spcBef>
                <a:spcPct val="0"/>
              </a:spcBef>
            </a:pPr>
            <a:r>
              <a:rPr lang="en-US" sz="1648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Base de datos centralizada con historial de precios listo para análisis temporal.</a:t>
            </a:r>
          </a:p>
          <a:p>
            <a:pPr algn="ctr">
              <a:lnSpc>
                <a:spcPts val="2307"/>
              </a:lnSpc>
              <a:spcBef>
                <a:spcPct val="0"/>
              </a:spcBef>
            </a:pPr>
            <a:r>
              <a:rPr lang="en-US" sz="1648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Dashboard analítico funcional, variaciones y competitividad entre supermercados.</a:t>
            </a:r>
          </a:p>
          <a:p>
            <a:pPr algn="ctr">
              <a:lnSpc>
                <a:spcPts val="2307"/>
              </a:lnSpc>
              <a:spcBef>
                <a:spcPct val="0"/>
              </a:spcBef>
            </a:pPr>
            <a:r>
              <a:rPr lang="en-US" sz="1648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Acceso a información que permite mejorar decisiones de abastecimiento.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4130386" y="-19421"/>
            <a:ext cx="4105008" cy="1026252"/>
          </a:xfrm>
          <a:custGeom>
            <a:avLst/>
            <a:gdLst/>
            <a:ahLst/>
            <a:cxnLst/>
            <a:rect r="r" b="b" t="t" l="l"/>
            <a:pathLst>
              <a:path h="1026252" w="4105008">
                <a:moveTo>
                  <a:pt x="0" y="0"/>
                </a:moveTo>
                <a:lnTo>
                  <a:pt x="4105008" y="0"/>
                </a:lnTo>
                <a:lnTo>
                  <a:pt x="4105008" y="1026252"/>
                </a:lnTo>
                <a:lnTo>
                  <a:pt x="0" y="1026252"/>
                </a:lnTo>
                <a:lnTo>
                  <a:pt x="0" y="0"/>
                </a:lnTo>
                <a:close/>
              </a:path>
            </a:pathLst>
          </a:custGeom>
          <a:blipFill>
            <a:blip r:embed="rId1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A6A6A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57362" y="-143352"/>
            <a:ext cx="16977437" cy="1111250"/>
          </a:xfrm>
          <a:custGeom>
            <a:avLst/>
            <a:gdLst/>
            <a:ahLst/>
            <a:cxnLst/>
            <a:rect r="r" b="b" t="t" l="l"/>
            <a:pathLst>
              <a:path h="1111250" w="16977437">
                <a:moveTo>
                  <a:pt x="0" y="0"/>
                </a:moveTo>
                <a:lnTo>
                  <a:pt x="16977437" y="0"/>
                </a:lnTo>
                <a:lnTo>
                  <a:pt x="16977437" y="1111250"/>
                </a:lnTo>
                <a:lnTo>
                  <a:pt x="0" y="11112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530325"/>
            <a:ext cx="4114724" cy="14127808"/>
          </a:xfrm>
          <a:custGeom>
            <a:avLst/>
            <a:gdLst/>
            <a:ahLst/>
            <a:cxnLst/>
            <a:rect r="r" b="b" t="t" l="l"/>
            <a:pathLst>
              <a:path h="14127808" w="4114724">
                <a:moveTo>
                  <a:pt x="0" y="0"/>
                </a:moveTo>
                <a:lnTo>
                  <a:pt x="4114724" y="0"/>
                </a:lnTo>
                <a:lnTo>
                  <a:pt x="4114724" y="14127808"/>
                </a:lnTo>
                <a:lnTo>
                  <a:pt x="0" y="141278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dash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4374621" y="316798"/>
            <a:ext cx="442267" cy="353814"/>
          </a:xfrm>
          <a:custGeom>
            <a:avLst/>
            <a:gdLst/>
            <a:ahLst/>
            <a:cxnLst/>
            <a:rect r="r" b="b" t="t" l="l"/>
            <a:pathLst>
              <a:path h="353814" w="442267">
                <a:moveTo>
                  <a:pt x="0" y="0"/>
                </a:moveTo>
                <a:lnTo>
                  <a:pt x="442267" y="0"/>
                </a:lnTo>
                <a:lnTo>
                  <a:pt x="442267" y="353814"/>
                </a:lnTo>
                <a:lnTo>
                  <a:pt x="0" y="3538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97370" y="1519456"/>
            <a:ext cx="3319984" cy="959777"/>
          </a:xfrm>
          <a:custGeom>
            <a:avLst/>
            <a:gdLst/>
            <a:ahLst/>
            <a:cxnLst/>
            <a:rect r="r" b="b" t="t" l="l"/>
            <a:pathLst>
              <a:path h="959777" w="3319984">
                <a:moveTo>
                  <a:pt x="0" y="0"/>
                </a:moveTo>
                <a:lnTo>
                  <a:pt x="3319984" y="0"/>
                </a:lnTo>
                <a:lnTo>
                  <a:pt x="3319984" y="959777"/>
                </a:lnTo>
                <a:lnTo>
                  <a:pt x="0" y="95977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761446" y="1926859"/>
            <a:ext cx="8439802" cy="3484351"/>
          </a:xfrm>
          <a:custGeom>
            <a:avLst/>
            <a:gdLst/>
            <a:ahLst/>
            <a:cxnLst/>
            <a:rect r="r" b="b" t="t" l="l"/>
            <a:pathLst>
              <a:path h="3484351" w="8439802">
                <a:moveTo>
                  <a:pt x="0" y="0"/>
                </a:moveTo>
                <a:lnTo>
                  <a:pt x="8439802" y="0"/>
                </a:lnTo>
                <a:lnTo>
                  <a:pt x="8439802" y="3484351"/>
                </a:lnTo>
                <a:lnTo>
                  <a:pt x="0" y="348435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690803" y="6267915"/>
            <a:ext cx="8439802" cy="3484351"/>
          </a:xfrm>
          <a:custGeom>
            <a:avLst/>
            <a:gdLst/>
            <a:ahLst/>
            <a:cxnLst/>
            <a:rect r="r" b="b" t="t" l="l"/>
            <a:pathLst>
              <a:path h="3484351" w="8439802">
                <a:moveTo>
                  <a:pt x="0" y="0"/>
                </a:moveTo>
                <a:lnTo>
                  <a:pt x="8439802" y="0"/>
                </a:lnTo>
                <a:lnTo>
                  <a:pt x="8439802" y="3484351"/>
                </a:lnTo>
                <a:lnTo>
                  <a:pt x="0" y="348435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88708" y="2914499"/>
            <a:ext cx="1737309" cy="1360892"/>
          </a:xfrm>
          <a:custGeom>
            <a:avLst/>
            <a:gdLst/>
            <a:ahLst/>
            <a:cxnLst/>
            <a:rect r="r" b="b" t="t" l="l"/>
            <a:pathLst>
              <a:path h="1360892" w="1737309">
                <a:moveTo>
                  <a:pt x="0" y="0"/>
                </a:moveTo>
                <a:lnTo>
                  <a:pt x="1737308" y="0"/>
                </a:lnTo>
                <a:lnTo>
                  <a:pt x="1737308" y="1360892"/>
                </a:lnTo>
                <a:lnTo>
                  <a:pt x="0" y="136089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397370" y="1578041"/>
            <a:ext cx="3474618" cy="785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1"/>
              </a:lnSpc>
              <a:spcBef>
                <a:spcPct val="0"/>
              </a:spcBef>
            </a:pPr>
            <a:r>
              <a:rPr lang="en-US" sz="2229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Obstáculos presentados durante el desarrollo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349572" y="1268129"/>
            <a:ext cx="3122265" cy="455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94"/>
              </a:lnSpc>
              <a:spcBef>
                <a:spcPct val="0"/>
              </a:spcBef>
            </a:pPr>
            <a:r>
              <a:rPr lang="en-US" sz="271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Volatilidad de Scrapers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604984" y="5612862"/>
            <a:ext cx="3866852" cy="455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94"/>
              </a:lnSpc>
              <a:spcBef>
                <a:spcPct val="0"/>
              </a:spcBef>
            </a:pPr>
            <a:r>
              <a:rPr lang="en-US" sz="271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Migración de Base de Datos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870954" y="2176287"/>
            <a:ext cx="8082650" cy="2789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2"/>
              </a:lnSpc>
              <a:spcBef>
                <a:spcPct val="0"/>
              </a:spcBef>
            </a:pPr>
          </a:p>
          <a:p>
            <a:pPr algn="ctr">
              <a:lnSpc>
                <a:spcPts val="3212"/>
              </a:lnSpc>
              <a:spcBef>
                <a:spcPct val="0"/>
              </a:spcBef>
            </a:pPr>
            <a:r>
              <a:rPr lang="en-US" sz="2294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Problema: Las estructuras de los sitios cambiaban constantemente y los cargadores dinámicos impedían capturar los datos de forma estable.</a:t>
            </a:r>
          </a:p>
          <a:p>
            <a:pPr algn="ctr">
              <a:lnSpc>
                <a:spcPts val="3212"/>
              </a:lnSpc>
              <a:spcBef>
                <a:spcPct val="0"/>
              </a:spcBef>
            </a:pPr>
            <a:r>
              <a:rPr lang="en-US" sz="2294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Solución: Se depuraron selectores, se manejaron nodos dinámicos y se reforzó la lógica de extracción para asegurar capturas consistentes.</a:t>
            </a:r>
          </a:p>
          <a:p>
            <a:pPr algn="ctr">
              <a:lnSpc>
                <a:spcPts val="3212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6870954" y="6868660"/>
            <a:ext cx="8010984" cy="23896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212"/>
              </a:lnSpc>
              <a:spcBef>
                <a:spcPct val="0"/>
              </a:spcBef>
            </a:pPr>
            <a:r>
              <a:rPr lang="en-US" sz="2294" strike="noStrike" u="none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Problema: Firestore no permitía operaciones avanzadas ni análisis histórico, limitando el módulo analítico del proyecto.</a:t>
            </a:r>
          </a:p>
          <a:p>
            <a:pPr algn="ctr" marL="0" indent="0" lvl="0">
              <a:lnSpc>
                <a:spcPts val="3212"/>
              </a:lnSpc>
              <a:spcBef>
                <a:spcPct val="0"/>
              </a:spcBef>
            </a:pPr>
            <a:r>
              <a:rPr lang="en-US" sz="2294" strike="noStrike" u="none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Solución: Se migró a MongoDB Atlas, se refactorizó el backend y se rediseñó el modelo de datos para soportar consultas complejas y variaciones temporales.</a:t>
            </a:r>
          </a:p>
          <a:p>
            <a:pPr algn="ctr" marL="0" indent="0" lvl="0">
              <a:lnSpc>
                <a:spcPts val="3212"/>
              </a:lnSpc>
              <a:spcBef>
                <a:spcPct val="0"/>
              </a:spcBef>
            </a:pP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4130386" y="-19421"/>
            <a:ext cx="4105008" cy="1026252"/>
          </a:xfrm>
          <a:custGeom>
            <a:avLst/>
            <a:gdLst/>
            <a:ahLst/>
            <a:cxnLst/>
            <a:rect r="r" b="b" t="t" l="l"/>
            <a:pathLst>
              <a:path h="1026252" w="4105008">
                <a:moveTo>
                  <a:pt x="0" y="0"/>
                </a:moveTo>
                <a:lnTo>
                  <a:pt x="4105008" y="0"/>
                </a:lnTo>
                <a:lnTo>
                  <a:pt x="4105008" y="1026252"/>
                </a:lnTo>
                <a:lnTo>
                  <a:pt x="0" y="102625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A6A6A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57362" y="-143352"/>
            <a:ext cx="16977437" cy="1111250"/>
          </a:xfrm>
          <a:custGeom>
            <a:avLst/>
            <a:gdLst/>
            <a:ahLst/>
            <a:cxnLst/>
            <a:rect r="r" b="b" t="t" l="l"/>
            <a:pathLst>
              <a:path h="1111250" w="16977437">
                <a:moveTo>
                  <a:pt x="0" y="0"/>
                </a:moveTo>
                <a:lnTo>
                  <a:pt x="16977437" y="0"/>
                </a:lnTo>
                <a:lnTo>
                  <a:pt x="16977437" y="1111250"/>
                </a:lnTo>
                <a:lnTo>
                  <a:pt x="0" y="11112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530325"/>
            <a:ext cx="4114724" cy="14127808"/>
          </a:xfrm>
          <a:custGeom>
            <a:avLst/>
            <a:gdLst/>
            <a:ahLst/>
            <a:cxnLst/>
            <a:rect r="r" b="b" t="t" l="l"/>
            <a:pathLst>
              <a:path h="14127808" w="4114724">
                <a:moveTo>
                  <a:pt x="0" y="0"/>
                </a:moveTo>
                <a:lnTo>
                  <a:pt x="4114724" y="0"/>
                </a:lnTo>
                <a:lnTo>
                  <a:pt x="4114724" y="14127808"/>
                </a:lnTo>
                <a:lnTo>
                  <a:pt x="0" y="141278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dash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4374621" y="316798"/>
            <a:ext cx="442267" cy="353814"/>
          </a:xfrm>
          <a:custGeom>
            <a:avLst/>
            <a:gdLst/>
            <a:ahLst/>
            <a:cxnLst/>
            <a:rect r="r" b="b" t="t" l="l"/>
            <a:pathLst>
              <a:path h="353814" w="442267">
                <a:moveTo>
                  <a:pt x="0" y="0"/>
                </a:moveTo>
                <a:lnTo>
                  <a:pt x="442267" y="0"/>
                </a:lnTo>
                <a:lnTo>
                  <a:pt x="442267" y="353814"/>
                </a:lnTo>
                <a:lnTo>
                  <a:pt x="0" y="3538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97370" y="1519456"/>
            <a:ext cx="3319984" cy="959777"/>
          </a:xfrm>
          <a:custGeom>
            <a:avLst/>
            <a:gdLst/>
            <a:ahLst/>
            <a:cxnLst/>
            <a:rect r="r" b="b" t="t" l="l"/>
            <a:pathLst>
              <a:path h="959777" w="3319984">
                <a:moveTo>
                  <a:pt x="0" y="0"/>
                </a:moveTo>
                <a:lnTo>
                  <a:pt x="3319984" y="0"/>
                </a:lnTo>
                <a:lnTo>
                  <a:pt x="3319984" y="959777"/>
                </a:lnTo>
                <a:lnTo>
                  <a:pt x="0" y="95977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803509" y="3177497"/>
            <a:ext cx="10143888" cy="4187879"/>
          </a:xfrm>
          <a:custGeom>
            <a:avLst/>
            <a:gdLst/>
            <a:ahLst/>
            <a:cxnLst/>
            <a:rect r="r" b="b" t="t" l="l"/>
            <a:pathLst>
              <a:path h="4187879" w="10143888">
                <a:moveTo>
                  <a:pt x="0" y="0"/>
                </a:moveTo>
                <a:lnTo>
                  <a:pt x="10143888" y="0"/>
                </a:lnTo>
                <a:lnTo>
                  <a:pt x="10143888" y="4187879"/>
                </a:lnTo>
                <a:lnTo>
                  <a:pt x="0" y="418787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271609" y="2772501"/>
            <a:ext cx="1553115" cy="1448280"/>
          </a:xfrm>
          <a:custGeom>
            <a:avLst/>
            <a:gdLst/>
            <a:ahLst/>
            <a:cxnLst/>
            <a:rect r="r" b="b" t="t" l="l"/>
            <a:pathLst>
              <a:path h="1448280" w="1553115">
                <a:moveTo>
                  <a:pt x="0" y="0"/>
                </a:moveTo>
                <a:lnTo>
                  <a:pt x="1553115" y="0"/>
                </a:lnTo>
                <a:lnTo>
                  <a:pt x="1553115" y="1448279"/>
                </a:lnTo>
                <a:lnTo>
                  <a:pt x="0" y="144827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7374902" y="4447811"/>
            <a:ext cx="7225549" cy="1475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35"/>
              </a:lnSpc>
              <a:spcBef>
                <a:spcPct val="0"/>
              </a:spcBef>
            </a:pPr>
            <a:r>
              <a:rPr lang="en-US" sz="4239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DEMOSTRACIÓN DEL PROYECTO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78979" y="1553750"/>
            <a:ext cx="3338375" cy="8435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9"/>
              </a:lnSpc>
              <a:spcBef>
                <a:spcPct val="0"/>
              </a:spcBef>
            </a:pPr>
            <a:r>
              <a:rPr lang="en-US" sz="2413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Sistema analítico de consumo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4130386" y="-19421"/>
            <a:ext cx="4105008" cy="1026252"/>
          </a:xfrm>
          <a:custGeom>
            <a:avLst/>
            <a:gdLst/>
            <a:ahLst/>
            <a:cxnLst/>
            <a:rect r="r" b="b" t="t" l="l"/>
            <a:pathLst>
              <a:path h="1026252" w="4105008">
                <a:moveTo>
                  <a:pt x="0" y="0"/>
                </a:moveTo>
                <a:lnTo>
                  <a:pt x="4105008" y="0"/>
                </a:lnTo>
                <a:lnTo>
                  <a:pt x="4105008" y="1026252"/>
                </a:lnTo>
                <a:lnTo>
                  <a:pt x="0" y="102625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A6A6A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57362" y="-143352"/>
            <a:ext cx="16977437" cy="1111250"/>
          </a:xfrm>
          <a:custGeom>
            <a:avLst/>
            <a:gdLst/>
            <a:ahLst/>
            <a:cxnLst/>
            <a:rect r="r" b="b" t="t" l="l"/>
            <a:pathLst>
              <a:path h="1111250" w="16977437">
                <a:moveTo>
                  <a:pt x="0" y="0"/>
                </a:moveTo>
                <a:lnTo>
                  <a:pt x="16977437" y="0"/>
                </a:lnTo>
                <a:lnTo>
                  <a:pt x="16977437" y="1111250"/>
                </a:lnTo>
                <a:lnTo>
                  <a:pt x="0" y="11112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530325"/>
            <a:ext cx="4114724" cy="14127808"/>
          </a:xfrm>
          <a:custGeom>
            <a:avLst/>
            <a:gdLst/>
            <a:ahLst/>
            <a:cxnLst/>
            <a:rect r="r" b="b" t="t" l="l"/>
            <a:pathLst>
              <a:path h="14127808" w="4114724">
                <a:moveTo>
                  <a:pt x="0" y="0"/>
                </a:moveTo>
                <a:lnTo>
                  <a:pt x="4114724" y="0"/>
                </a:lnTo>
                <a:lnTo>
                  <a:pt x="4114724" y="14127808"/>
                </a:lnTo>
                <a:lnTo>
                  <a:pt x="0" y="141278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dash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4374621" y="316798"/>
            <a:ext cx="442267" cy="353814"/>
          </a:xfrm>
          <a:custGeom>
            <a:avLst/>
            <a:gdLst/>
            <a:ahLst/>
            <a:cxnLst/>
            <a:rect r="r" b="b" t="t" l="l"/>
            <a:pathLst>
              <a:path h="353814" w="442267">
                <a:moveTo>
                  <a:pt x="0" y="0"/>
                </a:moveTo>
                <a:lnTo>
                  <a:pt x="442267" y="0"/>
                </a:lnTo>
                <a:lnTo>
                  <a:pt x="442267" y="353814"/>
                </a:lnTo>
                <a:lnTo>
                  <a:pt x="0" y="3538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97370" y="1519456"/>
            <a:ext cx="3319984" cy="959777"/>
          </a:xfrm>
          <a:custGeom>
            <a:avLst/>
            <a:gdLst/>
            <a:ahLst/>
            <a:cxnLst/>
            <a:rect r="r" b="b" t="t" l="l"/>
            <a:pathLst>
              <a:path h="959777" w="3319984">
                <a:moveTo>
                  <a:pt x="0" y="0"/>
                </a:moveTo>
                <a:lnTo>
                  <a:pt x="3319984" y="0"/>
                </a:lnTo>
                <a:lnTo>
                  <a:pt x="3319984" y="959777"/>
                </a:lnTo>
                <a:lnTo>
                  <a:pt x="0" y="95977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713420" y="6350714"/>
            <a:ext cx="8439802" cy="3484351"/>
          </a:xfrm>
          <a:custGeom>
            <a:avLst/>
            <a:gdLst/>
            <a:ahLst/>
            <a:cxnLst/>
            <a:rect r="r" b="b" t="t" l="l"/>
            <a:pathLst>
              <a:path h="3484351" w="8439802">
                <a:moveTo>
                  <a:pt x="0" y="0"/>
                </a:moveTo>
                <a:lnTo>
                  <a:pt x="8439802" y="0"/>
                </a:lnTo>
                <a:lnTo>
                  <a:pt x="8439802" y="3484351"/>
                </a:lnTo>
                <a:lnTo>
                  <a:pt x="0" y="348435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761446" y="1926859"/>
            <a:ext cx="8439802" cy="3484351"/>
          </a:xfrm>
          <a:custGeom>
            <a:avLst/>
            <a:gdLst/>
            <a:ahLst/>
            <a:cxnLst/>
            <a:rect r="r" b="b" t="t" l="l"/>
            <a:pathLst>
              <a:path h="3484351" w="8439802">
                <a:moveTo>
                  <a:pt x="0" y="0"/>
                </a:moveTo>
                <a:lnTo>
                  <a:pt x="8439802" y="0"/>
                </a:lnTo>
                <a:lnTo>
                  <a:pt x="8439802" y="3484351"/>
                </a:lnTo>
                <a:lnTo>
                  <a:pt x="0" y="348435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76646" y="2623751"/>
            <a:ext cx="1543042" cy="1543042"/>
          </a:xfrm>
          <a:custGeom>
            <a:avLst/>
            <a:gdLst/>
            <a:ahLst/>
            <a:cxnLst/>
            <a:rect r="r" b="b" t="t" l="l"/>
            <a:pathLst>
              <a:path h="1543042" w="1543042">
                <a:moveTo>
                  <a:pt x="0" y="0"/>
                </a:moveTo>
                <a:lnTo>
                  <a:pt x="1543042" y="0"/>
                </a:lnTo>
                <a:lnTo>
                  <a:pt x="1543042" y="1543042"/>
                </a:lnTo>
                <a:lnTo>
                  <a:pt x="0" y="1543042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09347" y="1542816"/>
            <a:ext cx="3096031" cy="83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93"/>
              </a:lnSpc>
              <a:spcBef>
                <a:spcPct val="0"/>
              </a:spcBef>
            </a:pPr>
            <a:r>
              <a:rPr lang="en-US" sz="2424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Conclusión y comentario final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857668" y="6842640"/>
            <a:ext cx="8151305" cy="2415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78"/>
              </a:lnSpc>
            </a:pPr>
            <a:r>
              <a:rPr lang="en-US" sz="277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T</a:t>
            </a:r>
            <a:r>
              <a:rPr lang="en-US" sz="277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ransformamos datos en inteligencia comercial.</a:t>
            </a:r>
          </a:p>
          <a:p>
            <a:pPr algn="ctr">
              <a:lnSpc>
                <a:spcPts val="3878"/>
              </a:lnSpc>
            </a:pPr>
            <a:r>
              <a:rPr lang="en-US" sz="277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Precios centralizados, historial confiable y métricas claras.</a:t>
            </a:r>
          </a:p>
          <a:p>
            <a:pPr algn="ctr">
              <a:lnSpc>
                <a:spcPts val="3878"/>
              </a:lnSpc>
            </a:pPr>
            <a:r>
              <a:rPr lang="en-US" sz="277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Plataforma que impulsa mejores decisiones, eficiencia y ahorro para Pymes y consumidores.</a:t>
            </a:r>
          </a:p>
          <a:p>
            <a:pPr algn="ctr">
              <a:lnSpc>
                <a:spcPts val="3878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0207515" y="1224181"/>
            <a:ext cx="1547664" cy="549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54"/>
              </a:lnSpc>
              <a:spcBef>
                <a:spcPct val="0"/>
              </a:spcBef>
            </a:pPr>
            <a:r>
              <a:rPr lang="en-US" sz="311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Viabilidad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100405" y="5600411"/>
            <a:ext cx="1665833" cy="533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14"/>
              </a:lnSpc>
              <a:spcBef>
                <a:spcPct val="0"/>
              </a:spcBef>
            </a:pPr>
            <a:r>
              <a:rPr lang="en-US" sz="301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Conclusión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857668" y="2329267"/>
            <a:ext cx="8126345" cy="2389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Sist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ema esca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lable y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 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mo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d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ular, pr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e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parado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 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para 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 s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cr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a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pi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n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g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 y 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ana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l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íti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ca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.</a:t>
            </a:r>
          </a:p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Me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r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c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ado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 di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re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cto: Pyme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s 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que 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n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e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c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e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si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t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an 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o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pt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imiz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ar 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c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ostos 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y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 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ab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asteci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mi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e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nto.</a:t>
            </a:r>
          </a:p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M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er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c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a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d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o 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indir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ecto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: Consumido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res 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qu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e 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co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m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par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an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 pr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e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cios p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ar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a ah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o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rrar.</a:t>
            </a:r>
          </a:p>
          <a:p>
            <a:pPr algn="ctr">
              <a:lnSpc>
                <a:spcPts val="3220"/>
              </a:lnSpc>
            </a:pP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Difere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n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ciació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n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: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 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Ú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nico 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pipelin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e 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compl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e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t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o 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(scr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a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pin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g 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→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 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proc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e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s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a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m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i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e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n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to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 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→ 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a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nalític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a 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→ d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as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hbo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ar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ds)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 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en 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u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n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 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e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cosiste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ma web i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nte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grado</a:t>
            </a:r>
            <a:r>
              <a:rPr lang="en-US" sz="2300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4130386" y="-19421"/>
            <a:ext cx="4105008" cy="1026252"/>
          </a:xfrm>
          <a:custGeom>
            <a:avLst/>
            <a:gdLst/>
            <a:ahLst/>
            <a:cxnLst/>
            <a:rect r="r" b="b" t="t" l="l"/>
            <a:pathLst>
              <a:path h="1026252" w="4105008">
                <a:moveTo>
                  <a:pt x="0" y="0"/>
                </a:moveTo>
                <a:lnTo>
                  <a:pt x="4105008" y="0"/>
                </a:lnTo>
                <a:lnTo>
                  <a:pt x="4105008" y="1026252"/>
                </a:lnTo>
                <a:lnTo>
                  <a:pt x="0" y="102625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A6A6A6">
                <a:alpha val="100000"/>
              </a:srgbClr>
            </a:gs>
            <a:gs pos="100000">
              <a:srgbClr val="FFFFFF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57362" y="-143352"/>
            <a:ext cx="16977437" cy="1111250"/>
          </a:xfrm>
          <a:custGeom>
            <a:avLst/>
            <a:gdLst/>
            <a:ahLst/>
            <a:cxnLst/>
            <a:rect r="r" b="b" t="t" l="l"/>
            <a:pathLst>
              <a:path h="1111250" w="16977437">
                <a:moveTo>
                  <a:pt x="0" y="0"/>
                </a:moveTo>
                <a:lnTo>
                  <a:pt x="16977437" y="0"/>
                </a:lnTo>
                <a:lnTo>
                  <a:pt x="16977437" y="1111250"/>
                </a:lnTo>
                <a:lnTo>
                  <a:pt x="0" y="11112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-530325"/>
            <a:ext cx="4114724" cy="14127808"/>
          </a:xfrm>
          <a:custGeom>
            <a:avLst/>
            <a:gdLst/>
            <a:ahLst/>
            <a:cxnLst/>
            <a:rect r="r" b="b" t="t" l="l"/>
            <a:pathLst>
              <a:path h="14127808" w="4114724">
                <a:moveTo>
                  <a:pt x="0" y="0"/>
                </a:moveTo>
                <a:lnTo>
                  <a:pt x="4114724" y="0"/>
                </a:lnTo>
                <a:lnTo>
                  <a:pt x="4114724" y="14127808"/>
                </a:lnTo>
                <a:lnTo>
                  <a:pt x="0" y="141278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dash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4374621" y="316798"/>
            <a:ext cx="442267" cy="353814"/>
          </a:xfrm>
          <a:custGeom>
            <a:avLst/>
            <a:gdLst/>
            <a:ahLst/>
            <a:cxnLst/>
            <a:rect r="r" b="b" t="t" l="l"/>
            <a:pathLst>
              <a:path h="353814" w="442267">
                <a:moveTo>
                  <a:pt x="0" y="0"/>
                </a:moveTo>
                <a:lnTo>
                  <a:pt x="442267" y="0"/>
                </a:lnTo>
                <a:lnTo>
                  <a:pt x="442267" y="353814"/>
                </a:lnTo>
                <a:lnTo>
                  <a:pt x="0" y="35381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97370" y="1519456"/>
            <a:ext cx="3319984" cy="959777"/>
          </a:xfrm>
          <a:custGeom>
            <a:avLst/>
            <a:gdLst/>
            <a:ahLst/>
            <a:cxnLst/>
            <a:rect r="r" b="b" t="t" l="l"/>
            <a:pathLst>
              <a:path h="959777" w="3319984">
                <a:moveTo>
                  <a:pt x="0" y="0"/>
                </a:moveTo>
                <a:lnTo>
                  <a:pt x="3319984" y="0"/>
                </a:lnTo>
                <a:lnTo>
                  <a:pt x="3319984" y="959777"/>
                </a:lnTo>
                <a:lnTo>
                  <a:pt x="0" y="95977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492998" y="1999345"/>
            <a:ext cx="8439802" cy="3484351"/>
          </a:xfrm>
          <a:custGeom>
            <a:avLst/>
            <a:gdLst/>
            <a:ahLst/>
            <a:cxnLst/>
            <a:rect r="r" b="b" t="t" l="l"/>
            <a:pathLst>
              <a:path h="3484351" w="8439802">
                <a:moveTo>
                  <a:pt x="0" y="0"/>
                </a:moveTo>
                <a:lnTo>
                  <a:pt x="8439802" y="0"/>
                </a:lnTo>
                <a:lnTo>
                  <a:pt x="8439802" y="3484351"/>
                </a:lnTo>
                <a:lnTo>
                  <a:pt x="0" y="348435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6492998" y="5773949"/>
            <a:ext cx="8439802" cy="3484351"/>
          </a:xfrm>
          <a:custGeom>
            <a:avLst/>
            <a:gdLst/>
            <a:ahLst/>
            <a:cxnLst/>
            <a:rect r="r" b="b" t="t" l="l"/>
            <a:pathLst>
              <a:path h="3484351" w="8439802">
                <a:moveTo>
                  <a:pt x="0" y="0"/>
                </a:moveTo>
                <a:lnTo>
                  <a:pt x="8439802" y="0"/>
                </a:lnTo>
                <a:lnTo>
                  <a:pt x="8439802" y="3484351"/>
                </a:lnTo>
                <a:lnTo>
                  <a:pt x="0" y="348435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355156" y="2678670"/>
            <a:ext cx="1404412" cy="1386856"/>
          </a:xfrm>
          <a:custGeom>
            <a:avLst/>
            <a:gdLst/>
            <a:ahLst/>
            <a:cxnLst/>
            <a:rect r="r" b="b" t="t" l="l"/>
            <a:pathLst>
              <a:path h="1386856" w="1404412">
                <a:moveTo>
                  <a:pt x="0" y="0"/>
                </a:moveTo>
                <a:lnTo>
                  <a:pt x="1404412" y="0"/>
                </a:lnTo>
                <a:lnTo>
                  <a:pt x="1404412" y="1386856"/>
                </a:lnTo>
                <a:lnTo>
                  <a:pt x="0" y="138685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763357" y="3048465"/>
            <a:ext cx="5899084" cy="863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21"/>
              </a:lnSpc>
              <a:spcBef>
                <a:spcPct val="0"/>
              </a:spcBef>
            </a:pPr>
            <a:r>
              <a:rPr lang="en-US" sz="5015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Muchas gracias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78979" y="1768062"/>
            <a:ext cx="3338375" cy="414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9"/>
              </a:lnSpc>
              <a:spcBef>
                <a:spcPct val="0"/>
              </a:spcBef>
            </a:pPr>
            <a:r>
              <a:rPr lang="en-US" sz="2413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Cierre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491644" y="6855892"/>
            <a:ext cx="4837883" cy="888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58"/>
              </a:lnSpc>
              <a:spcBef>
                <a:spcPct val="0"/>
              </a:spcBef>
            </a:pPr>
            <a:r>
              <a:rPr lang="en-US" sz="5184">
                <a:solidFill>
                  <a:srgbClr val="000000"/>
                </a:solidFill>
                <a:latin typeface="Belleza"/>
                <a:ea typeface="Belleza"/>
                <a:cs typeface="Belleza"/>
                <a:sym typeface="Belleza"/>
              </a:rPr>
              <a:t>Preguntas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4130386" y="-19421"/>
            <a:ext cx="4105008" cy="1026252"/>
          </a:xfrm>
          <a:custGeom>
            <a:avLst/>
            <a:gdLst/>
            <a:ahLst/>
            <a:cxnLst/>
            <a:rect r="r" b="b" t="t" l="l"/>
            <a:pathLst>
              <a:path h="1026252" w="4105008">
                <a:moveTo>
                  <a:pt x="0" y="0"/>
                </a:moveTo>
                <a:lnTo>
                  <a:pt x="4105008" y="0"/>
                </a:lnTo>
                <a:lnTo>
                  <a:pt x="4105008" y="1026252"/>
                </a:lnTo>
                <a:lnTo>
                  <a:pt x="0" y="102625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DAG6e4XvJxo</dc:identifier>
  <dcterms:modified xsi:type="dcterms:W3CDTF">2011-08-01T06:04:30Z</dcterms:modified>
  <cp:revision>1</cp:revision>
  <dc:title>rec</dc:title>
</cp:coreProperties>
</file>