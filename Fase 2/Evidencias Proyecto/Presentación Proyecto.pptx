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nton" panose="020F0502020204030204" pitchFamily="2" charset="0"/>
      <p:regular r:id="rId18"/>
    </p:embeddedFont>
    <p:embeddedFont>
      <p:font typeface="HK Modular" panose="020B0604020202020204" charset="0"/>
      <p:regular r:id="rId19"/>
    </p:embeddedFont>
    <p:embeddedFont>
      <p:font typeface="Open Sans" panose="020F0502020204030204" pitchFamily="34" charset="0"/>
      <p:regular r:id="rId20"/>
    </p:embeddedFont>
    <p:embeddedFont>
      <p:font typeface="Open Sans Bold" panose="020B0604020202020204" charset="0"/>
      <p:regular r:id="rId21"/>
    </p:embeddedFont>
    <p:embeddedFont>
      <p:font typeface="Recoleta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18" Type="http://schemas.openxmlformats.org/officeDocument/2006/relationships/image" Target="../media/image40.svg"/><Relationship Id="rId3" Type="http://schemas.openxmlformats.org/officeDocument/2006/relationships/image" Target="../media/image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17" Type="http://schemas.openxmlformats.org/officeDocument/2006/relationships/image" Target="../media/image39.png"/><Relationship Id="rId2" Type="http://schemas.openxmlformats.org/officeDocument/2006/relationships/image" Target="../media/image1.jpeg"/><Relationship Id="rId16" Type="http://schemas.openxmlformats.org/officeDocument/2006/relationships/image" Target="../media/image38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svg"/><Relationship Id="rId5" Type="http://schemas.openxmlformats.org/officeDocument/2006/relationships/image" Target="../media/image27.sv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image" Target="../media/image32.sv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svg"/><Relationship Id="rId22" Type="http://schemas.openxmlformats.org/officeDocument/2006/relationships/image" Target="../media/image4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.png"/><Relationship Id="rId7" Type="http://schemas.openxmlformats.org/officeDocument/2006/relationships/image" Target="../media/image5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svg"/><Relationship Id="rId5" Type="http://schemas.openxmlformats.org/officeDocument/2006/relationships/image" Target="../media/image49.sv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.png"/><Relationship Id="rId7" Type="http://schemas.openxmlformats.org/officeDocument/2006/relationships/image" Target="../media/image6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9" Type="http://schemas.openxmlformats.org/officeDocument/2006/relationships/image" Target="../media/image6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5.png"/><Relationship Id="rId7" Type="http://schemas.openxmlformats.org/officeDocument/2006/relationships/image" Target="../media/image6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Relationship Id="rId9" Type="http://schemas.openxmlformats.org/officeDocument/2006/relationships/image" Target="../media/image6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2585410"/>
            <a:ext cx="18502431" cy="2826589"/>
            <a:chOff x="0" y="0"/>
            <a:chExt cx="4873068" cy="744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73068" cy="744451"/>
            </a:xfrm>
            <a:custGeom>
              <a:avLst/>
              <a:gdLst/>
              <a:ahLst/>
              <a:cxnLst/>
              <a:rect l="l" t="t" r="r" b="b"/>
              <a:pathLst>
                <a:path w="4873068" h="744451">
                  <a:moveTo>
                    <a:pt x="0" y="0"/>
                  </a:moveTo>
                  <a:lnTo>
                    <a:pt x="4873068" y="0"/>
                  </a:lnTo>
                  <a:lnTo>
                    <a:pt x="4873068" y="744451"/>
                  </a:lnTo>
                  <a:lnTo>
                    <a:pt x="0" y="744451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73068" cy="782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5195684" y="7042037"/>
            <a:ext cx="7897171" cy="720396"/>
          </a:xfrm>
          <a:custGeom>
            <a:avLst/>
            <a:gdLst/>
            <a:ahLst/>
            <a:cxnLst/>
            <a:rect l="l" t="t" r="r" b="b"/>
            <a:pathLst>
              <a:path w="7897171" h="720396">
                <a:moveTo>
                  <a:pt x="0" y="0"/>
                </a:moveTo>
                <a:lnTo>
                  <a:pt x="7897170" y="0"/>
                </a:lnTo>
                <a:lnTo>
                  <a:pt x="7897170" y="720396"/>
                </a:lnTo>
                <a:lnTo>
                  <a:pt x="0" y="7203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205227" y="2749372"/>
            <a:ext cx="2321984" cy="2321984"/>
          </a:xfrm>
          <a:custGeom>
            <a:avLst/>
            <a:gdLst/>
            <a:ahLst/>
            <a:cxnLst/>
            <a:rect l="l" t="t" r="r" b="b"/>
            <a:pathLst>
              <a:path w="2321984" h="2321984">
                <a:moveTo>
                  <a:pt x="0" y="0"/>
                </a:moveTo>
                <a:lnTo>
                  <a:pt x="2321984" y="0"/>
                </a:lnTo>
                <a:lnTo>
                  <a:pt x="2321984" y="2321984"/>
                </a:lnTo>
                <a:lnTo>
                  <a:pt x="0" y="23219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Box 9"/>
          <p:cNvSpPr txBox="1"/>
          <p:nvPr/>
        </p:nvSpPr>
        <p:spPr>
          <a:xfrm>
            <a:off x="2913950" y="3032722"/>
            <a:ext cx="16992186" cy="158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77"/>
              </a:lnSpc>
              <a:spcBef>
                <a:spcPct val="0"/>
              </a:spcBef>
            </a:pPr>
            <a:r>
              <a:rPr lang="es-CL" sz="9269" noProof="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SISTEMA ANALÍTICO DE CONSUMO</a:t>
            </a:r>
          </a:p>
        </p:txBody>
      </p:sp>
      <p:sp>
        <p:nvSpPr>
          <p:cNvPr id="10" name="Freeform 10"/>
          <p:cNvSpPr/>
          <p:nvPr/>
        </p:nvSpPr>
        <p:spPr>
          <a:xfrm>
            <a:off x="5195684" y="8059088"/>
            <a:ext cx="7897171" cy="720396"/>
          </a:xfrm>
          <a:custGeom>
            <a:avLst/>
            <a:gdLst/>
            <a:ahLst/>
            <a:cxnLst/>
            <a:rect l="l" t="t" r="r" b="b"/>
            <a:pathLst>
              <a:path w="7897171" h="720396">
                <a:moveTo>
                  <a:pt x="0" y="0"/>
                </a:moveTo>
                <a:lnTo>
                  <a:pt x="7897170" y="0"/>
                </a:lnTo>
                <a:lnTo>
                  <a:pt x="7897170" y="720396"/>
                </a:lnTo>
                <a:lnTo>
                  <a:pt x="0" y="7203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205227" y="6975362"/>
            <a:ext cx="463738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s-CL" sz="3399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Sebastián Solar Aburto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5227" y="7992413"/>
            <a:ext cx="457661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s-CL" sz="3399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Carlos Catalán Donoso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83519" y="7078703"/>
            <a:ext cx="508381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s-CL" sz="3399" noProof="0" dirty="0" err="1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s-CL" sz="3399" noProof="0" dirty="0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 y Arquitectura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83519" y="8095754"/>
            <a:ext cx="65215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s-CL" sz="3399" noProof="0" dirty="0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Especialista en </a:t>
            </a:r>
            <a:r>
              <a:rPr lang="es-CL" sz="3399" noProof="0" dirty="0" err="1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lang="es-CL" sz="3399" noProof="0" dirty="0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 y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6841454" y="1841228"/>
            <a:ext cx="916704" cy="946275"/>
          </a:xfrm>
          <a:custGeom>
            <a:avLst/>
            <a:gdLst/>
            <a:ahLst/>
            <a:cxnLst/>
            <a:rect l="l" t="t" r="r" b="b"/>
            <a:pathLst>
              <a:path w="916704" h="946275">
                <a:moveTo>
                  <a:pt x="0" y="0"/>
                </a:moveTo>
                <a:lnTo>
                  <a:pt x="916705" y="0"/>
                </a:lnTo>
                <a:lnTo>
                  <a:pt x="916705" y="946275"/>
                </a:lnTo>
                <a:lnTo>
                  <a:pt x="0" y="94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>
            <a:off x="15165283" y="1886232"/>
            <a:ext cx="917547" cy="1123944"/>
          </a:xfrm>
          <a:custGeom>
            <a:avLst/>
            <a:gdLst/>
            <a:ahLst/>
            <a:cxnLst/>
            <a:rect l="l" t="t" r="r" b="b"/>
            <a:pathLst>
              <a:path w="917547" h="1123944">
                <a:moveTo>
                  <a:pt x="0" y="0"/>
                </a:moveTo>
                <a:lnTo>
                  <a:pt x="917547" y="0"/>
                </a:lnTo>
                <a:lnTo>
                  <a:pt x="917547" y="1123944"/>
                </a:lnTo>
                <a:lnTo>
                  <a:pt x="0" y="11239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276454" y="411919"/>
            <a:ext cx="6565000" cy="164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54"/>
              </a:lnSpc>
            </a:pPr>
            <a:r>
              <a:rPr lang="es-CL" sz="6181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DESCRIPCIÓN </a:t>
            </a:r>
          </a:p>
          <a:p>
            <a:pPr algn="ctr">
              <a:lnSpc>
                <a:spcPts val="4536"/>
              </a:lnSpc>
            </a:pPr>
            <a:endParaRPr lang="es-CL" sz="6181" b="1" noProof="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66867" y="1615699"/>
            <a:ext cx="574030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s-CL" sz="5199" b="1" u="sng" noProof="0" dirty="0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 o Dolor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48054" y="1609945"/>
            <a:ext cx="728707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s-CL" sz="5199" b="1" u="sng" noProof="0" dirty="0">
                <a:solidFill>
                  <a:srgbClr val="74CC6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Propuesta de solución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08627" y="3458636"/>
            <a:ext cx="7474203" cy="6062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s-CL" sz="2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Desarrollar una plataforma web que centraliza precios de supermercados, registra su variación histórica y transforma estos datos en información estratégica.</a:t>
            </a:r>
          </a:p>
          <a:p>
            <a:pPr algn="l">
              <a:lnSpc>
                <a:spcPts val="2861"/>
              </a:lnSpc>
            </a:pPr>
            <a:r>
              <a:rPr lang="es-CL" sz="2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Pymes y Supermercados:</a:t>
            </a:r>
          </a:p>
          <a:p>
            <a:pPr algn="l">
              <a:lnSpc>
                <a:spcPts val="2861"/>
              </a:lnSpc>
            </a:pPr>
            <a:endParaRPr lang="es-CL" sz="204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41241" lvl="1" indent="-220621" algn="l">
              <a:lnSpc>
                <a:spcPts val="2861"/>
              </a:lnSpc>
              <a:buFont typeface="Arial"/>
              <a:buChar char="•"/>
            </a:pPr>
            <a:r>
              <a:rPr lang="es-CL" sz="204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Dashboards</a:t>
            </a:r>
            <a:r>
              <a:rPr lang="es-CL" sz="2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comparativos de precios.</a:t>
            </a:r>
          </a:p>
          <a:p>
            <a:pPr marL="441241" lvl="1" indent="-220621" algn="l">
              <a:lnSpc>
                <a:spcPts val="2861"/>
              </a:lnSpc>
              <a:buFont typeface="Arial"/>
              <a:buChar char="•"/>
            </a:pPr>
            <a:r>
              <a:rPr lang="es-CL" sz="2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Variación histórica y tendencias por categoría.</a:t>
            </a:r>
          </a:p>
          <a:p>
            <a:pPr marL="441241" lvl="1" indent="-220621" algn="l">
              <a:lnSpc>
                <a:spcPts val="2861"/>
              </a:lnSpc>
              <a:buFont typeface="Arial"/>
              <a:buChar char="•"/>
            </a:pPr>
            <a:r>
              <a:rPr lang="es-CL" sz="2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Oportunidades de abastecimiento y márgenes.</a:t>
            </a:r>
          </a:p>
          <a:p>
            <a:pPr marL="441241" lvl="1" indent="-220621" algn="l">
              <a:lnSpc>
                <a:spcPts val="2861"/>
              </a:lnSpc>
              <a:buFont typeface="Arial"/>
              <a:buChar char="•"/>
            </a:pPr>
            <a:r>
              <a:rPr lang="es-CL" sz="2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Comportamiento real de usuarios y productos más demandados.</a:t>
            </a:r>
          </a:p>
          <a:p>
            <a:pPr algn="l">
              <a:lnSpc>
                <a:spcPts val="2861"/>
              </a:lnSpc>
            </a:pPr>
            <a:endParaRPr lang="es-CL" sz="204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61"/>
              </a:lnSpc>
            </a:pPr>
            <a:r>
              <a:rPr lang="es-CL" sz="2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Consumidores:</a:t>
            </a:r>
          </a:p>
          <a:p>
            <a:pPr algn="l">
              <a:lnSpc>
                <a:spcPts val="2861"/>
              </a:lnSpc>
            </a:pPr>
            <a:endParaRPr lang="es-CL" sz="204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41241" lvl="1" indent="-220621" algn="l">
              <a:lnSpc>
                <a:spcPts val="2861"/>
              </a:lnSpc>
              <a:buFont typeface="Arial"/>
              <a:buChar char="•"/>
            </a:pPr>
            <a:r>
              <a:rPr lang="es-CL" sz="2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Comparación de precios en tiempo real.</a:t>
            </a:r>
          </a:p>
          <a:p>
            <a:pPr marL="441241" lvl="1" indent="-220621" algn="l">
              <a:lnSpc>
                <a:spcPts val="2861"/>
              </a:lnSpc>
              <a:buFont typeface="Arial"/>
              <a:buChar char="•"/>
            </a:pPr>
            <a:r>
              <a:rPr lang="es-CL" sz="204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Visualización clara de si un precio está subiendo o bajando.</a:t>
            </a:r>
          </a:p>
          <a:p>
            <a:pPr algn="l">
              <a:lnSpc>
                <a:spcPts val="2861"/>
              </a:lnSpc>
            </a:pPr>
            <a:endParaRPr lang="es-CL" sz="204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88476" y="3411288"/>
            <a:ext cx="6661871" cy="6157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s-CL" sz="222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falta de una plataforma centralizada de precios de supermercados en Chile genera un problema crítico para el mercado:</a:t>
            </a:r>
          </a:p>
          <a:p>
            <a:pPr algn="l">
              <a:lnSpc>
                <a:spcPts val="3112"/>
              </a:lnSpc>
            </a:pPr>
            <a:endParaRPr lang="es-CL" sz="222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80061" lvl="1" indent="-240030" algn="l">
              <a:lnSpc>
                <a:spcPts val="3112"/>
              </a:lnSpc>
              <a:buFont typeface="Arial"/>
              <a:buChar char="•"/>
            </a:pPr>
            <a:r>
              <a:rPr lang="es-CL" sz="222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Pymes: No saben dónde abastecerse al mejor precio, lo que reduce sus márgenes y competitividad.</a:t>
            </a:r>
          </a:p>
          <a:p>
            <a:pPr algn="l">
              <a:lnSpc>
                <a:spcPts val="3112"/>
              </a:lnSpc>
            </a:pPr>
            <a:endParaRPr lang="es-CL" sz="222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80061" lvl="1" indent="-240030" algn="l">
              <a:lnSpc>
                <a:spcPts val="3112"/>
              </a:lnSpc>
              <a:buFont typeface="Arial"/>
              <a:buChar char="•"/>
            </a:pPr>
            <a:r>
              <a:rPr lang="es-CL" sz="222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Supermercados: Carecen de visibilidad real de su posición frente a la competencia y no pueden ajustar estrategias comerciales.</a:t>
            </a:r>
          </a:p>
          <a:p>
            <a:pPr algn="l">
              <a:lnSpc>
                <a:spcPts val="3112"/>
              </a:lnSpc>
            </a:pPr>
            <a:endParaRPr lang="es-CL" sz="222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80061" lvl="1" indent="-240030" algn="l">
              <a:lnSpc>
                <a:spcPts val="3112"/>
              </a:lnSpc>
              <a:buFont typeface="Arial"/>
              <a:buChar char="•"/>
            </a:pPr>
            <a:r>
              <a:rPr lang="es-CL" sz="222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Consumidores: Pierden tiempo comparando precios entre múltiples sitios sin información histórica.</a:t>
            </a:r>
          </a:p>
          <a:p>
            <a:pPr algn="l">
              <a:lnSpc>
                <a:spcPts val="3112"/>
              </a:lnSpc>
            </a:pPr>
            <a:endParaRPr lang="es-CL" sz="222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398691" y="5702027"/>
            <a:ext cx="3893960" cy="3871452"/>
            <a:chOff x="0" y="0"/>
            <a:chExt cx="958644" cy="9531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8644" cy="953103"/>
            </a:xfrm>
            <a:custGeom>
              <a:avLst/>
              <a:gdLst/>
              <a:ahLst/>
              <a:cxnLst/>
              <a:rect l="l" t="t" r="r" b="b"/>
              <a:pathLst>
                <a:path w="958644" h="953103">
                  <a:moveTo>
                    <a:pt x="958644" y="476551"/>
                  </a:moveTo>
                  <a:lnTo>
                    <a:pt x="552244" y="0"/>
                  </a:lnTo>
                  <a:lnTo>
                    <a:pt x="552244" y="203200"/>
                  </a:lnTo>
                  <a:lnTo>
                    <a:pt x="0" y="203200"/>
                  </a:lnTo>
                  <a:lnTo>
                    <a:pt x="0" y="749903"/>
                  </a:lnTo>
                  <a:lnTo>
                    <a:pt x="552244" y="749903"/>
                  </a:lnTo>
                  <a:lnTo>
                    <a:pt x="552244" y="953103"/>
                  </a:lnTo>
                  <a:lnTo>
                    <a:pt x="958644" y="476551"/>
                  </a:lnTo>
                  <a:close/>
                </a:path>
              </a:pathLst>
            </a:custGeom>
            <a:solidFill>
              <a:srgbClr val="75B2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65100"/>
              <a:ext cx="857044" cy="584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058437" y="850425"/>
            <a:ext cx="994469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s-CL" sz="5199" b="1" noProof="0" dirty="0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 General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836140" y="5702027"/>
            <a:ext cx="3893960" cy="3871452"/>
            <a:chOff x="0" y="0"/>
            <a:chExt cx="958644" cy="9531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8644" cy="953103"/>
            </a:xfrm>
            <a:custGeom>
              <a:avLst/>
              <a:gdLst/>
              <a:ahLst/>
              <a:cxnLst/>
              <a:rect l="l" t="t" r="r" b="b"/>
              <a:pathLst>
                <a:path w="958644" h="953103">
                  <a:moveTo>
                    <a:pt x="958644" y="476551"/>
                  </a:moveTo>
                  <a:lnTo>
                    <a:pt x="552244" y="0"/>
                  </a:lnTo>
                  <a:lnTo>
                    <a:pt x="552244" y="203200"/>
                  </a:lnTo>
                  <a:lnTo>
                    <a:pt x="0" y="203200"/>
                  </a:lnTo>
                  <a:lnTo>
                    <a:pt x="0" y="749903"/>
                  </a:lnTo>
                  <a:lnTo>
                    <a:pt x="552244" y="749903"/>
                  </a:lnTo>
                  <a:lnTo>
                    <a:pt x="552244" y="953103"/>
                  </a:lnTo>
                  <a:lnTo>
                    <a:pt x="958644" y="476551"/>
                  </a:lnTo>
                  <a:close/>
                </a:path>
              </a:pathLst>
            </a:custGeom>
            <a:solidFill>
              <a:srgbClr val="75B2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84150"/>
              <a:ext cx="857044" cy="5657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07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78495" y="5702027"/>
            <a:ext cx="3893960" cy="3871452"/>
            <a:chOff x="0" y="0"/>
            <a:chExt cx="958644" cy="9531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8644" cy="953103"/>
            </a:xfrm>
            <a:custGeom>
              <a:avLst/>
              <a:gdLst/>
              <a:ahLst/>
              <a:cxnLst/>
              <a:rect l="l" t="t" r="r" b="b"/>
              <a:pathLst>
                <a:path w="958644" h="953103">
                  <a:moveTo>
                    <a:pt x="958644" y="476551"/>
                  </a:moveTo>
                  <a:lnTo>
                    <a:pt x="552244" y="0"/>
                  </a:lnTo>
                  <a:lnTo>
                    <a:pt x="552244" y="203200"/>
                  </a:lnTo>
                  <a:lnTo>
                    <a:pt x="0" y="203200"/>
                  </a:lnTo>
                  <a:lnTo>
                    <a:pt x="0" y="749903"/>
                  </a:lnTo>
                  <a:lnTo>
                    <a:pt x="552244" y="749903"/>
                  </a:lnTo>
                  <a:lnTo>
                    <a:pt x="552244" y="953103"/>
                  </a:lnTo>
                  <a:lnTo>
                    <a:pt x="958644" y="476551"/>
                  </a:lnTo>
                  <a:close/>
                </a:path>
              </a:pathLst>
            </a:custGeom>
            <a:solidFill>
              <a:srgbClr val="75B2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84150"/>
              <a:ext cx="857044" cy="5657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07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20849" y="5676453"/>
            <a:ext cx="3893960" cy="3871452"/>
            <a:chOff x="0" y="0"/>
            <a:chExt cx="958644" cy="95310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58644" cy="953103"/>
            </a:xfrm>
            <a:custGeom>
              <a:avLst/>
              <a:gdLst/>
              <a:ahLst/>
              <a:cxnLst/>
              <a:rect l="l" t="t" r="r" b="b"/>
              <a:pathLst>
                <a:path w="958644" h="953103">
                  <a:moveTo>
                    <a:pt x="958644" y="476551"/>
                  </a:moveTo>
                  <a:lnTo>
                    <a:pt x="552244" y="0"/>
                  </a:lnTo>
                  <a:lnTo>
                    <a:pt x="552244" y="203200"/>
                  </a:lnTo>
                  <a:lnTo>
                    <a:pt x="0" y="203200"/>
                  </a:lnTo>
                  <a:lnTo>
                    <a:pt x="0" y="749903"/>
                  </a:lnTo>
                  <a:lnTo>
                    <a:pt x="552244" y="749903"/>
                  </a:lnTo>
                  <a:lnTo>
                    <a:pt x="552244" y="953103"/>
                  </a:lnTo>
                  <a:lnTo>
                    <a:pt x="958644" y="476551"/>
                  </a:lnTo>
                  <a:close/>
                </a:path>
              </a:pathLst>
            </a:custGeom>
            <a:solidFill>
              <a:srgbClr val="75B2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84150"/>
              <a:ext cx="857044" cy="5657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07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16" name="Freeform 16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Freeform 17"/>
          <p:cNvSpPr/>
          <p:nvPr/>
        </p:nvSpPr>
        <p:spPr>
          <a:xfrm>
            <a:off x="3362786" y="4284948"/>
            <a:ext cx="1455608" cy="1455608"/>
          </a:xfrm>
          <a:custGeom>
            <a:avLst/>
            <a:gdLst/>
            <a:ahLst/>
            <a:cxnLst/>
            <a:rect l="l" t="t" r="r" b="b"/>
            <a:pathLst>
              <a:path w="1455608" h="1455608">
                <a:moveTo>
                  <a:pt x="0" y="0"/>
                </a:moveTo>
                <a:lnTo>
                  <a:pt x="1455608" y="0"/>
                </a:lnTo>
                <a:lnTo>
                  <a:pt x="1455608" y="1455608"/>
                </a:lnTo>
                <a:lnTo>
                  <a:pt x="0" y="145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Freeform 18"/>
          <p:cNvSpPr/>
          <p:nvPr/>
        </p:nvSpPr>
        <p:spPr>
          <a:xfrm>
            <a:off x="4886348" y="346737"/>
            <a:ext cx="651546" cy="1544613"/>
          </a:xfrm>
          <a:custGeom>
            <a:avLst/>
            <a:gdLst/>
            <a:ahLst/>
            <a:cxnLst/>
            <a:rect l="l" t="t" r="r" b="b"/>
            <a:pathLst>
              <a:path w="651546" h="1544613">
                <a:moveTo>
                  <a:pt x="0" y="0"/>
                </a:moveTo>
                <a:lnTo>
                  <a:pt x="651546" y="0"/>
                </a:lnTo>
                <a:lnTo>
                  <a:pt x="651546" y="1544613"/>
                </a:lnTo>
                <a:lnTo>
                  <a:pt x="0" y="15446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TextBox 19"/>
          <p:cNvSpPr txBox="1"/>
          <p:nvPr/>
        </p:nvSpPr>
        <p:spPr>
          <a:xfrm>
            <a:off x="0" y="2026749"/>
            <a:ext cx="18248234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s-CL" sz="28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Desarrollar una plataforma que centralice los precios de supermercados y convierta esa información en inteligencia comercial para Pymes y supermercados mediante </a:t>
            </a:r>
            <a:r>
              <a:rPr lang="es-CL" sz="2800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dashboards</a:t>
            </a:r>
            <a:r>
              <a:rPr lang="es-CL" sz="28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comparativos, variación histórica y análisis de tendencias; integrando además una herramienta de comparación en tiempo real para consumidores.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12121" y="4446458"/>
            <a:ext cx="782399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s-CL" sz="5199" b="1" noProof="0" dirty="0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Objetivos Específicos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8691" y="7105474"/>
            <a:ext cx="3310605" cy="847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8"/>
              </a:lnSpc>
            </a:pPr>
            <a:r>
              <a:rPr lang="es-CL" sz="164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Mantener un 95% de precios actualizados diariamente en los 4 supermercados.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05886" y="6917168"/>
            <a:ext cx="3211155" cy="1172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19"/>
              </a:lnSpc>
              <a:spcBef>
                <a:spcPct val="0"/>
              </a:spcBef>
            </a:pPr>
            <a:r>
              <a:rPr lang="es-CL" sz="1727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Comparar tendencias temporales mediante datos de clics y búsquedas (Trimestre 1 vs Trimestre 2).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47212" y="7040001"/>
            <a:ext cx="3219410" cy="91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5"/>
              </a:lnSpc>
              <a:spcBef>
                <a:spcPct val="0"/>
              </a:spcBef>
            </a:pPr>
            <a:r>
              <a:rPr lang="es-CL" sz="1775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Garant</a:t>
            </a:r>
            <a:r>
              <a:rPr lang="es-CL" sz="1775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izar tiempos de respuesta &lt; 5 segundos en búsquedas y reportes.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89567" y="7105474"/>
            <a:ext cx="3151710" cy="85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61"/>
              </a:lnSpc>
              <a:spcBef>
                <a:spcPct val="0"/>
              </a:spcBef>
            </a:pPr>
            <a:r>
              <a:rPr lang="es-CL" sz="1687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Alcanzar 80% de satisfacción en pruebas de usabilidad con 20 usuarios.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4329418" y="605259"/>
            <a:ext cx="1422113" cy="1422113"/>
          </a:xfrm>
          <a:custGeom>
            <a:avLst/>
            <a:gdLst/>
            <a:ahLst/>
            <a:cxnLst/>
            <a:rect l="l" t="t" r="r" b="b"/>
            <a:pathLst>
              <a:path w="1422113" h="1422113">
                <a:moveTo>
                  <a:pt x="0" y="0"/>
                </a:moveTo>
                <a:lnTo>
                  <a:pt x="1422113" y="0"/>
                </a:lnTo>
                <a:lnTo>
                  <a:pt x="1422113" y="1422113"/>
                </a:lnTo>
                <a:lnTo>
                  <a:pt x="0" y="1422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>
            <a:off x="14981106" y="2367943"/>
            <a:ext cx="1744203" cy="1500015"/>
          </a:xfrm>
          <a:custGeom>
            <a:avLst/>
            <a:gdLst/>
            <a:ahLst/>
            <a:cxnLst/>
            <a:rect l="l" t="t" r="r" b="b"/>
            <a:pathLst>
              <a:path w="1744203" h="1500015">
                <a:moveTo>
                  <a:pt x="0" y="0"/>
                </a:moveTo>
                <a:lnTo>
                  <a:pt x="1744203" y="0"/>
                </a:lnTo>
                <a:lnTo>
                  <a:pt x="1744203" y="1500015"/>
                </a:lnTo>
                <a:lnTo>
                  <a:pt x="0" y="15000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596583" y="777842"/>
            <a:ext cx="3209533" cy="962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s-CL" sz="5600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Alcances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77013" y="2674129"/>
            <a:ext cx="5387137" cy="962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s-CL" sz="5600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limitaciones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7592" y="2339368"/>
            <a:ext cx="8547417" cy="749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1) Aplicación Web Completa</a:t>
            </a:r>
          </a:p>
          <a:p>
            <a:pPr algn="l">
              <a:lnSpc>
                <a:spcPts val="2480"/>
              </a:lnSpc>
            </a:pPr>
            <a:endParaRPr lang="es-CL" sz="1771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2473" lvl="1" indent="-191237" algn="l">
              <a:lnSpc>
                <a:spcPts val="2480"/>
              </a:lnSpc>
              <a:buFont typeface="Arial"/>
              <a:buChar char="•"/>
            </a:pP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Catálogo de productos.</a:t>
            </a:r>
          </a:p>
          <a:p>
            <a:pPr marL="382473" lvl="1" indent="-191237" algn="l">
              <a:lnSpc>
                <a:spcPts val="2480"/>
              </a:lnSpc>
              <a:buFont typeface="Arial"/>
              <a:buChar char="•"/>
            </a:pP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Panel de Administración.</a:t>
            </a:r>
          </a:p>
          <a:p>
            <a:pPr marL="382473" lvl="1" indent="-191237" algn="l">
              <a:lnSpc>
                <a:spcPts val="2480"/>
              </a:lnSpc>
              <a:buFont typeface="Arial"/>
              <a:buChar char="•"/>
            </a:pPr>
            <a:r>
              <a:rPr lang="es-CL" sz="1771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Dashboard</a:t>
            </a: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Analítico.</a:t>
            </a:r>
          </a:p>
          <a:p>
            <a:pPr algn="l">
              <a:lnSpc>
                <a:spcPts val="2480"/>
              </a:lnSpc>
            </a:pPr>
            <a:endParaRPr lang="es-CL" sz="1771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480"/>
              </a:lnSpc>
            </a:pP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2) Sistema de </a:t>
            </a:r>
            <a:r>
              <a:rPr lang="es-CL" sz="1771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Scraping</a:t>
            </a: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Funcional</a:t>
            </a:r>
          </a:p>
          <a:p>
            <a:pPr algn="l">
              <a:lnSpc>
                <a:spcPts val="2480"/>
              </a:lnSpc>
            </a:pPr>
            <a:endParaRPr lang="es-CL" sz="1771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480"/>
              </a:lnSpc>
            </a:pP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implementan </a:t>
            </a:r>
            <a:r>
              <a:rPr lang="es-CL" sz="1771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scrapers</a:t>
            </a: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asíncronos en </a:t>
            </a:r>
            <a:r>
              <a:rPr lang="es-CL" sz="1771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Playwright</a:t>
            </a: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capaces de extraer y actualizar datos desde Jumbo, Tottus, Unimarc y </a:t>
            </a:r>
            <a:r>
              <a:rPr lang="es-CL" sz="1771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acuenta</a:t>
            </a: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asegurando información confiable para análisis histórico y comparativo.</a:t>
            </a:r>
          </a:p>
          <a:p>
            <a:pPr algn="l">
              <a:lnSpc>
                <a:spcPts val="2480"/>
              </a:lnSpc>
            </a:pPr>
            <a:endParaRPr lang="es-CL" sz="1771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480"/>
              </a:lnSpc>
            </a:pP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3) Gestión de Usuarios y Roles</a:t>
            </a:r>
          </a:p>
          <a:p>
            <a:pPr algn="l">
              <a:lnSpc>
                <a:spcPts val="2480"/>
              </a:lnSpc>
            </a:pPr>
            <a:endParaRPr lang="es-CL" sz="1771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480"/>
              </a:lnSpc>
            </a:pP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sistema incluye un flujo completo de autenticación (registro, </a:t>
            </a:r>
            <a:r>
              <a:rPr lang="es-CL" sz="1771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login</a:t>
            </a: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perfiles) y una clara separación de roles entre Cliente y Administrador, permitiendo un acceso seguro al módulo analítico.</a:t>
            </a:r>
          </a:p>
          <a:p>
            <a:pPr algn="l">
              <a:lnSpc>
                <a:spcPts val="2480"/>
              </a:lnSpc>
            </a:pPr>
            <a:endParaRPr lang="es-CL" sz="1771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480"/>
              </a:lnSpc>
            </a:pP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4) Módulo de Analítica</a:t>
            </a:r>
          </a:p>
          <a:p>
            <a:pPr algn="l">
              <a:lnSpc>
                <a:spcPts val="2480"/>
              </a:lnSpc>
            </a:pPr>
            <a:endParaRPr lang="es-CL" sz="1771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480"/>
              </a:lnSpc>
            </a:pPr>
            <a:r>
              <a:rPr lang="es-CL" sz="177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capturan, almacenan y procesan interacciones clave de los usuarios—clics en productos, búsquedas y patrones de navegación—para generar inteligencia de mercado orientada a apoyar decisiones comerciales de Pymes y supermercados.</a:t>
            </a:r>
          </a:p>
          <a:p>
            <a:pPr algn="l">
              <a:lnSpc>
                <a:spcPts val="2200"/>
              </a:lnSpc>
            </a:pPr>
            <a:endParaRPr lang="es-CL" sz="1771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156398" y="5095875"/>
            <a:ext cx="7863154" cy="2406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4"/>
              </a:lnSpc>
            </a:pPr>
            <a:r>
              <a:rPr lang="es-CL" sz="276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1. El sistema no procesa compras.</a:t>
            </a:r>
          </a:p>
          <a:p>
            <a:pPr algn="l">
              <a:lnSpc>
                <a:spcPts val="3864"/>
              </a:lnSpc>
            </a:pPr>
            <a:endParaRPr lang="es-CL" sz="2760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864"/>
              </a:lnSpc>
            </a:pPr>
            <a:r>
              <a:rPr lang="es-CL" sz="276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2. Catálogo acotado a la categoría “Despensa”.</a:t>
            </a:r>
          </a:p>
          <a:p>
            <a:pPr algn="l">
              <a:lnSpc>
                <a:spcPts val="3864"/>
              </a:lnSpc>
            </a:pPr>
            <a:endParaRPr lang="es-CL" sz="2760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864"/>
              </a:lnSpc>
            </a:pPr>
            <a:r>
              <a:rPr lang="es-CL" sz="276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3. Dependencia de sitios externos.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325972" y="2010667"/>
            <a:ext cx="9640149" cy="782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Metodología híbrida: ágil y modular</a:t>
            </a:r>
          </a:p>
          <a:p>
            <a:pPr algn="l">
              <a:lnSpc>
                <a:spcPts val="2940"/>
              </a:lnSpc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Basada en iteraciones cortas (</a:t>
            </a:r>
            <a:r>
              <a:rPr lang="es-CL" sz="2100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sprints</a:t>
            </a: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), revisión continua y mejora progresiva, combinando la estructura por etapas con prácticas ágiles de retroalimentación y ajustes incrementales.</a:t>
            </a:r>
          </a:p>
          <a:p>
            <a:pPr algn="l">
              <a:lnSpc>
                <a:spcPts val="2940"/>
              </a:lnSpc>
            </a:pPr>
            <a:endParaRPr lang="es-CL" sz="2100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940"/>
              </a:lnSpc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Etapas principales</a:t>
            </a:r>
          </a:p>
          <a:p>
            <a:pPr algn="l">
              <a:lnSpc>
                <a:spcPts val="2940"/>
              </a:lnSpc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1. Análisis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Definición del problema, requerimientos y perfiles de usuario.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Identificación de las fuentes de datos y necesidades analíticas.</a:t>
            </a:r>
          </a:p>
          <a:p>
            <a:pPr algn="l">
              <a:lnSpc>
                <a:spcPts val="2940"/>
              </a:lnSpc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2. Diseño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Arquitectura del sistema y modelado de datos.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Prototipos de interfaz y estructura de visualizaciones.</a:t>
            </a:r>
          </a:p>
          <a:p>
            <a:pPr algn="l">
              <a:lnSpc>
                <a:spcPts val="2940"/>
              </a:lnSpc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3. Desarrollo (Iterativo)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Implementación modular del </a:t>
            </a:r>
            <a:r>
              <a:rPr lang="es-CL" sz="2100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scraping</a:t>
            </a: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API y vistas.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Avances por </a:t>
            </a:r>
            <a:r>
              <a:rPr lang="es-CL" sz="2100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sprints</a:t>
            </a: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 integración continua y ajustes progresivos.</a:t>
            </a:r>
          </a:p>
          <a:p>
            <a:pPr algn="l">
              <a:lnSpc>
                <a:spcPts val="2940"/>
              </a:lnSpc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4. Pruebas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Validación funcional, analítica y de rendimiento.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Corrección de errores y evaluación con usuarios piloto.</a:t>
            </a:r>
          </a:p>
          <a:p>
            <a:pPr algn="l">
              <a:lnSpc>
                <a:spcPts val="2940"/>
              </a:lnSpc>
            </a:pPr>
            <a:r>
              <a:rPr lang="es-CL" sz="21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5. Despliegue</a:t>
            </a:r>
          </a:p>
          <a:p>
            <a:pPr marL="474986" lvl="1" indent="-237493" algn="l">
              <a:lnSpc>
                <a:spcPts val="3080"/>
              </a:lnSpc>
              <a:buFont typeface="Arial"/>
              <a:buChar char="•"/>
            </a:pPr>
            <a:r>
              <a:rPr lang="es-CL" sz="22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Documentación final, puesta en marcha del sistema y presentación del proyecto.</a:t>
            </a:r>
          </a:p>
        </p:txBody>
      </p:sp>
      <p:sp>
        <p:nvSpPr>
          <p:cNvPr id="7" name="Freeform 7"/>
          <p:cNvSpPr/>
          <p:nvPr/>
        </p:nvSpPr>
        <p:spPr>
          <a:xfrm>
            <a:off x="9448485" y="343279"/>
            <a:ext cx="1334857" cy="1370841"/>
          </a:xfrm>
          <a:custGeom>
            <a:avLst/>
            <a:gdLst/>
            <a:ahLst/>
            <a:cxnLst/>
            <a:rect l="l" t="t" r="r" b="b"/>
            <a:pathLst>
              <a:path w="1334857" h="1370841">
                <a:moveTo>
                  <a:pt x="0" y="0"/>
                </a:moveTo>
                <a:lnTo>
                  <a:pt x="1334857" y="0"/>
                </a:lnTo>
                <a:lnTo>
                  <a:pt x="1334857" y="1370842"/>
                </a:lnTo>
                <a:lnTo>
                  <a:pt x="0" y="1370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Box 8"/>
          <p:cNvSpPr txBox="1"/>
          <p:nvPr/>
        </p:nvSpPr>
        <p:spPr>
          <a:xfrm>
            <a:off x="-860371" y="430485"/>
            <a:ext cx="10976285" cy="93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2"/>
              </a:lnSpc>
            </a:pPr>
            <a:r>
              <a:rPr lang="es-CL" sz="5558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Metodología de trabajo 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956D983-4F6E-F914-C932-7DB78DDE5F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1969" y="2234629"/>
            <a:ext cx="6878265" cy="6510293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 rot="2179206">
            <a:off x="17292326" y="7039217"/>
            <a:ext cx="586205" cy="1098277"/>
          </a:xfrm>
          <a:custGeom>
            <a:avLst/>
            <a:gdLst/>
            <a:ahLst/>
            <a:cxnLst/>
            <a:rect l="l" t="t" r="r" b="b"/>
            <a:pathLst>
              <a:path w="586205" h="1098277">
                <a:moveTo>
                  <a:pt x="0" y="0"/>
                </a:moveTo>
                <a:lnTo>
                  <a:pt x="586205" y="0"/>
                </a:lnTo>
                <a:lnTo>
                  <a:pt x="586205" y="1098277"/>
                </a:lnTo>
                <a:lnTo>
                  <a:pt x="0" y="10982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488867" y="1603728"/>
            <a:ext cx="15310266" cy="7869838"/>
          </a:xfrm>
          <a:custGeom>
            <a:avLst/>
            <a:gdLst/>
            <a:ahLst/>
            <a:cxnLst/>
            <a:rect l="l" t="t" r="r" b="b"/>
            <a:pathLst>
              <a:path w="15310266" h="7869838">
                <a:moveTo>
                  <a:pt x="0" y="0"/>
                </a:moveTo>
                <a:lnTo>
                  <a:pt x="15310266" y="0"/>
                </a:lnTo>
                <a:lnTo>
                  <a:pt x="15310266" y="7869838"/>
                </a:lnTo>
                <a:lnTo>
                  <a:pt x="0" y="7869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730" b="-173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>
            <a:off x="14039532" y="7079634"/>
            <a:ext cx="398700" cy="448537"/>
          </a:xfrm>
          <a:custGeom>
            <a:avLst/>
            <a:gdLst/>
            <a:ahLst/>
            <a:cxnLst/>
            <a:rect l="l" t="t" r="r" b="b"/>
            <a:pathLst>
              <a:path w="398700" h="448537">
                <a:moveTo>
                  <a:pt x="0" y="0"/>
                </a:moveTo>
                <a:lnTo>
                  <a:pt x="398700" y="0"/>
                </a:lnTo>
                <a:lnTo>
                  <a:pt x="398700" y="448538"/>
                </a:lnTo>
                <a:lnTo>
                  <a:pt x="0" y="448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6" name="Group 6"/>
          <p:cNvGrpSpPr/>
          <p:nvPr/>
        </p:nvGrpSpPr>
        <p:grpSpPr>
          <a:xfrm rot="-760930">
            <a:off x="5212357" y="1792668"/>
            <a:ext cx="1800767" cy="715858"/>
            <a:chOff x="0" y="0"/>
            <a:chExt cx="2044629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44629" cy="812800"/>
            </a:xfrm>
            <a:custGeom>
              <a:avLst/>
              <a:gdLst/>
              <a:ahLst/>
              <a:cxnLst/>
              <a:rect l="l" t="t" r="r" b="b"/>
              <a:pathLst>
                <a:path w="2044629" h="812800">
                  <a:moveTo>
                    <a:pt x="2044629" y="406400"/>
                  </a:moveTo>
                  <a:lnTo>
                    <a:pt x="1638229" y="0"/>
                  </a:lnTo>
                  <a:lnTo>
                    <a:pt x="1638229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638229" y="609600"/>
                  </a:lnTo>
                  <a:lnTo>
                    <a:pt x="1638229" y="812800"/>
                  </a:lnTo>
                  <a:lnTo>
                    <a:pt x="2044629" y="406400"/>
                  </a:lnTo>
                  <a:close/>
                </a:path>
              </a:pathLst>
            </a:custGeom>
            <a:solidFill>
              <a:srgbClr val="1800A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65100"/>
              <a:ext cx="194302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30495" y="5538647"/>
            <a:ext cx="1616773" cy="1540987"/>
            <a:chOff x="0" y="0"/>
            <a:chExt cx="812800" cy="7747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00A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17721" y="253136"/>
            <a:ext cx="5769861" cy="94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22"/>
              </a:lnSpc>
            </a:pPr>
            <a:r>
              <a:rPr lang="es-CL" sz="5516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 </a:t>
            </a:r>
          </a:p>
        </p:txBody>
      </p:sp>
      <p:sp>
        <p:nvSpPr>
          <p:cNvPr id="13" name="TextBox 13"/>
          <p:cNvSpPr txBox="1"/>
          <p:nvPr/>
        </p:nvSpPr>
        <p:spPr>
          <a:xfrm rot="-755877">
            <a:off x="5266581" y="2000929"/>
            <a:ext cx="1582447" cy="27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s-CL" sz="1607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 agosto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01010" y="6125617"/>
            <a:ext cx="1109955" cy="46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4"/>
              </a:lnSpc>
            </a:pPr>
            <a:r>
              <a:rPr lang="es-CL" sz="1345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17 noviembre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251191" y="2249482"/>
            <a:ext cx="17785617" cy="7358799"/>
          </a:xfrm>
          <a:custGeom>
            <a:avLst/>
            <a:gdLst/>
            <a:ahLst/>
            <a:cxnLst/>
            <a:rect l="l" t="t" r="r" b="b"/>
            <a:pathLst>
              <a:path w="17785617" h="7358799">
                <a:moveTo>
                  <a:pt x="0" y="0"/>
                </a:moveTo>
                <a:lnTo>
                  <a:pt x="17785618" y="0"/>
                </a:lnTo>
                <a:lnTo>
                  <a:pt x="17785618" y="7358799"/>
                </a:lnTo>
                <a:lnTo>
                  <a:pt x="0" y="7358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Box 5"/>
          <p:cNvSpPr txBox="1"/>
          <p:nvPr/>
        </p:nvSpPr>
        <p:spPr>
          <a:xfrm>
            <a:off x="-176424" y="286402"/>
            <a:ext cx="12616725" cy="1185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1"/>
              </a:lnSpc>
            </a:pPr>
            <a:r>
              <a:rPr lang="es-CL" sz="6936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 del software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539943" y="7099071"/>
            <a:ext cx="1258960" cy="819898"/>
          </a:xfrm>
          <a:custGeom>
            <a:avLst/>
            <a:gdLst/>
            <a:ahLst/>
            <a:cxnLst/>
            <a:rect l="l" t="t" r="r" b="b"/>
            <a:pathLst>
              <a:path w="1258960" h="819898">
                <a:moveTo>
                  <a:pt x="0" y="0"/>
                </a:moveTo>
                <a:lnTo>
                  <a:pt x="1258960" y="0"/>
                </a:lnTo>
                <a:lnTo>
                  <a:pt x="1258960" y="819897"/>
                </a:lnTo>
                <a:lnTo>
                  <a:pt x="0" y="819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>
            <a:off x="3193894" y="6969797"/>
            <a:ext cx="1155609" cy="1222854"/>
          </a:xfrm>
          <a:custGeom>
            <a:avLst/>
            <a:gdLst/>
            <a:ahLst/>
            <a:cxnLst/>
            <a:rect l="l" t="t" r="r" b="b"/>
            <a:pathLst>
              <a:path w="1155609" h="1222854">
                <a:moveTo>
                  <a:pt x="0" y="0"/>
                </a:moveTo>
                <a:lnTo>
                  <a:pt x="1155609" y="0"/>
                </a:lnTo>
                <a:lnTo>
                  <a:pt x="1155609" y="1222854"/>
                </a:lnTo>
                <a:lnTo>
                  <a:pt x="0" y="12228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>
            <a:off x="5433313" y="7037156"/>
            <a:ext cx="1214299" cy="1256713"/>
          </a:xfrm>
          <a:custGeom>
            <a:avLst/>
            <a:gdLst/>
            <a:ahLst/>
            <a:cxnLst/>
            <a:rect l="l" t="t" r="r" b="b"/>
            <a:pathLst>
              <a:path w="1214299" h="1256713">
                <a:moveTo>
                  <a:pt x="0" y="0"/>
                </a:moveTo>
                <a:lnTo>
                  <a:pt x="1214298" y="0"/>
                </a:lnTo>
                <a:lnTo>
                  <a:pt x="1214298" y="1256713"/>
                </a:lnTo>
                <a:lnTo>
                  <a:pt x="0" y="12567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7428661" y="6938902"/>
            <a:ext cx="1516054" cy="1516054"/>
          </a:xfrm>
          <a:custGeom>
            <a:avLst/>
            <a:gdLst/>
            <a:ahLst/>
            <a:cxnLst/>
            <a:rect l="l" t="t" r="r" b="b"/>
            <a:pathLst>
              <a:path w="1516054" h="1516054">
                <a:moveTo>
                  <a:pt x="0" y="0"/>
                </a:moveTo>
                <a:lnTo>
                  <a:pt x="1516055" y="0"/>
                </a:lnTo>
                <a:lnTo>
                  <a:pt x="1516055" y="1516055"/>
                </a:lnTo>
                <a:lnTo>
                  <a:pt x="0" y="15160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1699836" y="6969797"/>
            <a:ext cx="1267189" cy="1406035"/>
          </a:xfrm>
          <a:custGeom>
            <a:avLst/>
            <a:gdLst/>
            <a:ahLst/>
            <a:cxnLst/>
            <a:rect l="l" t="t" r="r" b="b"/>
            <a:pathLst>
              <a:path w="1267189" h="1406035">
                <a:moveTo>
                  <a:pt x="0" y="0"/>
                </a:moveTo>
                <a:lnTo>
                  <a:pt x="1267190" y="0"/>
                </a:lnTo>
                <a:lnTo>
                  <a:pt x="1267190" y="1406036"/>
                </a:lnTo>
                <a:lnTo>
                  <a:pt x="0" y="14060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Freeform 9"/>
          <p:cNvSpPr/>
          <p:nvPr/>
        </p:nvSpPr>
        <p:spPr>
          <a:xfrm>
            <a:off x="13796629" y="6836765"/>
            <a:ext cx="1488919" cy="1488919"/>
          </a:xfrm>
          <a:custGeom>
            <a:avLst/>
            <a:gdLst/>
            <a:ahLst/>
            <a:cxnLst/>
            <a:rect l="l" t="t" r="r" b="b"/>
            <a:pathLst>
              <a:path w="1488919" h="1488919">
                <a:moveTo>
                  <a:pt x="0" y="0"/>
                </a:moveTo>
                <a:lnTo>
                  <a:pt x="1488919" y="0"/>
                </a:lnTo>
                <a:lnTo>
                  <a:pt x="1488919" y="1488918"/>
                </a:lnTo>
                <a:lnTo>
                  <a:pt x="0" y="14889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9630944" y="7119120"/>
            <a:ext cx="1214299" cy="1256713"/>
          </a:xfrm>
          <a:custGeom>
            <a:avLst/>
            <a:gdLst/>
            <a:ahLst/>
            <a:cxnLst/>
            <a:rect l="l" t="t" r="r" b="b"/>
            <a:pathLst>
              <a:path w="1214299" h="1256713">
                <a:moveTo>
                  <a:pt x="0" y="0"/>
                </a:moveTo>
                <a:lnTo>
                  <a:pt x="1214298" y="0"/>
                </a:lnTo>
                <a:lnTo>
                  <a:pt x="1214298" y="1256713"/>
                </a:lnTo>
                <a:lnTo>
                  <a:pt x="0" y="12567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Freeform 11"/>
          <p:cNvSpPr/>
          <p:nvPr/>
        </p:nvSpPr>
        <p:spPr>
          <a:xfrm>
            <a:off x="16352953" y="6947865"/>
            <a:ext cx="1465132" cy="954167"/>
          </a:xfrm>
          <a:custGeom>
            <a:avLst/>
            <a:gdLst/>
            <a:ahLst/>
            <a:cxnLst/>
            <a:rect l="l" t="t" r="r" b="b"/>
            <a:pathLst>
              <a:path w="1465132" h="954167">
                <a:moveTo>
                  <a:pt x="0" y="0"/>
                </a:moveTo>
                <a:lnTo>
                  <a:pt x="1465133" y="0"/>
                </a:lnTo>
                <a:lnTo>
                  <a:pt x="1465133" y="954168"/>
                </a:lnTo>
                <a:lnTo>
                  <a:pt x="0" y="95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Freeform 12"/>
          <p:cNvSpPr/>
          <p:nvPr/>
        </p:nvSpPr>
        <p:spPr>
          <a:xfrm>
            <a:off x="1028700" y="3369999"/>
            <a:ext cx="1467747" cy="1091637"/>
          </a:xfrm>
          <a:custGeom>
            <a:avLst/>
            <a:gdLst/>
            <a:ahLst/>
            <a:cxnLst/>
            <a:rect l="l" t="t" r="r" b="b"/>
            <a:pathLst>
              <a:path w="1467747" h="1091637">
                <a:moveTo>
                  <a:pt x="0" y="0"/>
                </a:moveTo>
                <a:lnTo>
                  <a:pt x="1467747" y="0"/>
                </a:lnTo>
                <a:lnTo>
                  <a:pt x="1467747" y="1091637"/>
                </a:lnTo>
                <a:lnTo>
                  <a:pt x="0" y="109163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Freeform 13"/>
          <p:cNvSpPr/>
          <p:nvPr/>
        </p:nvSpPr>
        <p:spPr>
          <a:xfrm>
            <a:off x="4045803" y="3204923"/>
            <a:ext cx="1241770" cy="1188995"/>
          </a:xfrm>
          <a:custGeom>
            <a:avLst/>
            <a:gdLst/>
            <a:ahLst/>
            <a:cxnLst/>
            <a:rect l="l" t="t" r="r" b="b"/>
            <a:pathLst>
              <a:path w="1241770" h="1188995">
                <a:moveTo>
                  <a:pt x="0" y="0"/>
                </a:moveTo>
                <a:lnTo>
                  <a:pt x="1241771" y="0"/>
                </a:lnTo>
                <a:lnTo>
                  <a:pt x="1241771" y="1188995"/>
                </a:lnTo>
                <a:lnTo>
                  <a:pt x="0" y="1188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Freeform 14"/>
          <p:cNvSpPr/>
          <p:nvPr/>
        </p:nvSpPr>
        <p:spPr>
          <a:xfrm>
            <a:off x="7081096" y="3204923"/>
            <a:ext cx="1214299" cy="1256713"/>
          </a:xfrm>
          <a:custGeom>
            <a:avLst/>
            <a:gdLst/>
            <a:ahLst/>
            <a:cxnLst/>
            <a:rect l="l" t="t" r="r" b="b"/>
            <a:pathLst>
              <a:path w="1214299" h="1256713">
                <a:moveTo>
                  <a:pt x="0" y="0"/>
                </a:moveTo>
                <a:lnTo>
                  <a:pt x="1214298" y="0"/>
                </a:lnTo>
                <a:lnTo>
                  <a:pt x="1214298" y="1256713"/>
                </a:lnTo>
                <a:lnTo>
                  <a:pt x="0" y="12567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Freeform 15"/>
          <p:cNvSpPr/>
          <p:nvPr/>
        </p:nvSpPr>
        <p:spPr>
          <a:xfrm>
            <a:off x="14836899" y="2892503"/>
            <a:ext cx="1516054" cy="1516054"/>
          </a:xfrm>
          <a:custGeom>
            <a:avLst/>
            <a:gdLst/>
            <a:ahLst/>
            <a:cxnLst/>
            <a:rect l="l" t="t" r="r" b="b"/>
            <a:pathLst>
              <a:path w="1516054" h="1516054">
                <a:moveTo>
                  <a:pt x="0" y="0"/>
                </a:moveTo>
                <a:lnTo>
                  <a:pt x="1516054" y="0"/>
                </a:lnTo>
                <a:lnTo>
                  <a:pt x="1516054" y="1516055"/>
                </a:lnTo>
                <a:lnTo>
                  <a:pt x="0" y="15160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Freeform 16"/>
          <p:cNvSpPr/>
          <p:nvPr/>
        </p:nvSpPr>
        <p:spPr>
          <a:xfrm>
            <a:off x="10745414" y="2990211"/>
            <a:ext cx="1618884" cy="1403707"/>
          </a:xfrm>
          <a:custGeom>
            <a:avLst/>
            <a:gdLst/>
            <a:ahLst/>
            <a:cxnLst/>
            <a:rect l="l" t="t" r="r" b="b"/>
            <a:pathLst>
              <a:path w="1618884" h="1403707">
                <a:moveTo>
                  <a:pt x="0" y="0"/>
                </a:moveTo>
                <a:lnTo>
                  <a:pt x="1618884" y="0"/>
                </a:lnTo>
                <a:lnTo>
                  <a:pt x="1618884" y="1403707"/>
                </a:lnTo>
                <a:lnTo>
                  <a:pt x="0" y="140370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Freeform 17"/>
          <p:cNvSpPr/>
          <p:nvPr/>
        </p:nvSpPr>
        <p:spPr>
          <a:xfrm>
            <a:off x="2708329" y="3692065"/>
            <a:ext cx="971131" cy="365498"/>
          </a:xfrm>
          <a:custGeom>
            <a:avLst/>
            <a:gdLst/>
            <a:ahLst/>
            <a:cxnLst/>
            <a:rect l="l" t="t" r="r" b="b"/>
            <a:pathLst>
              <a:path w="971131" h="365498">
                <a:moveTo>
                  <a:pt x="0" y="0"/>
                </a:moveTo>
                <a:lnTo>
                  <a:pt x="971131" y="0"/>
                </a:lnTo>
                <a:lnTo>
                  <a:pt x="971131" y="365498"/>
                </a:lnTo>
                <a:lnTo>
                  <a:pt x="0" y="36549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Freeform 18"/>
          <p:cNvSpPr/>
          <p:nvPr/>
        </p:nvSpPr>
        <p:spPr>
          <a:xfrm>
            <a:off x="5801743" y="3650530"/>
            <a:ext cx="971131" cy="365498"/>
          </a:xfrm>
          <a:custGeom>
            <a:avLst/>
            <a:gdLst/>
            <a:ahLst/>
            <a:cxnLst/>
            <a:rect l="l" t="t" r="r" b="b"/>
            <a:pathLst>
              <a:path w="971131" h="365498">
                <a:moveTo>
                  <a:pt x="0" y="0"/>
                </a:moveTo>
                <a:lnTo>
                  <a:pt x="971131" y="0"/>
                </a:lnTo>
                <a:lnTo>
                  <a:pt x="971131" y="365499"/>
                </a:lnTo>
                <a:lnTo>
                  <a:pt x="0" y="36549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Freeform 19"/>
          <p:cNvSpPr/>
          <p:nvPr/>
        </p:nvSpPr>
        <p:spPr>
          <a:xfrm>
            <a:off x="8954953" y="3733068"/>
            <a:ext cx="971131" cy="365498"/>
          </a:xfrm>
          <a:custGeom>
            <a:avLst/>
            <a:gdLst/>
            <a:ahLst/>
            <a:cxnLst/>
            <a:rect l="l" t="t" r="r" b="b"/>
            <a:pathLst>
              <a:path w="971131" h="365498">
                <a:moveTo>
                  <a:pt x="0" y="0"/>
                </a:moveTo>
                <a:lnTo>
                  <a:pt x="971131" y="0"/>
                </a:lnTo>
                <a:lnTo>
                  <a:pt x="971131" y="365499"/>
                </a:lnTo>
                <a:lnTo>
                  <a:pt x="0" y="36549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Freeform 20"/>
          <p:cNvSpPr/>
          <p:nvPr/>
        </p:nvSpPr>
        <p:spPr>
          <a:xfrm>
            <a:off x="13189748" y="3733068"/>
            <a:ext cx="971131" cy="365498"/>
          </a:xfrm>
          <a:custGeom>
            <a:avLst/>
            <a:gdLst/>
            <a:ahLst/>
            <a:cxnLst/>
            <a:rect l="l" t="t" r="r" b="b"/>
            <a:pathLst>
              <a:path w="971131" h="365498">
                <a:moveTo>
                  <a:pt x="0" y="0"/>
                </a:moveTo>
                <a:lnTo>
                  <a:pt x="971130" y="0"/>
                </a:lnTo>
                <a:lnTo>
                  <a:pt x="971130" y="365499"/>
                </a:lnTo>
                <a:lnTo>
                  <a:pt x="0" y="36549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Freeform 21"/>
          <p:cNvSpPr/>
          <p:nvPr/>
        </p:nvSpPr>
        <p:spPr>
          <a:xfrm>
            <a:off x="2150445" y="7378797"/>
            <a:ext cx="692003" cy="260445"/>
          </a:xfrm>
          <a:custGeom>
            <a:avLst/>
            <a:gdLst/>
            <a:ahLst/>
            <a:cxnLst/>
            <a:rect l="l" t="t" r="r" b="b"/>
            <a:pathLst>
              <a:path w="692003" h="260445">
                <a:moveTo>
                  <a:pt x="0" y="0"/>
                </a:moveTo>
                <a:lnTo>
                  <a:pt x="692003" y="0"/>
                </a:lnTo>
                <a:lnTo>
                  <a:pt x="692003" y="260445"/>
                </a:lnTo>
                <a:lnTo>
                  <a:pt x="0" y="26044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Freeform 22"/>
          <p:cNvSpPr/>
          <p:nvPr/>
        </p:nvSpPr>
        <p:spPr>
          <a:xfrm>
            <a:off x="4405843" y="7312222"/>
            <a:ext cx="971131" cy="365498"/>
          </a:xfrm>
          <a:custGeom>
            <a:avLst/>
            <a:gdLst/>
            <a:ahLst/>
            <a:cxnLst/>
            <a:rect l="l" t="t" r="r" b="b"/>
            <a:pathLst>
              <a:path w="971131" h="365498">
                <a:moveTo>
                  <a:pt x="0" y="0"/>
                </a:moveTo>
                <a:lnTo>
                  <a:pt x="971130" y="0"/>
                </a:lnTo>
                <a:lnTo>
                  <a:pt x="971130" y="365498"/>
                </a:lnTo>
                <a:lnTo>
                  <a:pt x="0" y="36549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Freeform 23"/>
          <p:cNvSpPr/>
          <p:nvPr/>
        </p:nvSpPr>
        <p:spPr>
          <a:xfrm>
            <a:off x="6679342" y="7424949"/>
            <a:ext cx="803507" cy="302411"/>
          </a:xfrm>
          <a:custGeom>
            <a:avLst/>
            <a:gdLst/>
            <a:ahLst/>
            <a:cxnLst/>
            <a:rect l="l" t="t" r="r" b="b"/>
            <a:pathLst>
              <a:path w="803507" h="302411">
                <a:moveTo>
                  <a:pt x="0" y="0"/>
                </a:moveTo>
                <a:lnTo>
                  <a:pt x="803507" y="0"/>
                </a:lnTo>
                <a:lnTo>
                  <a:pt x="803507" y="302411"/>
                </a:lnTo>
                <a:lnTo>
                  <a:pt x="0" y="30241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Freeform 24"/>
          <p:cNvSpPr/>
          <p:nvPr/>
        </p:nvSpPr>
        <p:spPr>
          <a:xfrm>
            <a:off x="8568699" y="7424949"/>
            <a:ext cx="971131" cy="365498"/>
          </a:xfrm>
          <a:custGeom>
            <a:avLst/>
            <a:gdLst/>
            <a:ahLst/>
            <a:cxnLst/>
            <a:rect l="l" t="t" r="r" b="b"/>
            <a:pathLst>
              <a:path w="971131" h="365498">
                <a:moveTo>
                  <a:pt x="0" y="0"/>
                </a:moveTo>
                <a:lnTo>
                  <a:pt x="971131" y="0"/>
                </a:lnTo>
                <a:lnTo>
                  <a:pt x="971131" y="365498"/>
                </a:lnTo>
                <a:lnTo>
                  <a:pt x="0" y="36549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Freeform 25"/>
          <p:cNvSpPr/>
          <p:nvPr/>
        </p:nvSpPr>
        <p:spPr>
          <a:xfrm>
            <a:off x="10902392" y="7551319"/>
            <a:ext cx="671694" cy="252801"/>
          </a:xfrm>
          <a:custGeom>
            <a:avLst/>
            <a:gdLst/>
            <a:ahLst/>
            <a:cxnLst/>
            <a:rect l="l" t="t" r="r" b="b"/>
            <a:pathLst>
              <a:path w="671694" h="252801">
                <a:moveTo>
                  <a:pt x="0" y="0"/>
                </a:moveTo>
                <a:lnTo>
                  <a:pt x="671694" y="0"/>
                </a:lnTo>
                <a:lnTo>
                  <a:pt x="671694" y="252801"/>
                </a:lnTo>
                <a:lnTo>
                  <a:pt x="0" y="25280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Freeform 26"/>
          <p:cNvSpPr/>
          <p:nvPr/>
        </p:nvSpPr>
        <p:spPr>
          <a:xfrm>
            <a:off x="13062276" y="7594897"/>
            <a:ext cx="613037" cy="230725"/>
          </a:xfrm>
          <a:custGeom>
            <a:avLst/>
            <a:gdLst/>
            <a:ahLst/>
            <a:cxnLst/>
            <a:rect l="l" t="t" r="r" b="b"/>
            <a:pathLst>
              <a:path w="613037" h="230725">
                <a:moveTo>
                  <a:pt x="0" y="0"/>
                </a:moveTo>
                <a:lnTo>
                  <a:pt x="613037" y="0"/>
                </a:lnTo>
                <a:lnTo>
                  <a:pt x="613037" y="230725"/>
                </a:lnTo>
                <a:lnTo>
                  <a:pt x="0" y="23072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Freeform 27"/>
          <p:cNvSpPr/>
          <p:nvPr/>
        </p:nvSpPr>
        <p:spPr>
          <a:xfrm>
            <a:off x="15395643" y="7542286"/>
            <a:ext cx="719695" cy="270867"/>
          </a:xfrm>
          <a:custGeom>
            <a:avLst/>
            <a:gdLst/>
            <a:ahLst/>
            <a:cxnLst/>
            <a:rect l="l" t="t" r="r" b="b"/>
            <a:pathLst>
              <a:path w="719695" h="270867">
                <a:moveTo>
                  <a:pt x="0" y="0"/>
                </a:moveTo>
                <a:lnTo>
                  <a:pt x="719695" y="0"/>
                </a:lnTo>
                <a:lnTo>
                  <a:pt x="719695" y="270867"/>
                </a:lnTo>
                <a:lnTo>
                  <a:pt x="0" y="27086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Freeform 28"/>
          <p:cNvSpPr/>
          <p:nvPr/>
        </p:nvSpPr>
        <p:spPr>
          <a:xfrm>
            <a:off x="0" y="5522124"/>
            <a:ext cx="18411909" cy="138089"/>
          </a:xfrm>
          <a:custGeom>
            <a:avLst/>
            <a:gdLst/>
            <a:ahLst/>
            <a:cxnLst/>
            <a:rect l="l" t="t" r="r" b="b"/>
            <a:pathLst>
              <a:path w="18411909" h="138089">
                <a:moveTo>
                  <a:pt x="0" y="0"/>
                </a:moveTo>
                <a:lnTo>
                  <a:pt x="18411909" y="0"/>
                </a:lnTo>
                <a:lnTo>
                  <a:pt x="18411909" y="138090"/>
                </a:lnTo>
                <a:lnTo>
                  <a:pt x="0" y="13809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9" name="TextBox 29"/>
          <p:cNvSpPr txBox="1"/>
          <p:nvPr/>
        </p:nvSpPr>
        <p:spPr>
          <a:xfrm>
            <a:off x="179835" y="154283"/>
            <a:ext cx="11854839" cy="1139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76"/>
              </a:lnSpc>
            </a:pPr>
            <a:r>
              <a:rPr lang="es-CL" sz="6697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 de la solución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6565" y="8344386"/>
            <a:ext cx="2987759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s-CL" sz="2500" noProof="0" dirty="0">
                <a:solidFill>
                  <a:srgbClr val="C5B88F"/>
                </a:solidFill>
                <a:latin typeface="Open Sans"/>
                <a:ea typeface="Open Sans"/>
                <a:cs typeface="Open Sans"/>
                <a:sym typeface="Open Sans"/>
              </a:rPr>
              <a:t>Usuario pide datos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30141" y="8453374"/>
            <a:ext cx="1474887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s-CL" sz="2500" noProof="0" dirty="0">
                <a:solidFill>
                  <a:srgbClr val="C5B88F"/>
                </a:solidFill>
                <a:latin typeface="Open Sans"/>
                <a:ea typeface="Open Sans"/>
                <a:cs typeface="Open Sans"/>
                <a:sym typeface="Open Sans"/>
              </a:rPr>
              <a:t>API recibe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83041" y="6188649"/>
            <a:ext cx="3448496" cy="430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6"/>
              </a:lnSpc>
              <a:spcBef>
                <a:spcPct val="0"/>
              </a:spcBef>
            </a:pPr>
            <a:r>
              <a:rPr lang="es-CL" sz="2554" noProof="0" dirty="0">
                <a:solidFill>
                  <a:srgbClr val="C5B88F"/>
                </a:solidFill>
                <a:latin typeface="Open Sans"/>
                <a:ea typeface="Open Sans"/>
                <a:cs typeface="Open Sans"/>
                <a:sym typeface="Open Sans"/>
              </a:rPr>
              <a:t>API consulta MongoDB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48492" y="8555313"/>
            <a:ext cx="3048149" cy="43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0"/>
              </a:lnSpc>
              <a:spcBef>
                <a:spcPct val="0"/>
              </a:spcBef>
            </a:pPr>
            <a:r>
              <a:rPr lang="es-CL" sz="2564" noProof="0" dirty="0">
                <a:solidFill>
                  <a:srgbClr val="C5B88F"/>
                </a:solidFill>
                <a:latin typeface="Open Sans"/>
                <a:ea typeface="Open Sans"/>
                <a:cs typeface="Open Sans"/>
                <a:sym typeface="Open Sans"/>
              </a:rPr>
              <a:t>MongoDB responde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823385" y="5974539"/>
            <a:ext cx="4566493" cy="448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s-CL" sz="2579" noProof="0" dirty="0">
                <a:solidFill>
                  <a:srgbClr val="C5B88F"/>
                </a:solidFill>
                <a:latin typeface="Open Sans"/>
                <a:ea typeface="Open Sans"/>
                <a:cs typeface="Open Sans"/>
                <a:sym typeface="Open Sans"/>
              </a:rPr>
              <a:t>API manda JSON al navegador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772958" y="8154551"/>
            <a:ext cx="3515042" cy="815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8"/>
              </a:lnSpc>
              <a:spcBef>
                <a:spcPct val="0"/>
              </a:spcBef>
            </a:pPr>
            <a:r>
              <a:rPr lang="es-CL" sz="2406" noProof="0" dirty="0">
                <a:solidFill>
                  <a:srgbClr val="C5B88F"/>
                </a:solidFill>
                <a:latin typeface="Open Sans"/>
                <a:ea typeface="Open Sans"/>
                <a:cs typeface="Open Sans"/>
                <a:sym typeface="Open Sans"/>
              </a:rPr>
              <a:t>Usuario visualiza productos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0" y="2351919"/>
            <a:ext cx="3183485" cy="864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4"/>
              </a:lnSpc>
              <a:spcBef>
                <a:spcPct val="0"/>
              </a:spcBef>
            </a:pPr>
            <a:r>
              <a:rPr lang="es-CL" sz="2400" b="1" noProof="0" dirty="0">
                <a:solidFill>
                  <a:srgbClr val="6BCBD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administrador ejecuta el </a:t>
            </a:r>
            <a:r>
              <a:rPr lang="es-CL" sz="2400" b="1" noProof="0" dirty="0" err="1">
                <a:solidFill>
                  <a:srgbClr val="6BCBD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scraping</a:t>
            </a:r>
            <a:endParaRPr lang="es-CL" sz="2400" b="1" noProof="0" dirty="0">
              <a:solidFill>
                <a:srgbClr val="6BCBD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4088996" y="4390894"/>
            <a:ext cx="4036516" cy="431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5"/>
              </a:lnSpc>
              <a:spcBef>
                <a:spcPct val="0"/>
              </a:spcBef>
            </a:pPr>
            <a:r>
              <a:rPr lang="es-CL" sz="2503" b="1" noProof="0" dirty="0">
                <a:solidFill>
                  <a:srgbClr val="6BCBD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API dispara el proceso.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34704" y="2312533"/>
            <a:ext cx="5826175" cy="44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7"/>
              </a:lnSpc>
              <a:spcBef>
                <a:spcPct val="0"/>
              </a:spcBef>
            </a:pPr>
            <a:r>
              <a:rPr lang="es-CL" sz="2591" b="1" noProof="0" dirty="0">
                <a:solidFill>
                  <a:srgbClr val="6BCBD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Extrae datos de los supermercados.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495765" y="4555052"/>
            <a:ext cx="5579566" cy="430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8"/>
              </a:lnSpc>
              <a:spcBef>
                <a:spcPct val="0"/>
              </a:spcBef>
            </a:pPr>
            <a:r>
              <a:rPr lang="es-CL" sz="2570" b="1" noProof="0" dirty="0">
                <a:solidFill>
                  <a:srgbClr val="6BCBD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Los datos se guardan en MongoDB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595433" y="9255487"/>
            <a:ext cx="3515042" cy="815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8"/>
              </a:lnSpc>
              <a:spcBef>
                <a:spcPct val="0"/>
              </a:spcBef>
            </a:pPr>
            <a:r>
              <a:rPr lang="es-CL" sz="2406" noProof="0" dirty="0">
                <a:solidFill>
                  <a:srgbClr val="C5B88F"/>
                </a:solidFill>
                <a:latin typeface="Open Sans"/>
                <a:ea typeface="Open Sans"/>
                <a:cs typeface="Open Sans"/>
                <a:sym typeface="Open Sans"/>
              </a:rPr>
              <a:t>Cliente accede </a:t>
            </a:r>
            <a:r>
              <a:rPr lang="es-CL" sz="2406" noProof="0" dirty="0" err="1">
                <a:solidFill>
                  <a:srgbClr val="C5B88F"/>
                </a:solidFill>
                <a:latin typeface="Open Sans"/>
                <a:ea typeface="Open Sans"/>
                <a:cs typeface="Open Sans"/>
                <a:sym typeface="Open Sans"/>
              </a:rPr>
              <a:t>Dashboard</a:t>
            </a:r>
            <a:endParaRPr lang="es-CL" sz="2406" noProof="0" dirty="0">
              <a:solidFill>
                <a:srgbClr val="C5B88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2440302" y="-37622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312694" y="1606979"/>
            <a:ext cx="14681570" cy="8258383"/>
          </a:xfrm>
          <a:custGeom>
            <a:avLst/>
            <a:gdLst/>
            <a:ahLst/>
            <a:cxnLst/>
            <a:rect l="l" t="t" r="r" b="b"/>
            <a:pathLst>
              <a:path w="14681570" h="8258383">
                <a:moveTo>
                  <a:pt x="0" y="0"/>
                </a:moveTo>
                <a:lnTo>
                  <a:pt x="14681569" y="0"/>
                </a:lnTo>
                <a:lnTo>
                  <a:pt x="14681569" y="8258383"/>
                </a:lnTo>
                <a:lnTo>
                  <a:pt x="0" y="8258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Box 5"/>
          <p:cNvSpPr txBox="1"/>
          <p:nvPr/>
        </p:nvSpPr>
        <p:spPr>
          <a:xfrm>
            <a:off x="-531427" y="-299542"/>
            <a:ext cx="11638499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s-CL" sz="9200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de datos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4915380" y="6915028"/>
            <a:ext cx="2064829" cy="1937185"/>
          </a:xfrm>
          <a:custGeom>
            <a:avLst/>
            <a:gdLst/>
            <a:ahLst/>
            <a:cxnLst/>
            <a:rect l="l" t="t" r="r" b="b"/>
            <a:pathLst>
              <a:path w="2064829" h="1937185">
                <a:moveTo>
                  <a:pt x="0" y="0"/>
                </a:moveTo>
                <a:lnTo>
                  <a:pt x="2064828" y="0"/>
                </a:lnTo>
                <a:lnTo>
                  <a:pt x="2064828" y="1937184"/>
                </a:lnTo>
                <a:lnTo>
                  <a:pt x="0" y="1937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>
            <a:off x="5078919" y="7044938"/>
            <a:ext cx="3134964" cy="1861385"/>
          </a:xfrm>
          <a:custGeom>
            <a:avLst/>
            <a:gdLst/>
            <a:ahLst/>
            <a:cxnLst/>
            <a:rect l="l" t="t" r="r" b="b"/>
            <a:pathLst>
              <a:path w="3134964" h="1861385">
                <a:moveTo>
                  <a:pt x="0" y="0"/>
                </a:moveTo>
                <a:lnTo>
                  <a:pt x="3134964" y="0"/>
                </a:lnTo>
                <a:lnTo>
                  <a:pt x="3134964" y="1861385"/>
                </a:lnTo>
                <a:lnTo>
                  <a:pt x="0" y="1861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>
            <a:off x="994026" y="6686078"/>
            <a:ext cx="2220245" cy="2220245"/>
          </a:xfrm>
          <a:custGeom>
            <a:avLst/>
            <a:gdLst/>
            <a:ahLst/>
            <a:cxnLst/>
            <a:rect l="l" t="t" r="r" b="b"/>
            <a:pathLst>
              <a:path w="2220245" h="2220245">
                <a:moveTo>
                  <a:pt x="0" y="0"/>
                </a:moveTo>
                <a:lnTo>
                  <a:pt x="2220245" y="0"/>
                </a:lnTo>
                <a:lnTo>
                  <a:pt x="2220245" y="2220245"/>
                </a:lnTo>
                <a:lnTo>
                  <a:pt x="0" y="22202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9943876" y="6860918"/>
            <a:ext cx="2460638" cy="2045405"/>
          </a:xfrm>
          <a:custGeom>
            <a:avLst/>
            <a:gdLst/>
            <a:ahLst/>
            <a:cxnLst/>
            <a:rect l="l" t="t" r="r" b="b"/>
            <a:pathLst>
              <a:path w="2460638" h="2045405">
                <a:moveTo>
                  <a:pt x="0" y="0"/>
                </a:moveTo>
                <a:lnTo>
                  <a:pt x="2460637" y="0"/>
                </a:lnTo>
                <a:lnTo>
                  <a:pt x="2460637" y="2045405"/>
                </a:lnTo>
                <a:lnTo>
                  <a:pt x="0" y="20454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Box 8"/>
          <p:cNvSpPr txBox="1"/>
          <p:nvPr/>
        </p:nvSpPr>
        <p:spPr>
          <a:xfrm>
            <a:off x="4812640" y="2858591"/>
            <a:ext cx="3667521" cy="457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3"/>
              </a:lnSpc>
            </a:pPr>
            <a:r>
              <a:rPr lang="es-CL" sz="1752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Tendencia trimestral de ahorro potencial (T4 vs T1)</a:t>
            </a:r>
          </a:p>
          <a:p>
            <a:pPr algn="ctr">
              <a:lnSpc>
                <a:spcPts val="2453"/>
              </a:lnSpc>
            </a:pPr>
            <a:endParaRPr lang="es-CL" sz="1752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453"/>
              </a:lnSpc>
            </a:pPr>
            <a:r>
              <a:rPr lang="es-CL" sz="1752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Qué: Medir cuánto pueden ahorrar las Pymes comparando T4 y T1</a:t>
            </a:r>
          </a:p>
          <a:p>
            <a:pPr algn="ctr">
              <a:lnSpc>
                <a:spcPts val="2453"/>
              </a:lnSpc>
            </a:pPr>
            <a:r>
              <a:rPr lang="es-CL" sz="1752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qué: Identificar dónde conviene comprar según la evolución de precios.</a:t>
            </a:r>
          </a:p>
          <a:p>
            <a:pPr algn="ctr">
              <a:lnSpc>
                <a:spcPts val="2453"/>
              </a:lnSpc>
            </a:pPr>
            <a:r>
              <a:rPr lang="es-CL" sz="1752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Cómo: Usar </a:t>
            </a:r>
            <a:r>
              <a:rPr lang="es-CL" sz="1752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preciosHistoricos</a:t>
            </a:r>
            <a:r>
              <a:rPr lang="es-CL" sz="1752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+ productos, obtener precio mínimo por categoría y comparar entre trimestres.</a:t>
            </a:r>
          </a:p>
          <a:p>
            <a:pPr algn="ctr">
              <a:lnSpc>
                <a:spcPts val="2453"/>
              </a:lnSpc>
            </a:pPr>
            <a:endParaRPr lang="es-CL" sz="1752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453"/>
              </a:lnSpc>
            </a:pPr>
            <a:endParaRPr lang="es-CL" sz="1752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453"/>
              </a:lnSpc>
            </a:pPr>
            <a:endParaRPr lang="es-CL" sz="1752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-387643" y="422402"/>
            <a:ext cx="13215588" cy="941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27"/>
              </a:lnSpc>
            </a:pPr>
            <a:r>
              <a:rPr lang="es-CL" sz="5519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Elementos Analíticos a Incorporar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3857" y="2858591"/>
            <a:ext cx="3740583" cy="3946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4"/>
              </a:lnSpc>
            </a:pPr>
            <a:r>
              <a:rPr lang="es-CL" sz="173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Variación semestral de precios (2025-2026)</a:t>
            </a:r>
          </a:p>
          <a:p>
            <a:pPr algn="ctr">
              <a:lnSpc>
                <a:spcPts val="2424"/>
              </a:lnSpc>
            </a:pPr>
            <a:endParaRPr lang="es-CL" sz="1731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424"/>
              </a:lnSpc>
            </a:pPr>
            <a:r>
              <a:rPr lang="es-CL" sz="173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Qué: Comparar precios promedio por categoría y supermercado entre ambos semestres.</a:t>
            </a:r>
          </a:p>
          <a:p>
            <a:pPr algn="ctr">
              <a:lnSpc>
                <a:spcPts val="2424"/>
              </a:lnSpc>
            </a:pPr>
            <a:r>
              <a:rPr lang="es-CL" sz="173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qué: Detectar alzas/bajas y evaluar competitividad.</a:t>
            </a:r>
          </a:p>
          <a:p>
            <a:pPr algn="ctr">
              <a:lnSpc>
                <a:spcPts val="2424"/>
              </a:lnSpc>
            </a:pPr>
            <a:r>
              <a:rPr lang="es-CL" sz="173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Cómo: Usar </a:t>
            </a:r>
            <a:r>
              <a:rPr lang="es-CL" sz="1731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preciosHistoricos</a:t>
            </a:r>
            <a:r>
              <a:rPr lang="es-CL" sz="1731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filtrar por semestre, calcular promedios y variación porcentual.</a:t>
            </a:r>
          </a:p>
          <a:p>
            <a:pPr algn="ctr">
              <a:lnSpc>
                <a:spcPts val="2424"/>
              </a:lnSpc>
            </a:pPr>
            <a:endParaRPr lang="es-CL" sz="1731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424"/>
              </a:lnSpc>
            </a:pPr>
            <a:endParaRPr lang="es-CL" sz="1731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476166" y="2837313"/>
            <a:ext cx="3351779" cy="367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9"/>
              </a:lnSpc>
            </a:pPr>
            <a:r>
              <a:rPr lang="es-CL" sz="1706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Comportamiento de usuarios en el tiempo (Mensual)</a:t>
            </a:r>
          </a:p>
          <a:p>
            <a:pPr algn="ctr">
              <a:lnSpc>
                <a:spcPts val="2389"/>
              </a:lnSpc>
            </a:pPr>
            <a:endParaRPr lang="es-CL" sz="1706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389"/>
              </a:lnSpc>
            </a:pPr>
            <a:r>
              <a:rPr lang="es-CL" sz="1706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Qué: Comparar clics y búsquedas entre dos periodos definidos.</a:t>
            </a:r>
          </a:p>
          <a:p>
            <a:pPr algn="ctr">
              <a:lnSpc>
                <a:spcPts val="2389"/>
              </a:lnSpc>
            </a:pPr>
            <a:r>
              <a:rPr lang="es-CL" sz="1706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qué: Mejorar experiencia, priorizar categorías y optimizar el uso de la plataforma.</a:t>
            </a:r>
          </a:p>
          <a:p>
            <a:pPr algn="ctr">
              <a:lnSpc>
                <a:spcPts val="2389"/>
              </a:lnSpc>
            </a:pPr>
            <a:r>
              <a:rPr lang="es-CL" sz="1706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Cómo: Usar </a:t>
            </a:r>
            <a:r>
              <a:rPr lang="es-CL" sz="1706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clicsUsuarios</a:t>
            </a:r>
            <a:r>
              <a:rPr lang="es-CL" sz="1706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búsquedas, agrupar por mes y analizar variaciones.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53804" y="2827788"/>
            <a:ext cx="3787980" cy="3530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6"/>
              </a:lnSpc>
            </a:pPr>
            <a:r>
              <a:rPr lang="es-CL" sz="1668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Ranking mensual de variación de precios</a:t>
            </a:r>
          </a:p>
          <a:p>
            <a:pPr algn="ctr">
              <a:lnSpc>
                <a:spcPts val="2336"/>
              </a:lnSpc>
            </a:pPr>
            <a:endParaRPr lang="es-CL" sz="1668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336"/>
              </a:lnSpc>
            </a:pPr>
            <a:r>
              <a:rPr lang="es-CL" sz="1668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Qué: Identificar productos con mayor alza o baja mensual.</a:t>
            </a:r>
          </a:p>
          <a:p>
            <a:pPr algn="ctr">
              <a:lnSpc>
                <a:spcPts val="2336"/>
              </a:lnSpc>
            </a:pPr>
            <a:r>
              <a:rPr lang="es-CL" sz="1668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qué: Alertar sobre cambios relevantes y apoyar decisiones de compra.</a:t>
            </a:r>
          </a:p>
          <a:p>
            <a:pPr algn="ctr">
              <a:lnSpc>
                <a:spcPts val="2336"/>
              </a:lnSpc>
            </a:pPr>
            <a:r>
              <a:rPr lang="es-CL" sz="1668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Cómo: Usar </a:t>
            </a:r>
            <a:r>
              <a:rPr lang="es-CL" sz="1668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preciosHistoricos</a:t>
            </a:r>
            <a:r>
              <a:rPr lang="es-CL" sz="1668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comparar último precio del mes actual vs anterior y calcular variación.</a:t>
            </a:r>
          </a:p>
          <a:p>
            <a:pPr algn="ctr">
              <a:lnSpc>
                <a:spcPts val="2336"/>
              </a:lnSpc>
            </a:pPr>
            <a:endParaRPr lang="es-CL" sz="1668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Box 16"/>
          <p:cNvSpPr txBox="1"/>
          <p:nvPr/>
        </p:nvSpPr>
        <p:spPr>
          <a:xfrm>
            <a:off x="-352812" y="201664"/>
            <a:ext cx="12505341" cy="1345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99"/>
              </a:lnSpc>
            </a:pPr>
            <a:r>
              <a:rPr lang="es-CL" sz="7928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Tecnologías utilizadas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39B69A-A96E-B9D4-7B93-712A44475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056051"/>
            <a:ext cx="14325600" cy="71851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1127210" y="1891350"/>
            <a:ext cx="5052941" cy="4509750"/>
          </a:xfrm>
          <a:custGeom>
            <a:avLst/>
            <a:gdLst/>
            <a:ahLst/>
            <a:cxnLst/>
            <a:rect l="l" t="t" r="r" b="b"/>
            <a:pathLst>
              <a:path w="5052941" h="4509750">
                <a:moveTo>
                  <a:pt x="0" y="0"/>
                </a:moveTo>
                <a:lnTo>
                  <a:pt x="5052941" y="0"/>
                </a:lnTo>
                <a:lnTo>
                  <a:pt x="5052941" y="4509750"/>
                </a:lnTo>
                <a:lnTo>
                  <a:pt x="0" y="4509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>
            <a:off x="10553369" y="6568129"/>
            <a:ext cx="6705931" cy="3135023"/>
          </a:xfrm>
          <a:custGeom>
            <a:avLst/>
            <a:gdLst/>
            <a:ahLst/>
            <a:cxnLst/>
            <a:rect l="l" t="t" r="r" b="b"/>
            <a:pathLst>
              <a:path w="6705931" h="3135023">
                <a:moveTo>
                  <a:pt x="0" y="0"/>
                </a:moveTo>
                <a:lnTo>
                  <a:pt x="6705931" y="0"/>
                </a:lnTo>
                <a:lnTo>
                  <a:pt x="6705931" y="3135023"/>
                </a:lnTo>
                <a:lnTo>
                  <a:pt x="0" y="31350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569833" y="2518765"/>
            <a:ext cx="9438052" cy="652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1"/>
              </a:lnSpc>
            </a:pPr>
            <a:r>
              <a:rPr lang="es-CL" sz="2515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Consumidor:</a:t>
            </a:r>
          </a:p>
          <a:p>
            <a:pPr algn="l">
              <a:lnSpc>
                <a:spcPts val="3521"/>
              </a:lnSpc>
            </a:pPr>
            <a:endParaRPr lang="es-CL" sz="2515" b="1" noProof="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43027" lvl="1" indent="-271514" algn="l">
              <a:lnSpc>
                <a:spcPts val="3521"/>
              </a:lnSpc>
              <a:buFont typeface="Arial"/>
              <a:buChar char="•"/>
            </a:pPr>
            <a:r>
              <a:rPr lang="es-CL" sz="2515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Buscador unificado operativo.</a:t>
            </a:r>
          </a:p>
          <a:p>
            <a:pPr marL="543027" lvl="1" indent="-271514" algn="l">
              <a:lnSpc>
                <a:spcPts val="3521"/>
              </a:lnSpc>
              <a:buFont typeface="Arial"/>
              <a:buChar char="•"/>
            </a:pPr>
            <a:r>
              <a:rPr lang="es-CL" sz="2515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Visualización clara de productos y precios actualizados.</a:t>
            </a:r>
          </a:p>
          <a:p>
            <a:pPr algn="l">
              <a:lnSpc>
                <a:spcPts val="3521"/>
              </a:lnSpc>
            </a:pPr>
            <a:endParaRPr lang="es-CL" sz="2515" b="1" noProof="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521"/>
              </a:lnSpc>
            </a:pPr>
            <a:r>
              <a:rPr lang="es-CL" sz="2515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Pyme/Comercio:</a:t>
            </a:r>
          </a:p>
          <a:p>
            <a:pPr algn="l">
              <a:lnSpc>
                <a:spcPts val="3521"/>
              </a:lnSpc>
            </a:pPr>
            <a:endParaRPr lang="es-CL" sz="2515" b="1" noProof="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43027" lvl="1" indent="-271514" algn="l">
              <a:lnSpc>
                <a:spcPts val="3521"/>
              </a:lnSpc>
              <a:buFont typeface="Arial"/>
              <a:buChar char="•"/>
            </a:pPr>
            <a:r>
              <a:rPr lang="es-CL" sz="2515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BD centralizada lista para análisis temporal.</a:t>
            </a:r>
          </a:p>
          <a:p>
            <a:pPr marL="543027" lvl="1" indent="-271514" algn="l">
              <a:lnSpc>
                <a:spcPts val="3521"/>
              </a:lnSpc>
              <a:buFont typeface="Arial"/>
              <a:buChar char="•"/>
            </a:pPr>
            <a:r>
              <a:rPr lang="es-CL" sz="2515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Historial de precios y </a:t>
            </a:r>
            <a:r>
              <a:rPr lang="es-CL" sz="2515" b="1" noProof="0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  <a:r>
              <a:rPr lang="es-CL" sz="2515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inicial funcionando.</a:t>
            </a:r>
          </a:p>
          <a:p>
            <a:pPr algn="l">
              <a:lnSpc>
                <a:spcPts val="3521"/>
              </a:lnSpc>
            </a:pPr>
            <a:endParaRPr lang="es-CL" sz="2515" b="1" noProof="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521"/>
              </a:lnSpc>
            </a:pPr>
            <a:r>
              <a:rPr lang="es-CL" sz="2515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Técnico:</a:t>
            </a:r>
          </a:p>
          <a:p>
            <a:pPr algn="l">
              <a:lnSpc>
                <a:spcPts val="3521"/>
              </a:lnSpc>
            </a:pPr>
            <a:endParaRPr lang="es-CL" sz="2515" b="1" noProof="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43027" lvl="1" indent="-271514" algn="l">
              <a:lnSpc>
                <a:spcPts val="3521"/>
              </a:lnSpc>
              <a:buFont typeface="Arial"/>
              <a:buChar char="•"/>
            </a:pPr>
            <a:r>
              <a:rPr lang="es-CL" sz="2515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estable y modular.</a:t>
            </a:r>
          </a:p>
          <a:p>
            <a:pPr marL="543027" lvl="1" indent="-271514" algn="l">
              <a:lnSpc>
                <a:spcPts val="3521"/>
              </a:lnSpc>
              <a:buFont typeface="Arial"/>
              <a:buChar char="•"/>
            </a:pPr>
            <a:r>
              <a:rPr lang="es-CL" sz="2515" b="1" noProof="0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Scraping</a:t>
            </a:r>
            <a:r>
              <a:rPr lang="es-CL" sz="2515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administrado con datos diarios.</a:t>
            </a:r>
          </a:p>
          <a:p>
            <a:pPr algn="l">
              <a:lnSpc>
                <a:spcPts val="3326"/>
              </a:lnSpc>
            </a:pPr>
            <a:endParaRPr lang="es-CL" sz="2515" b="1" noProof="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69833" y="206693"/>
            <a:ext cx="10557377" cy="1325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31"/>
              </a:lnSpc>
            </a:pPr>
            <a:r>
              <a:rPr lang="es-CL" sz="7736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Resultados obtenidos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6071901" y="2470729"/>
            <a:ext cx="6368401" cy="594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4"/>
              </a:lnSpc>
              <a:spcBef>
                <a:spcPct val="0"/>
              </a:spcBef>
            </a:pPr>
            <a:r>
              <a:rPr lang="es-CL" sz="2003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2. Errores de Integración entre </a:t>
            </a:r>
            <a:r>
              <a:rPr lang="es-CL" sz="2003" u="none" strike="noStrike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s-CL" sz="2003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s-CL" sz="2003" u="none" strike="noStrike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endParaRPr lang="es-CL" sz="2003" u="none" strike="noStrike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4"/>
              </a:lnSpc>
              <a:spcBef>
                <a:spcPct val="0"/>
              </a:spcBef>
            </a:pPr>
            <a:endParaRPr lang="es-CL" sz="2003" u="none" strike="noStrike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4"/>
              </a:lnSpc>
              <a:spcBef>
                <a:spcPct val="0"/>
              </a:spcBef>
            </a:pPr>
            <a:r>
              <a:rPr lang="es-CL" sz="2003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Problema:</a:t>
            </a:r>
          </a:p>
          <a:p>
            <a:pPr algn="l">
              <a:lnSpc>
                <a:spcPts val="2804"/>
              </a:lnSpc>
              <a:spcBef>
                <a:spcPct val="0"/>
              </a:spcBef>
            </a:pPr>
            <a:endParaRPr lang="es-CL" sz="2003" u="none" strike="noStrike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32567" lvl="1" indent="-216283" algn="l">
              <a:lnSpc>
                <a:spcPts val="2804"/>
              </a:lnSpc>
              <a:spcBef>
                <a:spcPct val="0"/>
              </a:spcBef>
              <a:buFont typeface="Arial"/>
              <a:buChar char="•"/>
            </a:pPr>
            <a:r>
              <a:rPr lang="es-CL" sz="2003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El </a:t>
            </a:r>
            <a:r>
              <a:rPr lang="es-CL" sz="2003" u="none" strike="noStrike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lang="es-CL" sz="2003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no cargaba los datos en la página principal, quedando completamente en blanco debido a la ausencia de un bloque clave de inicialización.</a:t>
            </a:r>
          </a:p>
          <a:p>
            <a:pPr algn="l">
              <a:lnSpc>
                <a:spcPts val="2804"/>
              </a:lnSpc>
              <a:spcBef>
                <a:spcPct val="0"/>
              </a:spcBef>
            </a:pPr>
            <a:endParaRPr lang="es-CL" sz="2003" u="none" strike="noStrike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804"/>
              </a:lnSpc>
              <a:spcBef>
                <a:spcPct val="0"/>
              </a:spcBef>
            </a:pPr>
            <a:r>
              <a:rPr lang="es-CL" sz="2003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Solución:</a:t>
            </a:r>
          </a:p>
          <a:p>
            <a:pPr algn="l">
              <a:lnSpc>
                <a:spcPts val="2804"/>
              </a:lnSpc>
              <a:spcBef>
                <a:spcPct val="0"/>
              </a:spcBef>
            </a:pPr>
            <a:endParaRPr lang="es-CL" sz="2003" u="none" strike="noStrike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32567" lvl="1" indent="-216283" algn="l">
              <a:lnSpc>
                <a:spcPts val="2804"/>
              </a:lnSpc>
              <a:spcBef>
                <a:spcPct val="0"/>
              </a:spcBef>
              <a:buFont typeface="Arial"/>
              <a:buChar char="•"/>
            </a:pPr>
            <a:r>
              <a:rPr lang="es-CL" sz="2003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Se identificó el script faltante y se restauró la función de carga de datos de la vista principal.</a:t>
            </a:r>
          </a:p>
          <a:p>
            <a:pPr algn="l">
              <a:lnSpc>
                <a:spcPts val="2804"/>
              </a:lnSpc>
              <a:spcBef>
                <a:spcPct val="0"/>
              </a:spcBef>
            </a:pPr>
            <a:endParaRPr lang="es-CL" sz="2003" u="none" strike="noStrike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32567" lvl="1" indent="-216283" algn="l">
              <a:lnSpc>
                <a:spcPts val="2804"/>
              </a:lnSpc>
              <a:spcBef>
                <a:spcPct val="0"/>
              </a:spcBef>
              <a:buFont typeface="Arial"/>
              <a:buChar char="•"/>
            </a:pPr>
            <a:r>
              <a:rPr lang="es-CL" sz="2003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Tras la corrección, el sistema integró correctamente el panel administrativo, el catálogo y las </a:t>
            </a:r>
            <a:r>
              <a:rPr lang="es-CL" sz="2003" u="none" strike="noStrike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APIs</a:t>
            </a:r>
            <a:r>
              <a:rPr lang="es-CL" sz="2003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5" name="Freeform 5"/>
          <p:cNvSpPr/>
          <p:nvPr/>
        </p:nvSpPr>
        <p:spPr>
          <a:xfrm>
            <a:off x="2109643" y="8444039"/>
            <a:ext cx="1343530" cy="1628521"/>
          </a:xfrm>
          <a:custGeom>
            <a:avLst/>
            <a:gdLst/>
            <a:ahLst/>
            <a:cxnLst/>
            <a:rect l="l" t="t" r="r" b="b"/>
            <a:pathLst>
              <a:path w="1343530" h="1628521">
                <a:moveTo>
                  <a:pt x="0" y="0"/>
                </a:moveTo>
                <a:lnTo>
                  <a:pt x="1343530" y="0"/>
                </a:lnTo>
                <a:lnTo>
                  <a:pt x="1343530" y="1628522"/>
                </a:lnTo>
                <a:lnTo>
                  <a:pt x="0" y="1628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>
            <a:off x="8472570" y="8444039"/>
            <a:ext cx="1508227" cy="1469836"/>
          </a:xfrm>
          <a:custGeom>
            <a:avLst/>
            <a:gdLst/>
            <a:ahLst/>
            <a:cxnLst/>
            <a:rect l="l" t="t" r="r" b="b"/>
            <a:pathLst>
              <a:path w="1508227" h="1469836">
                <a:moveTo>
                  <a:pt x="0" y="0"/>
                </a:moveTo>
                <a:lnTo>
                  <a:pt x="1508228" y="0"/>
                </a:lnTo>
                <a:lnTo>
                  <a:pt x="1508228" y="1469836"/>
                </a:lnTo>
                <a:lnTo>
                  <a:pt x="0" y="14698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5481315" y="2968633"/>
            <a:ext cx="918112" cy="1016846"/>
          </a:xfrm>
          <a:custGeom>
            <a:avLst/>
            <a:gdLst/>
            <a:ahLst/>
            <a:cxnLst/>
            <a:rect l="l" t="t" r="r" b="b"/>
            <a:pathLst>
              <a:path w="918112" h="1016846">
                <a:moveTo>
                  <a:pt x="0" y="0"/>
                </a:moveTo>
                <a:lnTo>
                  <a:pt x="918112" y="0"/>
                </a:lnTo>
                <a:lnTo>
                  <a:pt x="918112" y="1016845"/>
                </a:lnTo>
                <a:lnTo>
                  <a:pt x="0" y="10168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Box 8"/>
          <p:cNvSpPr txBox="1"/>
          <p:nvPr/>
        </p:nvSpPr>
        <p:spPr>
          <a:xfrm>
            <a:off x="554949" y="670892"/>
            <a:ext cx="10916234" cy="639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9"/>
              </a:lnSpc>
            </a:pPr>
            <a:r>
              <a:rPr lang="es-CL" sz="3714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Obstáculos presentados durante el desarrollo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4839" y="2480254"/>
            <a:ext cx="5798228" cy="5990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9"/>
              </a:lnSpc>
            </a:pPr>
            <a:r>
              <a:rPr lang="es-CL" sz="191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1. Volatilidad y Complejidad de los </a:t>
            </a:r>
            <a:r>
              <a:rPr lang="es-CL" sz="1913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Scrapers</a:t>
            </a:r>
            <a:endParaRPr lang="es-CL" sz="191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679"/>
              </a:lnSpc>
            </a:pPr>
            <a:endParaRPr lang="es-CL" sz="191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679"/>
              </a:lnSpc>
            </a:pPr>
            <a:r>
              <a:rPr lang="es-CL" sz="191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Problema:</a:t>
            </a:r>
          </a:p>
          <a:p>
            <a:pPr algn="l">
              <a:lnSpc>
                <a:spcPts val="2679"/>
              </a:lnSpc>
            </a:pPr>
            <a:endParaRPr lang="es-CL" sz="191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13147" lvl="1" indent="-206573" algn="l">
              <a:lnSpc>
                <a:spcPts val="2679"/>
              </a:lnSpc>
              <a:buFont typeface="Arial"/>
              <a:buChar char="•"/>
            </a:pPr>
            <a:r>
              <a:rPr lang="es-CL" sz="191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Las páginas de los supermercados presentan estructuras cambiantes, cargadores dinámicos y selectores inestables.</a:t>
            </a:r>
          </a:p>
          <a:p>
            <a:pPr algn="l">
              <a:lnSpc>
                <a:spcPts val="2679"/>
              </a:lnSpc>
            </a:pPr>
            <a:endParaRPr lang="es-CL" sz="191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679"/>
              </a:lnSpc>
            </a:pPr>
            <a:r>
              <a:rPr lang="es-CL" sz="191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Solución:</a:t>
            </a:r>
          </a:p>
          <a:p>
            <a:pPr algn="l">
              <a:lnSpc>
                <a:spcPts val="2679"/>
              </a:lnSpc>
            </a:pPr>
            <a:endParaRPr lang="es-CL" sz="191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13147" lvl="1" indent="-206573" algn="l">
              <a:lnSpc>
                <a:spcPts val="2679"/>
              </a:lnSpc>
              <a:buFont typeface="Arial"/>
              <a:buChar char="•"/>
            </a:pPr>
            <a:r>
              <a:rPr lang="es-CL" sz="191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Se realizó una depuración avanzada de selectores CSS, detección de nodos dinámicos y reestructuración de la lógica de extracción.</a:t>
            </a:r>
          </a:p>
          <a:p>
            <a:pPr algn="l">
              <a:lnSpc>
                <a:spcPts val="2679"/>
              </a:lnSpc>
            </a:pPr>
            <a:endParaRPr lang="es-CL" sz="191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13147" lvl="1" indent="-206573" algn="l">
              <a:lnSpc>
                <a:spcPts val="2679"/>
              </a:lnSpc>
              <a:buFont typeface="Arial"/>
              <a:buChar char="•"/>
            </a:pPr>
            <a:r>
              <a:rPr lang="es-CL" sz="1913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Esto permitió estabilizar las capturas de  los productos, asegurando  una cobertura completa.</a:t>
            </a:r>
          </a:p>
          <a:p>
            <a:pPr algn="l">
              <a:lnSpc>
                <a:spcPts val="2679"/>
              </a:lnSpc>
            </a:pPr>
            <a:endParaRPr lang="es-CL" sz="1913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440302" y="2470729"/>
            <a:ext cx="5847698" cy="743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  <a:spcBef>
                <a:spcPct val="0"/>
              </a:spcBef>
            </a:pPr>
            <a:r>
              <a:rPr lang="es-CL" sz="2214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3. Migración Crítica de Base de Datos</a:t>
            </a:r>
          </a:p>
          <a:p>
            <a:pPr algn="l">
              <a:lnSpc>
                <a:spcPts val="3100"/>
              </a:lnSpc>
              <a:spcBef>
                <a:spcPct val="0"/>
              </a:spcBef>
            </a:pPr>
            <a:endParaRPr lang="es-CL" sz="2214" u="none" strike="noStrike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100"/>
              </a:lnSpc>
              <a:spcBef>
                <a:spcPct val="0"/>
              </a:spcBef>
            </a:pPr>
            <a:r>
              <a:rPr lang="es-CL" sz="2214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Problema:</a:t>
            </a:r>
          </a:p>
          <a:p>
            <a:pPr algn="l">
              <a:lnSpc>
                <a:spcPts val="3100"/>
              </a:lnSpc>
              <a:spcBef>
                <a:spcPct val="0"/>
              </a:spcBef>
            </a:pPr>
            <a:endParaRPr lang="es-CL" sz="2214" u="none" strike="noStrike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78201" lvl="1" indent="-239100" algn="l">
              <a:lnSpc>
                <a:spcPts val="3100"/>
              </a:lnSpc>
              <a:spcBef>
                <a:spcPct val="0"/>
              </a:spcBef>
              <a:buFont typeface="Arial"/>
              <a:buChar char="•"/>
            </a:pPr>
            <a:r>
              <a:rPr lang="es-CL" sz="2214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El proyecto comenzó en </a:t>
            </a:r>
            <a:r>
              <a:rPr lang="es-CL" sz="2214" u="none" strike="noStrike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Firebase</a:t>
            </a:r>
            <a:r>
              <a:rPr lang="es-CL" sz="2214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pero </a:t>
            </a:r>
            <a:r>
              <a:rPr lang="es-CL" sz="2214" u="none" strike="noStrike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Firestore</a:t>
            </a:r>
            <a:r>
              <a:rPr lang="es-CL" sz="2214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no soportaba las agregaciones complejas ni las consultas históricas necesarias para el módulo analítico.</a:t>
            </a:r>
          </a:p>
          <a:p>
            <a:pPr algn="l">
              <a:lnSpc>
                <a:spcPts val="3100"/>
              </a:lnSpc>
              <a:spcBef>
                <a:spcPct val="0"/>
              </a:spcBef>
            </a:pPr>
            <a:endParaRPr lang="es-CL" sz="2214" u="none" strike="noStrike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100"/>
              </a:lnSpc>
              <a:spcBef>
                <a:spcPct val="0"/>
              </a:spcBef>
            </a:pPr>
            <a:r>
              <a:rPr lang="es-CL" sz="2214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Solución:</a:t>
            </a:r>
          </a:p>
          <a:p>
            <a:pPr algn="l">
              <a:lnSpc>
                <a:spcPts val="3100"/>
              </a:lnSpc>
              <a:spcBef>
                <a:spcPct val="0"/>
              </a:spcBef>
            </a:pPr>
            <a:endParaRPr lang="es-CL" sz="2214" u="none" strike="noStrike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78201" lvl="1" indent="-239100" algn="l">
              <a:lnSpc>
                <a:spcPts val="3100"/>
              </a:lnSpc>
              <a:spcBef>
                <a:spcPct val="0"/>
              </a:spcBef>
              <a:buFont typeface="Arial"/>
              <a:buChar char="•"/>
            </a:pPr>
            <a:r>
              <a:rPr lang="es-CL" sz="2214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Se ejecutó una migración completa a MongoDB Atlas, incluyendo refactorización del </a:t>
            </a:r>
            <a:r>
              <a:rPr lang="es-CL" sz="2214" u="none" strike="noStrike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s-CL" sz="2214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rediseño del modelo de datos.</a:t>
            </a:r>
          </a:p>
          <a:p>
            <a:pPr algn="l">
              <a:lnSpc>
                <a:spcPts val="3100"/>
              </a:lnSpc>
              <a:spcBef>
                <a:spcPct val="0"/>
              </a:spcBef>
            </a:pPr>
            <a:endParaRPr lang="es-CL" sz="2214" u="none" strike="noStrike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78201" lvl="1" indent="-239100" algn="l">
              <a:lnSpc>
                <a:spcPts val="3100"/>
              </a:lnSpc>
              <a:spcBef>
                <a:spcPct val="0"/>
              </a:spcBef>
              <a:buFont typeface="Arial"/>
              <a:buChar char="•"/>
            </a:pPr>
            <a:r>
              <a:rPr lang="es-CL" sz="2214" u="none" strike="noStrike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El cambio permitió manejar variación histórica, consultas comparativas y analítica avanzada con alto rendimiento.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2749008" y="4495072"/>
            <a:ext cx="11824473" cy="64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9"/>
              </a:lnSpc>
              <a:spcBef>
                <a:spcPct val="0"/>
              </a:spcBef>
            </a:pPr>
            <a:r>
              <a:rPr lang="es-CL" sz="3721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DEMOSTRACIÓN DEL RESULTADO DEL PROYECTO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615940" y="559457"/>
            <a:ext cx="10709250" cy="863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9"/>
              </a:lnSpc>
              <a:spcBef>
                <a:spcPct val="0"/>
              </a:spcBef>
            </a:pPr>
            <a:r>
              <a:rPr lang="es-CL" sz="5014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Conclusión y comentario final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51508" y="2249632"/>
            <a:ext cx="13676964" cy="5306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2"/>
              </a:lnSpc>
              <a:spcBef>
                <a:spcPct val="0"/>
              </a:spcBef>
            </a:pPr>
            <a:r>
              <a:rPr lang="es-CL" sz="2759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“Una plataforma que convierte datos en inteligencia comercial.”</a:t>
            </a:r>
          </a:p>
          <a:p>
            <a:pPr algn="ctr">
              <a:lnSpc>
                <a:spcPts val="3862"/>
              </a:lnSpc>
              <a:spcBef>
                <a:spcPct val="0"/>
              </a:spcBef>
            </a:pPr>
            <a:endParaRPr lang="es-CL" sz="2759" b="1" noProof="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3862"/>
              </a:lnSpc>
              <a:spcBef>
                <a:spcPct val="0"/>
              </a:spcBef>
            </a:pPr>
            <a:r>
              <a:rPr lang="es-CL" sz="2759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Precios centralizados. Información confiable.</a:t>
            </a:r>
          </a:p>
          <a:p>
            <a:pPr algn="ctr">
              <a:lnSpc>
                <a:spcPts val="3862"/>
              </a:lnSpc>
              <a:spcBef>
                <a:spcPct val="0"/>
              </a:spcBef>
            </a:pPr>
            <a:endParaRPr lang="es-CL" sz="2759" b="1" noProof="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3862"/>
              </a:lnSpc>
              <a:spcBef>
                <a:spcPct val="0"/>
              </a:spcBef>
            </a:pPr>
            <a:r>
              <a:rPr lang="es-CL" sz="2759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Variación histórica para comparar y anticipar.</a:t>
            </a:r>
          </a:p>
          <a:p>
            <a:pPr algn="ctr">
              <a:lnSpc>
                <a:spcPts val="3862"/>
              </a:lnSpc>
              <a:spcBef>
                <a:spcPct val="0"/>
              </a:spcBef>
            </a:pPr>
            <a:endParaRPr lang="es-CL" sz="2759" b="1" noProof="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3862"/>
              </a:lnSpc>
              <a:spcBef>
                <a:spcPct val="0"/>
              </a:spcBef>
            </a:pPr>
            <a:r>
              <a:rPr lang="es-CL" sz="2759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Analítica estratégica para negocios.</a:t>
            </a:r>
          </a:p>
          <a:p>
            <a:pPr algn="ctr">
              <a:lnSpc>
                <a:spcPts val="3862"/>
              </a:lnSpc>
              <a:spcBef>
                <a:spcPct val="0"/>
              </a:spcBef>
            </a:pPr>
            <a:endParaRPr lang="es-CL" sz="2759" b="1" noProof="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3862"/>
              </a:lnSpc>
              <a:spcBef>
                <a:spcPct val="0"/>
              </a:spcBef>
            </a:pPr>
            <a:r>
              <a:rPr lang="es-CL" sz="2759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Tendencias reales y comportamiento del mercado.</a:t>
            </a:r>
          </a:p>
          <a:p>
            <a:pPr algn="ctr">
              <a:lnSpc>
                <a:spcPts val="3862"/>
              </a:lnSpc>
              <a:spcBef>
                <a:spcPct val="0"/>
              </a:spcBef>
            </a:pPr>
            <a:endParaRPr lang="es-CL" sz="2759" b="1" noProof="0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3862"/>
              </a:lnSpc>
              <a:spcBef>
                <a:spcPct val="0"/>
              </a:spcBef>
            </a:pPr>
            <a:r>
              <a:rPr lang="es-CL" sz="2759" b="1" noProof="0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“Analítica que impulsa eficiencia, ahorro y mejores decisiones”</a:t>
            </a:r>
          </a:p>
        </p:txBody>
      </p:sp>
      <p:sp>
        <p:nvSpPr>
          <p:cNvPr id="6" name="Freeform 6"/>
          <p:cNvSpPr/>
          <p:nvPr/>
        </p:nvSpPr>
        <p:spPr>
          <a:xfrm>
            <a:off x="4935425" y="8546295"/>
            <a:ext cx="1035140" cy="1035140"/>
          </a:xfrm>
          <a:custGeom>
            <a:avLst/>
            <a:gdLst/>
            <a:ahLst/>
            <a:cxnLst/>
            <a:rect l="l" t="t" r="r" b="b"/>
            <a:pathLst>
              <a:path w="1035140" h="1035140">
                <a:moveTo>
                  <a:pt x="0" y="0"/>
                </a:moveTo>
                <a:lnTo>
                  <a:pt x="1035140" y="0"/>
                </a:lnTo>
                <a:lnTo>
                  <a:pt x="1035140" y="1035140"/>
                </a:lnTo>
                <a:lnTo>
                  <a:pt x="0" y="10351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8423031" y="8546295"/>
            <a:ext cx="933919" cy="1034353"/>
          </a:xfrm>
          <a:custGeom>
            <a:avLst/>
            <a:gdLst/>
            <a:ahLst/>
            <a:cxnLst/>
            <a:rect l="l" t="t" r="r" b="b"/>
            <a:pathLst>
              <a:path w="933919" h="1034353">
                <a:moveTo>
                  <a:pt x="0" y="0"/>
                </a:moveTo>
                <a:lnTo>
                  <a:pt x="933919" y="0"/>
                </a:lnTo>
                <a:lnTo>
                  <a:pt x="933919" y="1034353"/>
                </a:lnTo>
                <a:lnTo>
                  <a:pt x="0" y="1034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1873796" y="8430383"/>
            <a:ext cx="1133012" cy="1150266"/>
          </a:xfrm>
          <a:custGeom>
            <a:avLst/>
            <a:gdLst/>
            <a:ahLst/>
            <a:cxnLst/>
            <a:rect l="l" t="t" r="r" b="b"/>
            <a:pathLst>
              <a:path w="1133012" h="1150266">
                <a:moveTo>
                  <a:pt x="0" y="0"/>
                </a:moveTo>
                <a:lnTo>
                  <a:pt x="1133011" y="0"/>
                </a:lnTo>
                <a:lnTo>
                  <a:pt x="1133011" y="1150265"/>
                </a:lnTo>
                <a:lnTo>
                  <a:pt x="0" y="11502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2440302" y="0"/>
            <a:ext cx="5847698" cy="1891350"/>
          </a:xfrm>
          <a:custGeom>
            <a:avLst/>
            <a:gdLst/>
            <a:ahLst/>
            <a:cxnLst/>
            <a:rect l="l" t="t" r="r" b="b"/>
            <a:pathLst>
              <a:path w="5847698" h="1891350">
                <a:moveTo>
                  <a:pt x="0" y="0"/>
                </a:moveTo>
                <a:lnTo>
                  <a:pt x="5847698" y="0"/>
                </a:lnTo>
                <a:lnTo>
                  <a:pt x="5847698" y="1891350"/>
                </a:lnTo>
                <a:lnTo>
                  <a:pt x="0" y="189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r="-26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4139893" y="6220906"/>
            <a:ext cx="10008214" cy="3250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37"/>
              </a:lnSpc>
            </a:pPr>
            <a:r>
              <a:rPr lang="es-CL" sz="14740" b="1" noProof="0" dirty="0">
                <a:solidFill>
                  <a:srgbClr val="FFDE59"/>
                </a:solidFill>
                <a:latin typeface="Recoleta Bold"/>
                <a:ea typeface="Recoleta Bold"/>
                <a:cs typeface="Recoleta Bold"/>
                <a:sym typeface="Recoleta Bold"/>
              </a:rPr>
              <a:t>Preguntas</a:t>
            </a:r>
          </a:p>
          <a:p>
            <a:pPr algn="ctr">
              <a:lnSpc>
                <a:spcPts val="20637"/>
              </a:lnSpc>
              <a:spcBef>
                <a:spcPct val="0"/>
              </a:spcBef>
            </a:pPr>
            <a:endParaRPr lang="es-CL" sz="14740" b="1" noProof="0" dirty="0">
              <a:solidFill>
                <a:srgbClr val="FFDE59"/>
              </a:solidFill>
              <a:latin typeface="Recoleta Bold"/>
              <a:ea typeface="Recoleta Bold"/>
              <a:cs typeface="Recoleta Bold"/>
              <a:sym typeface="Recoleta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2117802"/>
            <a:ext cx="15934712" cy="437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5"/>
              </a:lnSpc>
            </a:pPr>
            <a:r>
              <a:rPr lang="es-CL" sz="13832" b="1" noProof="0" dirty="0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MUCHAS</a:t>
            </a:r>
          </a:p>
          <a:p>
            <a:pPr algn="ctr">
              <a:lnSpc>
                <a:spcPts val="11065"/>
              </a:lnSpc>
            </a:pPr>
            <a:endParaRPr lang="es-CL" sz="13832" b="1" noProof="0" dirty="0">
              <a:solidFill>
                <a:srgbClr val="000000"/>
              </a:solidFill>
              <a:latin typeface="HK Modular"/>
              <a:ea typeface="HK Modular"/>
              <a:cs typeface="HK Modular"/>
              <a:sym typeface="HK Modular"/>
            </a:endParaRPr>
          </a:p>
          <a:p>
            <a:pPr algn="ctr">
              <a:lnSpc>
                <a:spcPts val="11065"/>
              </a:lnSpc>
              <a:spcBef>
                <a:spcPct val="0"/>
              </a:spcBef>
            </a:pPr>
            <a:r>
              <a:rPr lang="es-CL" sz="13832" b="1" noProof="0" dirty="0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 GRACIAS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1172</Words>
  <Application>Microsoft Office PowerPoint</Application>
  <PresentationFormat>Personalizado</PresentationFormat>
  <Paragraphs>183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Anton</vt:lpstr>
      <vt:lpstr>Calibri</vt:lpstr>
      <vt:lpstr>Arial</vt:lpstr>
      <vt:lpstr>Recoleta Bold</vt:lpstr>
      <vt:lpstr>Open Sans Bold</vt:lpstr>
      <vt:lpstr>HK Modular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analitico de consumo</dc:title>
  <cp:lastModifiedBy>SEBASTIAN . SOLAR ABURTO</cp:lastModifiedBy>
  <cp:revision>2</cp:revision>
  <dcterms:created xsi:type="dcterms:W3CDTF">2006-08-16T00:00:00Z</dcterms:created>
  <dcterms:modified xsi:type="dcterms:W3CDTF">2025-11-16T20:47:37Z</dcterms:modified>
  <dc:identifier>DAG4rMGceWA</dc:identifier>
</cp:coreProperties>
</file>