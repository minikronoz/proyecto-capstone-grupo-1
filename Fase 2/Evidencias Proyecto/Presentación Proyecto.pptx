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Anton" charset="1" panose="00000500000000000000"/>
      <p:regular r:id="rId22"/>
    </p:embeddedFont>
    <p:embeddedFont>
      <p:font typeface="Open Sans" charset="1" panose="020B0606030504020204"/>
      <p:regular r:id="rId23"/>
    </p:embeddedFont>
    <p:embeddedFont>
      <p:font typeface="Open Sans Bold" charset="1" panose="020B0806030504020204"/>
      <p:regular r:id="rId24"/>
    </p:embeddedFont>
    <p:embeddedFont>
      <p:font typeface="Recoleta Bold" charset="1" panose="00000800000000000000"/>
      <p:regular r:id="rId25"/>
    </p:embeddedFont>
    <p:embeddedFont>
      <p:font typeface="HK Modular" charset="1" panose="0000080000000000000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png" Type="http://schemas.openxmlformats.org/officeDocument/2006/relationships/image"/><Relationship Id="rId7" Target="../media/image9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18.png" Type="http://schemas.openxmlformats.org/officeDocument/2006/relationships/image"/><Relationship Id="rId5" Target="../embeddings/oleObject1.bin" Type="http://schemas.openxmlformats.org/officeDocument/2006/relationships/oleObject"/><Relationship Id="rId6" Target="../media/image19.png" Type="http://schemas.openxmlformats.org/officeDocument/2006/relationships/image"/><Relationship Id="rId7" Target="../media/image20.svg" Type="http://schemas.openxmlformats.org/officeDocument/2006/relationships/image"/><Relationship Id="rId8" Target="../media/image21.png" Type="http://schemas.openxmlformats.org/officeDocument/2006/relationships/image"/><Relationship Id="rId9" Target="../media/image22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23.png" Type="http://schemas.openxmlformats.org/officeDocument/2006/relationships/image"/><Relationship Id="rId5" Target="../media/image2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2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2.svg" Type="http://schemas.openxmlformats.org/officeDocument/2006/relationships/image"/><Relationship Id="rId11" Target="../media/image33.png" Type="http://schemas.openxmlformats.org/officeDocument/2006/relationships/image"/><Relationship Id="rId12" Target="../media/image34.svg" Type="http://schemas.openxmlformats.org/officeDocument/2006/relationships/image"/><Relationship Id="rId13" Target="../media/image35.png" Type="http://schemas.openxmlformats.org/officeDocument/2006/relationships/image"/><Relationship Id="rId14" Target="../media/image36.svg" Type="http://schemas.openxmlformats.org/officeDocument/2006/relationships/image"/><Relationship Id="rId15" Target="../media/image37.png" Type="http://schemas.openxmlformats.org/officeDocument/2006/relationships/image"/><Relationship Id="rId16" Target="../media/image38.svg" Type="http://schemas.openxmlformats.org/officeDocument/2006/relationships/image"/><Relationship Id="rId17" Target="../media/image39.png" Type="http://schemas.openxmlformats.org/officeDocument/2006/relationships/image"/><Relationship Id="rId18" Target="../media/image40.svg" Type="http://schemas.openxmlformats.org/officeDocument/2006/relationships/image"/><Relationship Id="rId19" Target="../media/image41.png" Type="http://schemas.openxmlformats.org/officeDocument/2006/relationships/image"/><Relationship Id="rId2" Target="../media/image1.jpeg" Type="http://schemas.openxmlformats.org/officeDocument/2006/relationships/image"/><Relationship Id="rId20" Target="../media/image42.svg" Type="http://schemas.openxmlformats.org/officeDocument/2006/relationships/image"/><Relationship Id="rId21" Target="../media/image43.png" Type="http://schemas.openxmlformats.org/officeDocument/2006/relationships/image"/><Relationship Id="rId22" Target="../media/image44.svg" Type="http://schemas.openxmlformats.org/officeDocument/2006/relationships/image"/><Relationship Id="rId23" Target="../media/image45.png" Type="http://schemas.openxmlformats.org/officeDocument/2006/relationships/image"/><Relationship Id="rId24" Target="../media/image46.svg" Type="http://schemas.openxmlformats.org/officeDocument/2006/relationships/image"/><Relationship Id="rId3" Target="../media/image5.png" Type="http://schemas.openxmlformats.org/officeDocument/2006/relationships/image"/><Relationship Id="rId4" Target="../media/image26.png" Type="http://schemas.openxmlformats.org/officeDocument/2006/relationships/image"/><Relationship Id="rId5" Target="../media/image27.svg" Type="http://schemas.openxmlformats.org/officeDocument/2006/relationships/image"/><Relationship Id="rId6" Target="../media/image28.png" Type="http://schemas.openxmlformats.org/officeDocument/2006/relationships/image"/><Relationship Id="rId7" Target="../media/image29.png" Type="http://schemas.openxmlformats.org/officeDocument/2006/relationships/image"/><Relationship Id="rId8" Target="../media/image30.svg" Type="http://schemas.openxmlformats.org/officeDocument/2006/relationships/image"/><Relationship Id="rId9" Target="../media/image3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4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4.png" Type="http://schemas.openxmlformats.org/officeDocument/2006/relationships/image"/><Relationship Id="rId11" Target="../media/image55.svg" Type="http://schemas.openxmlformats.org/officeDocument/2006/relationships/image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48.png" Type="http://schemas.openxmlformats.org/officeDocument/2006/relationships/image"/><Relationship Id="rId5" Target="../media/image49.svg" Type="http://schemas.openxmlformats.org/officeDocument/2006/relationships/image"/><Relationship Id="rId6" Target="../media/image50.png" Type="http://schemas.openxmlformats.org/officeDocument/2006/relationships/image"/><Relationship Id="rId7" Target="../media/image51.svg" Type="http://schemas.openxmlformats.org/officeDocument/2006/relationships/image"/><Relationship Id="rId8" Target="../media/image52.png" Type="http://schemas.openxmlformats.org/officeDocument/2006/relationships/image"/><Relationship Id="rId9" Target="../media/image53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1.png" Type="http://schemas.openxmlformats.org/officeDocument/2006/relationships/image"/><Relationship Id="rId11" Target="../media/image62.png" Type="http://schemas.openxmlformats.org/officeDocument/2006/relationships/image"/><Relationship Id="rId12" Target="../media/image63.png" Type="http://schemas.openxmlformats.org/officeDocument/2006/relationships/image"/><Relationship Id="rId13" Target="../media/image64.png" Type="http://schemas.openxmlformats.org/officeDocument/2006/relationships/image"/><Relationship Id="rId14" Target="../media/image65.png" Type="http://schemas.openxmlformats.org/officeDocument/2006/relationships/image"/><Relationship Id="rId15" Target="../media/image66.png" Type="http://schemas.openxmlformats.org/officeDocument/2006/relationships/image"/><Relationship Id="rId16" Target="../media/image67.png" Type="http://schemas.openxmlformats.org/officeDocument/2006/relationships/image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56.png" Type="http://schemas.openxmlformats.org/officeDocument/2006/relationships/image"/><Relationship Id="rId5" Target="../embeddings/oleObject2.bin" Type="http://schemas.openxmlformats.org/officeDocument/2006/relationships/oleObject"/><Relationship Id="rId6" Target="../media/image57.png" Type="http://schemas.openxmlformats.org/officeDocument/2006/relationships/image"/><Relationship Id="rId7" Target="../media/image58.png" Type="http://schemas.openxmlformats.org/officeDocument/2006/relationships/image"/><Relationship Id="rId8" Target="../media/image59.png" Type="http://schemas.openxmlformats.org/officeDocument/2006/relationships/image"/><Relationship Id="rId9" Target="../media/image6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68.png" Type="http://schemas.openxmlformats.org/officeDocument/2006/relationships/image"/><Relationship Id="rId5" Target="../media/image6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70.png" Type="http://schemas.openxmlformats.org/officeDocument/2006/relationships/image"/><Relationship Id="rId5" Target="../media/image71.svg" Type="http://schemas.openxmlformats.org/officeDocument/2006/relationships/image"/><Relationship Id="rId6" Target="../media/image72.png" Type="http://schemas.openxmlformats.org/officeDocument/2006/relationships/image"/><Relationship Id="rId7" Target="../media/image73.svg" Type="http://schemas.openxmlformats.org/officeDocument/2006/relationships/image"/><Relationship Id="rId8" Target="../media/image74.png" Type="http://schemas.openxmlformats.org/officeDocument/2006/relationships/image"/><Relationship Id="rId9" Target="../media/image75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76.png" Type="http://schemas.openxmlformats.org/officeDocument/2006/relationships/image"/><Relationship Id="rId5" Target="../media/image77.svg" Type="http://schemas.openxmlformats.org/officeDocument/2006/relationships/image"/><Relationship Id="rId6" Target="../media/image74.png" Type="http://schemas.openxmlformats.org/officeDocument/2006/relationships/image"/><Relationship Id="rId7" Target="../media/image75.svg" Type="http://schemas.openxmlformats.org/officeDocument/2006/relationships/image"/><Relationship Id="rId8" Target="../media/image78.png" Type="http://schemas.openxmlformats.org/officeDocument/2006/relationships/image"/><Relationship Id="rId9" Target="../media/image79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2585410"/>
            <a:ext cx="18502431" cy="2826589"/>
            <a:chOff x="0" y="0"/>
            <a:chExt cx="4873068" cy="74445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73068" cy="744451"/>
            </a:xfrm>
            <a:custGeom>
              <a:avLst/>
              <a:gdLst/>
              <a:ahLst/>
              <a:cxnLst/>
              <a:rect r="r" b="b" t="t" l="l"/>
              <a:pathLst>
                <a:path h="744451" w="4873068">
                  <a:moveTo>
                    <a:pt x="0" y="0"/>
                  </a:moveTo>
                  <a:lnTo>
                    <a:pt x="4873068" y="0"/>
                  </a:lnTo>
                  <a:lnTo>
                    <a:pt x="4873068" y="744451"/>
                  </a:lnTo>
                  <a:lnTo>
                    <a:pt x="0" y="744451"/>
                  </a:lnTo>
                  <a:close/>
                </a:path>
              </a:pathLst>
            </a:custGeom>
            <a:gradFill rotWithShape="true">
              <a:gsLst>
                <a:gs pos="0">
                  <a:srgbClr val="000000">
                    <a:alpha val="41000"/>
                  </a:srgbClr>
                </a:gs>
                <a:gs pos="50000">
                  <a:srgbClr val="0F2949">
                    <a:alpha val="0"/>
                  </a:srgbClr>
                </a:gs>
                <a:gs pos="100000">
                  <a:srgbClr val="328DFF">
                    <a:alpha val="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73068" cy="7825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5195684" y="7042037"/>
            <a:ext cx="7897171" cy="720396"/>
          </a:xfrm>
          <a:custGeom>
            <a:avLst/>
            <a:gdLst/>
            <a:ahLst/>
            <a:cxnLst/>
            <a:rect r="r" b="b" t="t" l="l"/>
            <a:pathLst>
              <a:path h="720396" w="7897171">
                <a:moveTo>
                  <a:pt x="0" y="0"/>
                </a:moveTo>
                <a:lnTo>
                  <a:pt x="7897170" y="0"/>
                </a:lnTo>
                <a:lnTo>
                  <a:pt x="7897170" y="720396"/>
                </a:lnTo>
                <a:lnTo>
                  <a:pt x="0" y="72039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05227" y="2749372"/>
            <a:ext cx="2321984" cy="2321984"/>
          </a:xfrm>
          <a:custGeom>
            <a:avLst/>
            <a:gdLst/>
            <a:ahLst/>
            <a:cxnLst/>
            <a:rect r="r" b="b" t="t" l="l"/>
            <a:pathLst>
              <a:path h="2321984" w="2321984">
                <a:moveTo>
                  <a:pt x="0" y="0"/>
                </a:moveTo>
                <a:lnTo>
                  <a:pt x="2321984" y="0"/>
                </a:lnTo>
                <a:lnTo>
                  <a:pt x="2321984" y="2321984"/>
                </a:lnTo>
                <a:lnTo>
                  <a:pt x="0" y="23219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71" t="0" r="-261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913950" y="3032722"/>
            <a:ext cx="16992186" cy="1583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77"/>
              </a:lnSpc>
              <a:spcBef>
                <a:spcPct val="0"/>
              </a:spcBef>
            </a:pPr>
            <a:r>
              <a:rPr lang="en-US" sz="9269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SISTEMA ANALÍTICO DE CONSUMO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5195684" y="8059088"/>
            <a:ext cx="7897171" cy="720396"/>
          </a:xfrm>
          <a:custGeom>
            <a:avLst/>
            <a:gdLst/>
            <a:ahLst/>
            <a:cxnLst/>
            <a:rect r="r" b="b" t="t" l="l"/>
            <a:pathLst>
              <a:path h="720396" w="7897171">
                <a:moveTo>
                  <a:pt x="0" y="0"/>
                </a:moveTo>
                <a:lnTo>
                  <a:pt x="7897170" y="0"/>
                </a:lnTo>
                <a:lnTo>
                  <a:pt x="7897170" y="720396"/>
                </a:lnTo>
                <a:lnTo>
                  <a:pt x="0" y="72039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05227" y="6975362"/>
            <a:ext cx="4637382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ebastián Solar Aburto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05227" y="7992413"/>
            <a:ext cx="4576614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33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arlos Catalán Donoso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883519" y="7078703"/>
            <a:ext cx="5083817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DE59"/>
                </a:solidFill>
                <a:latin typeface="Open Sans"/>
                <a:ea typeface="Open Sans"/>
                <a:cs typeface="Open Sans"/>
                <a:sym typeface="Open Sans"/>
              </a:rPr>
              <a:t>B</a:t>
            </a:r>
            <a:r>
              <a:rPr lang="en-US" sz="3399">
                <a:solidFill>
                  <a:srgbClr val="FFDE59"/>
                </a:solidFill>
                <a:latin typeface="Open Sans"/>
                <a:ea typeface="Open Sans"/>
                <a:cs typeface="Open Sans"/>
                <a:sym typeface="Open Sans"/>
              </a:rPr>
              <a:t>ackend y Arquitectura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883519" y="8095754"/>
            <a:ext cx="652150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DE59"/>
                </a:solidFill>
                <a:latin typeface="Open Sans"/>
                <a:ea typeface="Open Sans"/>
                <a:cs typeface="Open Sans"/>
                <a:sym typeface="Open Sans"/>
              </a:rPr>
              <a:t>Esp</a:t>
            </a:r>
            <a:r>
              <a:rPr lang="en-US" sz="3399">
                <a:solidFill>
                  <a:srgbClr val="FFDE59"/>
                </a:solidFill>
                <a:latin typeface="Open Sans"/>
                <a:ea typeface="Open Sans"/>
                <a:cs typeface="Open Sans"/>
                <a:sym typeface="Open Sans"/>
              </a:rPr>
              <a:t>ecialista en Frontend y Datos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841454" y="2409616"/>
            <a:ext cx="916704" cy="946275"/>
          </a:xfrm>
          <a:custGeom>
            <a:avLst/>
            <a:gdLst/>
            <a:ahLst/>
            <a:cxnLst/>
            <a:rect r="r" b="b" t="t" l="l"/>
            <a:pathLst>
              <a:path h="946275" w="916704">
                <a:moveTo>
                  <a:pt x="0" y="0"/>
                </a:moveTo>
                <a:lnTo>
                  <a:pt x="916705" y="0"/>
                </a:lnTo>
                <a:lnTo>
                  <a:pt x="916705" y="946275"/>
                </a:lnTo>
                <a:lnTo>
                  <a:pt x="0" y="9462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082830" y="2243566"/>
            <a:ext cx="917547" cy="1123944"/>
          </a:xfrm>
          <a:custGeom>
            <a:avLst/>
            <a:gdLst/>
            <a:ahLst/>
            <a:cxnLst/>
            <a:rect r="r" b="b" t="t" l="l"/>
            <a:pathLst>
              <a:path h="1123944" w="917547">
                <a:moveTo>
                  <a:pt x="0" y="0"/>
                </a:moveTo>
                <a:lnTo>
                  <a:pt x="917547" y="0"/>
                </a:lnTo>
                <a:lnTo>
                  <a:pt x="917547" y="1123944"/>
                </a:lnTo>
                <a:lnTo>
                  <a:pt x="0" y="112394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76454" y="411919"/>
            <a:ext cx="6565000" cy="1647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54"/>
              </a:lnSpc>
            </a:pPr>
            <a:r>
              <a:rPr lang="en-US" sz="6181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DESCRIPCIÓN</a:t>
            </a:r>
            <a:r>
              <a:rPr lang="en-US" b="true" sz="618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</a:p>
          <a:p>
            <a:pPr algn="ctr">
              <a:lnSpc>
                <a:spcPts val="4536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888476" y="2314366"/>
            <a:ext cx="5740301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 u="sng">
                <a:solidFill>
                  <a:srgbClr val="FFDE5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Problema o Dolor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36511" y="2314366"/>
            <a:ext cx="7287071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 u="sng">
                <a:solidFill>
                  <a:srgbClr val="74CC6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Propuesta de solución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608627" y="3458636"/>
            <a:ext cx="7474203" cy="6062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1"/>
              </a:lnSpc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Desarrollar una plataforma web que centraliza precios de supermercados, re</a:t>
            </a: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gistra su variación histórica y transforma estos datos en información estratégica.</a:t>
            </a:r>
          </a:p>
          <a:p>
            <a:pPr algn="l">
              <a:lnSpc>
                <a:spcPts val="2861"/>
              </a:lnSpc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Pymes y Supermercados:</a:t>
            </a:r>
          </a:p>
          <a:p>
            <a:pPr algn="l">
              <a:lnSpc>
                <a:spcPts val="2861"/>
              </a:lnSpc>
            </a:pP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Dashboards comparativos de precios.</a:t>
            </a: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Variación histórica y tendencias por categoría.</a:t>
            </a: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Oportunidades de abastecimiento y márgenes.</a:t>
            </a: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Comportamiento real de usuarios y productos más demandados.</a:t>
            </a:r>
          </a:p>
          <a:p>
            <a:pPr algn="l">
              <a:lnSpc>
                <a:spcPts val="2861"/>
              </a:lnSpc>
            </a:pPr>
          </a:p>
          <a:p>
            <a:pPr algn="l">
              <a:lnSpc>
                <a:spcPts val="2861"/>
              </a:lnSpc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Consumidores:</a:t>
            </a:r>
          </a:p>
          <a:p>
            <a:pPr algn="l">
              <a:lnSpc>
                <a:spcPts val="2861"/>
              </a:lnSpc>
            </a:pP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Comparación de precios en tiempo real.</a:t>
            </a:r>
          </a:p>
          <a:p>
            <a:pPr algn="l" marL="441241" indent="-220621" lvl="1">
              <a:lnSpc>
                <a:spcPts val="2861"/>
              </a:lnSpc>
              <a:buFont typeface="Arial"/>
              <a:buChar char="•"/>
            </a:pPr>
            <a:r>
              <a:rPr lang="en-US" sz="204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Visualización clara de si un precio está subiendo o bajando.</a:t>
            </a:r>
          </a:p>
          <a:p>
            <a:pPr algn="l">
              <a:lnSpc>
                <a:spcPts val="2861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888476" y="3411288"/>
            <a:ext cx="6661871" cy="6157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2"/>
              </a:lnSpc>
            </a:pPr>
            <a:r>
              <a:rPr lang="en-US" sz="222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 falta de una plataforma centralizada de precios de supermercados en Chile </a:t>
            </a:r>
            <a:r>
              <a:rPr lang="en-US" sz="222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genera un problema crítico para el mercado:</a:t>
            </a:r>
          </a:p>
          <a:p>
            <a:pPr algn="l">
              <a:lnSpc>
                <a:spcPts val="3112"/>
              </a:lnSpc>
            </a:pPr>
          </a:p>
          <a:p>
            <a:pPr algn="l" marL="480061" indent="-240030" lvl="1">
              <a:lnSpc>
                <a:spcPts val="3112"/>
              </a:lnSpc>
              <a:buFont typeface="Arial"/>
              <a:buChar char="•"/>
            </a:pPr>
            <a:r>
              <a:rPr lang="en-US" sz="222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Pymes: No saben dónde abastecerse al mejor precio, lo que reduce sus márgenes y competitividad.</a:t>
            </a:r>
          </a:p>
          <a:p>
            <a:pPr algn="l">
              <a:lnSpc>
                <a:spcPts val="3112"/>
              </a:lnSpc>
            </a:pPr>
          </a:p>
          <a:p>
            <a:pPr algn="l" marL="480061" indent="-240030" lvl="1">
              <a:lnSpc>
                <a:spcPts val="3112"/>
              </a:lnSpc>
              <a:buFont typeface="Arial"/>
              <a:buChar char="•"/>
            </a:pPr>
            <a:r>
              <a:rPr lang="en-US" sz="222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Supermercados: Carecen de visibilidad real de su posición frente a la competencia y no pueden ajustar estrategias comerciales.</a:t>
            </a:r>
          </a:p>
          <a:p>
            <a:pPr algn="l">
              <a:lnSpc>
                <a:spcPts val="3112"/>
              </a:lnSpc>
            </a:pPr>
          </a:p>
          <a:p>
            <a:pPr algn="l" marL="480061" indent="-240030" lvl="1">
              <a:lnSpc>
                <a:spcPts val="3112"/>
              </a:lnSpc>
              <a:buFont typeface="Arial"/>
              <a:buChar char="•"/>
            </a:pPr>
            <a:r>
              <a:rPr lang="en-US" sz="222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Consumidores: Pierden tiempo comparando precios entre múltiples sitios sin información histórica.</a:t>
            </a:r>
          </a:p>
          <a:p>
            <a:pPr algn="l">
              <a:lnSpc>
                <a:spcPts val="3112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98691" y="5702027"/>
            <a:ext cx="3893960" cy="3871452"/>
            <a:chOff x="0" y="0"/>
            <a:chExt cx="958644" cy="95310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58644" cy="953103"/>
            </a:xfrm>
            <a:custGeom>
              <a:avLst/>
              <a:gdLst/>
              <a:ahLst/>
              <a:cxnLst/>
              <a:rect r="r" b="b" t="t" l="l"/>
              <a:pathLst>
                <a:path h="953103" w="958644">
                  <a:moveTo>
                    <a:pt x="958644" y="476551"/>
                  </a:moveTo>
                  <a:lnTo>
                    <a:pt x="552244" y="0"/>
                  </a:lnTo>
                  <a:lnTo>
                    <a:pt x="552244" y="203200"/>
                  </a:lnTo>
                  <a:lnTo>
                    <a:pt x="0" y="203200"/>
                  </a:lnTo>
                  <a:lnTo>
                    <a:pt x="0" y="749903"/>
                  </a:lnTo>
                  <a:lnTo>
                    <a:pt x="552244" y="749903"/>
                  </a:lnTo>
                  <a:lnTo>
                    <a:pt x="552244" y="953103"/>
                  </a:lnTo>
                  <a:lnTo>
                    <a:pt x="958644" y="476551"/>
                  </a:lnTo>
                  <a:close/>
                </a:path>
              </a:pathLst>
            </a:custGeom>
            <a:solidFill>
              <a:srgbClr val="75B2E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165100"/>
              <a:ext cx="857044" cy="5848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058437" y="850425"/>
            <a:ext cx="9944695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FFDE5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Obj</a:t>
            </a:r>
            <a:r>
              <a:rPr lang="en-US" b="true" sz="5199">
                <a:solidFill>
                  <a:srgbClr val="FFDE5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etivo General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4836140" y="5702027"/>
            <a:ext cx="3893960" cy="3871452"/>
            <a:chOff x="0" y="0"/>
            <a:chExt cx="958644" cy="95310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58644" cy="953103"/>
            </a:xfrm>
            <a:custGeom>
              <a:avLst/>
              <a:gdLst/>
              <a:ahLst/>
              <a:cxnLst/>
              <a:rect r="r" b="b" t="t" l="l"/>
              <a:pathLst>
                <a:path h="953103" w="958644">
                  <a:moveTo>
                    <a:pt x="958644" y="476551"/>
                  </a:moveTo>
                  <a:lnTo>
                    <a:pt x="552244" y="0"/>
                  </a:lnTo>
                  <a:lnTo>
                    <a:pt x="552244" y="203200"/>
                  </a:lnTo>
                  <a:lnTo>
                    <a:pt x="0" y="203200"/>
                  </a:lnTo>
                  <a:lnTo>
                    <a:pt x="0" y="749903"/>
                  </a:lnTo>
                  <a:lnTo>
                    <a:pt x="552244" y="749903"/>
                  </a:lnTo>
                  <a:lnTo>
                    <a:pt x="552244" y="953103"/>
                  </a:lnTo>
                  <a:lnTo>
                    <a:pt x="958644" y="476551"/>
                  </a:lnTo>
                  <a:close/>
                </a:path>
              </a:pathLst>
            </a:custGeom>
            <a:solidFill>
              <a:srgbClr val="75B2E9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184150"/>
              <a:ext cx="857044" cy="5657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07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278495" y="5702027"/>
            <a:ext cx="3893960" cy="3871452"/>
            <a:chOff x="0" y="0"/>
            <a:chExt cx="958644" cy="95310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58644" cy="953103"/>
            </a:xfrm>
            <a:custGeom>
              <a:avLst/>
              <a:gdLst/>
              <a:ahLst/>
              <a:cxnLst/>
              <a:rect r="r" b="b" t="t" l="l"/>
              <a:pathLst>
                <a:path h="953103" w="958644">
                  <a:moveTo>
                    <a:pt x="958644" y="476551"/>
                  </a:moveTo>
                  <a:lnTo>
                    <a:pt x="552244" y="0"/>
                  </a:lnTo>
                  <a:lnTo>
                    <a:pt x="552244" y="203200"/>
                  </a:lnTo>
                  <a:lnTo>
                    <a:pt x="0" y="203200"/>
                  </a:lnTo>
                  <a:lnTo>
                    <a:pt x="0" y="749903"/>
                  </a:lnTo>
                  <a:lnTo>
                    <a:pt x="552244" y="749903"/>
                  </a:lnTo>
                  <a:lnTo>
                    <a:pt x="552244" y="953103"/>
                  </a:lnTo>
                  <a:lnTo>
                    <a:pt x="958644" y="476551"/>
                  </a:lnTo>
                  <a:close/>
                </a:path>
              </a:pathLst>
            </a:custGeom>
            <a:solidFill>
              <a:srgbClr val="75B2E9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184150"/>
              <a:ext cx="857044" cy="5657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07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720849" y="5676453"/>
            <a:ext cx="3893960" cy="3871452"/>
            <a:chOff x="0" y="0"/>
            <a:chExt cx="958644" cy="95310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58644" cy="953103"/>
            </a:xfrm>
            <a:custGeom>
              <a:avLst/>
              <a:gdLst/>
              <a:ahLst/>
              <a:cxnLst/>
              <a:rect r="r" b="b" t="t" l="l"/>
              <a:pathLst>
                <a:path h="953103" w="958644">
                  <a:moveTo>
                    <a:pt x="958644" y="476551"/>
                  </a:moveTo>
                  <a:lnTo>
                    <a:pt x="552244" y="0"/>
                  </a:lnTo>
                  <a:lnTo>
                    <a:pt x="552244" y="203200"/>
                  </a:lnTo>
                  <a:lnTo>
                    <a:pt x="0" y="203200"/>
                  </a:lnTo>
                  <a:lnTo>
                    <a:pt x="0" y="749903"/>
                  </a:lnTo>
                  <a:lnTo>
                    <a:pt x="552244" y="749903"/>
                  </a:lnTo>
                  <a:lnTo>
                    <a:pt x="552244" y="953103"/>
                  </a:lnTo>
                  <a:lnTo>
                    <a:pt x="958644" y="476551"/>
                  </a:lnTo>
                  <a:close/>
                </a:path>
              </a:pathLst>
            </a:custGeom>
            <a:solidFill>
              <a:srgbClr val="75B2E9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184150"/>
              <a:ext cx="857044" cy="5657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707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3362786" y="4284948"/>
            <a:ext cx="1455608" cy="1455608"/>
          </a:xfrm>
          <a:custGeom>
            <a:avLst/>
            <a:gdLst/>
            <a:ahLst/>
            <a:cxnLst/>
            <a:rect r="r" b="b" t="t" l="l"/>
            <a:pathLst>
              <a:path h="1455608" w="1455608">
                <a:moveTo>
                  <a:pt x="0" y="0"/>
                </a:moveTo>
                <a:lnTo>
                  <a:pt x="1455608" y="0"/>
                </a:lnTo>
                <a:lnTo>
                  <a:pt x="1455608" y="1455608"/>
                </a:lnTo>
                <a:lnTo>
                  <a:pt x="0" y="145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4886348" y="346737"/>
            <a:ext cx="651546" cy="1544613"/>
          </a:xfrm>
          <a:custGeom>
            <a:avLst/>
            <a:gdLst/>
            <a:ahLst/>
            <a:cxnLst/>
            <a:rect r="r" b="b" t="t" l="l"/>
            <a:pathLst>
              <a:path h="1544613" w="651546">
                <a:moveTo>
                  <a:pt x="0" y="0"/>
                </a:moveTo>
                <a:lnTo>
                  <a:pt x="651546" y="0"/>
                </a:lnTo>
                <a:lnTo>
                  <a:pt x="651546" y="1544613"/>
                </a:lnTo>
                <a:lnTo>
                  <a:pt x="0" y="154461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0" y="2026749"/>
            <a:ext cx="18248234" cy="1967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20"/>
              </a:lnSpc>
            </a:pPr>
            <a:r>
              <a:rPr lang="en-US" sz="2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Desarrollar una plataforma</a:t>
            </a:r>
            <a:r>
              <a:rPr lang="en-US" sz="2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que centralice los precios de supermercados y convierta esa información en inteligencia comercial para Pymes y supermercados mediante dashboards comparativos, variación histórica y análisis de tendencias; integrando además una herramienta de comparación en tiempo real para consumidores.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212121" y="4446458"/>
            <a:ext cx="7823992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FFDE5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Obj</a:t>
            </a:r>
            <a:r>
              <a:rPr lang="en-US" b="true" sz="5199">
                <a:solidFill>
                  <a:srgbClr val="FFDE5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etivos Específicos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98691" y="7105474"/>
            <a:ext cx="3310605" cy="8470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98"/>
              </a:lnSpc>
            </a:pPr>
            <a:r>
              <a:rPr lang="en-US" sz="164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r>
              <a:rPr lang="en-US" sz="164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antener un 95% de precios actualizados diariamente en los 4 supermercados.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905886" y="6917168"/>
            <a:ext cx="3211155" cy="1172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19"/>
              </a:lnSpc>
              <a:spcBef>
                <a:spcPct val="0"/>
              </a:spcBef>
            </a:pP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mpa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ra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encias te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pora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les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me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da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ic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 búsque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das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(T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ime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stre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 v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rime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2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)</a:t>
            </a:r>
            <a:r>
              <a:rPr lang="en-US" sz="172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347212" y="7040001"/>
            <a:ext cx="3219410" cy="912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85"/>
              </a:lnSpc>
              <a:spcBef>
                <a:spcPct val="0"/>
              </a:spcBef>
            </a:pPr>
            <a:r>
              <a:rPr lang="en-US" sz="177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Garant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za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 tiempo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 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ue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 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&lt;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5 segundos en 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bú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eda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re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po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75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789567" y="7105474"/>
            <a:ext cx="3151710" cy="854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61"/>
              </a:lnSpc>
              <a:spcBef>
                <a:spcPct val="0"/>
              </a:spcBef>
            </a:pP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Alcanzar 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8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0% de 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ati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sf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cción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en pr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usa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bilid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20</a:t>
            </a:r>
            <a:r>
              <a:rPr lang="en-US" sz="1687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usuarios.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329418" y="605259"/>
            <a:ext cx="1422113" cy="1422113"/>
          </a:xfrm>
          <a:custGeom>
            <a:avLst/>
            <a:gdLst/>
            <a:ahLst/>
            <a:cxnLst/>
            <a:rect r="r" b="b" t="t" l="l"/>
            <a:pathLst>
              <a:path h="1422113" w="1422113">
                <a:moveTo>
                  <a:pt x="0" y="0"/>
                </a:moveTo>
                <a:lnTo>
                  <a:pt x="1422113" y="0"/>
                </a:lnTo>
                <a:lnTo>
                  <a:pt x="1422113" y="1422113"/>
                </a:lnTo>
                <a:lnTo>
                  <a:pt x="0" y="14221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81106" y="2367943"/>
            <a:ext cx="1744203" cy="1500015"/>
          </a:xfrm>
          <a:custGeom>
            <a:avLst/>
            <a:gdLst/>
            <a:ahLst/>
            <a:cxnLst/>
            <a:rect r="r" b="b" t="t" l="l"/>
            <a:pathLst>
              <a:path h="1500015" w="1744203">
                <a:moveTo>
                  <a:pt x="0" y="0"/>
                </a:moveTo>
                <a:lnTo>
                  <a:pt x="1744203" y="0"/>
                </a:lnTo>
                <a:lnTo>
                  <a:pt x="1744203" y="1500015"/>
                </a:lnTo>
                <a:lnTo>
                  <a:pt x="0" y="150001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96583" y="777842"/>
            <a:ext cx="3209533" cy="962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b="true" sz="56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Alcances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77013" y="2674129"/>
            <a:ext cx="5387137" cy="9626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40"/>
              </a:lnSpc>
            </a:pPr>
            <a:r>
              <a:rPr lang="en-US" b="true" sz="56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limitaciones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67592" y="2339368"/>
            <a:ext cx="8547417" cy="7491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1) </a:t>
            </a: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Aplicación Web Completa</a:t>
            </a:r>
          </a:p>
          <a:p>
            <a:pPr algn="l">
              <a:lnSpc>
                <a:spcPts val="2480"/>
              </a:lnSpc>
            </a:pPr>
          </a:p>
          <a:p>
            <a:pPr algn="l" marL="382473" indent="-191237" lvl="1">
              <a:lnSpc>
                <a:spcPts val="2480"/>
              </a:lnSpc>
              <a:buFont typeface="Arial"/>
              <a:buChar char="•"/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Catálogo de productos.</a:t>
            </a:r>
          </a:p>
          <a:p>
            <a:pPr algn="l" marL="382473" indent="-191237" lvl="1">
              <a:lnSpc>
                <a:spcPts val="2480"/>
              </a:lnSpc>
              <a:buFont typeface="Arial"/>
              <a:buChar char="•"/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Panel de Administración.</a:t>
            </a:r>
          </a:p>
          <a:p>
            <a:pPr algn="l" marL="382473" indent="-191237" lvl="1">
              <a:lnSpc>
                <a:spcPts val="2480"/>
              </a:lnSpc>
              <a:buFont typeface="Arial"/>
              <a:buChar char="•"/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Dashboard Analítico.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2) </a:t>
            </a: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Sistema de Scraping Funcional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 implementan scrapers asíncronos en Playwright capaces de extraer y actualizar datos desde Jumbo, Tottus, Unimarc y acuenta, asegurando información confiable para análisis histórico y comparativo.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3) Gestión de Usuarios y Roles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sistema incluye un flujo completo de autenticación (registro, login, perfiles) y una clara separación de roles entre Cliente y Administrador, permitiendo un acceso seguro al módulo analítico.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4) Módulo de Analítica</a:t>
            </a:r>
          </a:p>
          <a:p>
            <a:pPr algn="l">
              <a:lnSpc>
                <a:spcPts val="2480"/>
              </a:lnSpc>
            </a:pPr>
          </a:p>
          <a:p>
            <a:pPr algn="l">
              <a:lnSpc>
                <a:spcPts val="2480"/>
              </a:lnSpc>
            </a:pPr>
            <a:r>
              <a:rPr lang="en-US" sz="177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 capturan, almacenan y procesan interacciones clave de los usuarios—clics en productos, búsquedas y patrones de navegación—para generar inteligencia de mercado orientada a apoyar decisiones comerciales de Pymes y supermercados.</a:t>
            </a:r>
          </a:p>
          <a:p>
            <a:pPr algn="l">
              <a:lnSpc>
                <a:spcPts val="2200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0156398" y="5095875"/>
            <a:ext cx="7863154" cy="2406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64"/>
              </a:lnSpc>
            </a:pPr>
            <a:r>
              <a:rPr lang="en-US" sz="276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1. El sist</a:t>
            </a:r>
            <a:r>
              <a:rPr lang="en-US" sz="276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ema no procesa compras.</a:t>
            </a:r>
          </a:p>
          <a:p>
            <a:pPr algn="l">
              <a:lnSpc>
                <a:spcPts val="3864"/>
              </a:lnSpc>
            </a:pPr>
          </a:p>
          <a:p>
            <a:pPr algn="l">
              <a:lnSpc>
                <a:spcPts val="3864"/>
              </a:lnSpc>
            </a:pPr>
            <a:r>
              <a:rPr lang="en-US" sz="276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2. Catálogo acotado a la categoría “Despensa”.</a:t>
            </a:r>
          </a:p>
          <a:p>
            <a:pPr algn="l">
              <a:lnSpc>
                <a:spcPts val="3864"/>
              </a:lnSpc>
            </a:pPr>
          </a:p>
          <a:p>
            <a:pPr algn="l">
              <a:lnSpc>
                <a:spcPts val="3864"/>
              </a:lnSpc>
            </a:pPr>
            <a:r>
              <a:rPr lang="en-US" sz="276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3. Dependencia de sitios externos.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graphicFrame>
        <p:nvGraphicFramePr>
          <p:cNvPr name="Object 4" id="4"/>
          <p:cNvGraphicFramePr/>
          <p:nvPr/>
        </p:nvGraphicFramePr>
        <p:xfrm>
          <a:off x="10345199" y="2048767"/>
          <a:ext cx="3771900" cy="7000875"/>
        </p:xfrm>
        <a:graphic>
          <a:graphicData uri="http://schemas.openxmlformats.org/presentationml/2006/ole">
            <p:oleObj imgW="5168900" imgH="83947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Freeform 5" id="5"/>
          <p:cNvSpPr/>
          <p:nvPr/>
        </p:nvSpPr>
        <p:spPr>
          <a:xfrm flipH="false" flipV="false" rot="2179206">
            <a:off x="17433486" y="7355765"/>
            <a:ext cx="586205" cy="1098277"/>
          </a:xfrm>
          <a:custGeom>
            <a:avLst/>
            <a:gdLst/>
            <a:ahLst/>
            <a:cxnLst/>
            <a:rect r="r" b="b" t="t" l="l"/>
            <a:pathLst>
              <a:path h="1098277" w="586205">
                <a:moveTo>
                  <a:pt x="0" y="0"/>
                </a:moveTo>
                <a:lnTo>
                  <a:pt x="586205" y="0"/>
                </a:lnTo>
                <a:lnTo>
                  <a:pt x="586205" y="1098277"/>
                </a:lnTo>
                <a:lnTo>
                  <a:pt x="0" y="109827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25972" y="2010667"/>
            <a:ext cx="9640149" cy="78225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Metodología híbrida: á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gil y modular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Basada en iteraciones cortas (sprints), revisión continua y mejora progresiva, combinando la estructura por etapas con prácticas ágiles de retroalimentación y ajustes incrementales.</a:t>
            </a:r>
          </a:p>
          <a:p>
            <a:pPr algn="l">
              <a:lnSpc>
                <a:spcPts val="2940"/>
              </a:lnSpc>
            </a:pP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Etapas principales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1.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Análisis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Definición de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 problema,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requerimientos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perfiles de usuario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Identificación de la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fuentes de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datos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ec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dades ana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ític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2.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Diseño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Arquitectura del sistema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modelado de datos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Prototipos de interfaz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estructura de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visualizaciones.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3.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Desarrollo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(Iterativo)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Implementación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modular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scraping,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API y vistas.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Avances por sprints con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inte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ción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continua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ju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tes pr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esivo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s.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4.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Pruebas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Validación funciona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l, analít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 y d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rendimiento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 marL="453396" indent="-226698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or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rección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 errores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evaluación con usuarios piloto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5. </a:t>
            </a:r>
            <a:r>
              <a:rPr lang="en-US" sz="21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Despliegue</a:t>
            </a:r>
          </a:p>
          <a:p>
            <a:pPr algn="l" marL="474986" indent="-237493" lvl="1">
              <a:lnSpc>
                <a:spcPts val="3080"/>
              </a:lnSpc>
              <a:buFont typeface="Arial"/>
              <a:buChar char="•"/>
            </a:pP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Documentación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final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p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esta en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ma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ch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 del sistema 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 prese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ci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ó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proyecto</a:t>
            </a:r>
            <a:r>
              <a:rPr lang="en-US" sz="22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9448485" y="343279"/>
            <a:ext cx="1334857" cy="1370841"/>
          </a:xfrm>
          <a:custGeom>
            <a:avLst/>
            <a:gdLst/>
            <a:ahLst/>
            <a:cxnLst/>
            <a:rect r="r" b="b" t="t" l="l"/>
            <a:pathLst>
              <a:path h="1370841" w="1334857">
                <a:moveTo>
                  <a:pt x="0" y="0"/>
                </a:moveTo>
                <a:lnTo>
                  <a:pt x="1334857" y="0"/>
                </a:lnTo>
                <a:lnTo>
                  <a:pt x="1334857" y="1370842"/>
                </a:lnTo>
                <a:lnTo>
                  <a:pt x="0" y="137084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-860371" y="430485"/>
            <a:ext cx="10976285" cy="935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82"/>
              </a:lnSpc>
            </a:pPr>
            <a:r>
              <a:rPr lang="en-US" sz="5558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Metodolo</a:t>
            </a:r>
            <a:r>
              <a:rPr lang="en-US" b="true" sz="5558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gía de trabajo 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88867" y="1603728"/>
            <a:ext cx="15310266" cy="7869838"/>
          </a:xfrm>
          <a:custGeom>
            <a:avLst/>
            <a:gdLst/>
            <a:ahLst/>
            <a:cxnLst/>
            <a:rect r="r" b="b" t="t" l="l"/>
            <a:pathLst>
              <a:path h="7869838" w="15310266">
                <a:moveTo>
                  <a:pt x="0" y="0"/>
                </a:moveTo>
                <a:lnTo>
                  <a:pt x="15310266" y="0"/>
                </a:lnTo>
                <a:lnTo>
                  <a:pt x="15310266" y="7869838"/>
                </a:lnTo>
                <a:lnTo>
                  <a:pt x="0" y="78698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730" r="0" b="-173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039532" y="7079634"/>
            <a:ext cx="398700" cy="448537"/>
          </a:xfrm>
          <a:custGeom>
            <a:avLst/>
            <a:gdLst/>
            <a:ahLst/>
            <a:cxnLst/>
            <a:rect r="r" b="b" t="t" l="l"/>
            <a:pathLst>
              <a:path h="448537" w="398700">
                <a:moveTo>
                  <a:pt x="0" y="0"/>
                </a:moveTo>
                <a:lnTo>
                  <a:pt x="398700" y="0"/>
                </a:lnTo>
                <a:lnTo>
                  <a:pt x="398700" y="448538"/>
                </a:lnTo>
                <a:lnTo>
                  <a:pt x="0" y="4485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-760930">
            <a:off x="5212357" y="1792668"/>
            <a:ext cx="1800767" cy="715858"/>
            <a:chOff x="0" y="0"/>
            <a:chExt cx="2044629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44629" cy="812800"/>
            </a:xfrm>
            <a:custGeom>
              <a:avLst/>
              <a:gdLst/>
              <a:ahLst/>
              <a:cxnLst/>
              <a:rect r="r" b="b" t="t" l="l"/>
              <a:pathLst>
                <a:path h="812800" w="2044629">
                  <a:moveTo>
                    <a:pt x="2044629" y="406400"/>
                  </a:moveTo>
                  <a:lnTo>
                    <a:pt x="1638229" y="0"/>
                  </a:lnTo>
                  <a:lnTo>
                    <a:pt x="1638229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1638229" y="609600"/>
                  </a:lnTo>
                  <a:lnTo>
                    <a:pt x="1638229" y="812800"/>
                  </a:lnTo>
                  <a:lnTo>
                    <a:pt x="2044629" y="406400"/>
                  </a:lnTo>
                  <a:close/>
                </a:path>
              </a:pathLst>
            </a:custGeom>
            <a:solidFill>
              <a:srgbClr val="1800A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165100"/>
              <a:ext cx="1943029" cy="444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430495" y="5538647"/>
            <a:ext cx="1616773" cy="1540987"/>
            <a:chOff x="0" y="0"/>
            <a:chExt cx="812800" cy="7747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774700"/>
            </a:xfrm>
            <a:custGeom>
              <a:avLst/>
              <a:gdLst/>
              <a:ahLst/>
              <a:cxnLst/>
              <a:rect r="r" b="b" t="t" l="l"/>
              <a:pathLst>
                <a:path h="774700" w="812800">
                  <a:moveTo>
                    <a:pt x="406400" y="0"/>
                  </a:moveTo>
                  <a:lnTo>
                    <a:pt x="502338" y="295909"/>
                  </a:lnTo>
                  <a:lnTo>
                    <a:pt x="812800" y="295909"/>
                  </a:lnTo>
                  <a:lnTo>
                    <a:pt x="561631" y="478791"/>
                  </a:lnTo>
                  <a:lnTo>
                    <a:pt x="657569" y="774700"/>
                  </a:lnTo>
                  <a:lnTo>
                    <a:pt x="406400" y="591819"/>
                  </a:lnTo>
                  <a:lnTo>
                    <a:pt x="155231" y="774700"/>
                  </a:lnTo>
                  <a:lnTo>
                    <a:pt x="251169" y="478791"/>
                  </a:lnTo>
                  <a:lnTo>
                    <a:pt x="0" y="295909"/>
                  </a:lnTo>
                  <a:lnTo>
                    <a:pt x="310462" y="295909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1800A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228600" y="228600"/>
              <a:ext cx="355600" cy="3810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517721" y="253136"/>
            <a:ext cx="5769861" cy="941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22"/>
              </a:lnSpc>
            </a:pPr>
            <a:r>
              <a:rPr lang="en-US" sz="5516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Pl</a:t>
            </a:r>
            <a:r>
              <a:rPr lang="en-US" b="true" sz="5516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anificación </a:t>
            </a:r>
          </a:p>
        </p:txBody>
      </p:sp>
      <p:sp>
        <p:nvSpPr>
          <p:cNvPr name="TextBox 13" id="13"/>
          <p:cNvSpPr txBox="true"/>
          <p:nvPr/>
        </p:nvSpPr>
        <p:spPr>
          <a:xfrm rot="-755877">
            <a:off x="5266581" y="2000929"/>
            <a:ext cx="1582447" cy="2714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50"/>
              </a:lnSpc>
            </a:pPr>
            <a:r>
              <a:rPr lang="en-US" sz="1607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11 agosto 2025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701010" y="6125617"/>
            <a:ext cx="1109955" cy="4694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84"/>
              </a:lnSpc>
            </a:pPr>
            <a:r>
              <a:rPr lang="en-US" sz="134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17 noviembre 2025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51191" y="2249482"/>
            <a:ext cx="17785617" cy="7358799"/>
          </a:xfrm>
          <a:custGeom>
            <a:avLst/>
            <a:gdLst/>
            <a:ahLst/>
            <a:cxnLst/>
            <a:rect r="r" b="b" t="t" l="l"/>
            <a:pathLst>
              <a:path h="7358799" w="17785617">
                <a:moveTo>
                  <a:pt x="0" y="0"/>
                </a:moveTo>
                <a:lnTo>
                  <a:pt x="17785618" y="0"/>
                </a:lnTo>
                <a:lnTo>
                  <a:pt x="17785618" y="7358799"/>
                </a:lnTo>
                <a:lnTo>
                  <a:pt x="0" y="73587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-176424" y="286402"/>
            <a:ext cx="12616725" cy="1185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711"/>
              </a:lnSpc>
            </a:pPr>
            <a:r>
              <a:rPr lang="en-US" b="true" sz="6936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Arquitectura del software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539943" y="7099071"/>
            <a:ext cx="1258960" cy="819898"/>
          </a:xfrm>
          <a:custGeom>
            <a:avLst/>
            <a:gdLst/>
            <a:ahLst/>
            <a:cxnLst/>
            <a:rect r="r" b="b" t="t" l="l"/>
            <a:pathLst>
              <a:path h="819898" w="1258960">
                <a:moveTo>
                  <a:pt x="0" y="0"/>
                </a:moveTo>
                <a:lnTo>
                  <a:pt x="1258960" y="0"/>
                </a:lnTo>
                <a:lnTo>
                  <a:pt x="1258960" y="819897"/>
                </a:lnTo>
                <a:lnTo>
                  <a:pt x="0" y="8198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3193894" y="6969797"/>
            <a:ext cx="1155609" cy="1222854"/>
          </a:xfrm>
          <a:custGeom>
            <a:avLst/>
            <a:gdLst/>
            <a:ahLst/>
            <a:cxnLst/>
            <a:rect r="r" b="b" t="t" l="l"/>
            <a:pathLst>
              <a:path h="1222854" w="1155609">
                <a:moveTo>
                  <a:pt x="0" y="0"/>
                </a:moveTo>
                <a:lnTo>
                  <a:pt x="1155609" y="0"/>
                </a:lnTo>
                <a:lnTo>
                  <a:pt x="1155609" y="1222854"/>
                </a:lnTo>
                <a:lnTo>
                  <a:pt x="0" y="12228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433313" y="7037156"/>
            <a:ext cx="1214299" cy="1256713"/>
          </a:xfrm>
          <a:custGeom>
            <a:avLst/>
            <a:gdLst/>
            <a:ahLst/>
            <a:cxnLst/>
            <a:rect r="r" b="b" t="t" l="l"/>
            <a:pathLst>
              <a:path h="1256713" w="1214299">
                <a:moveTo>
                  <a:pt x="0" y="0"/>
                </a:moveTo>
                <a:lnTo>
                  <a:pt x="1214298" y="0"/>
                </a:lnTo>
                <a:lnTo>
                  <a:pt x="1214298" y="1256713"/>
                </a:lnTo>
                <a:lnTo>
                  <a:pt x="0" y="125671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428661" y="6938902"/>
            <a:ext cx="1516054" cy="1516054"/>
          </a:xfrm>
          <a:custGeom>
            <a:avLst/>
            <a:gdLst/>
            <a:ahLst/>
            <a:cxnLst/>
            <a:rect r="r" b="b" t="t" l="l"/>
            <a:pathLst>
              <a:path h="1516054" w="1516054">
                <a:moveTo>
                  <a:pt x="0" y="0"/>
                </a:moveTo>
                <a:lnTo>
                  <a:pt x="1516055" y="0"/>
                </a:lnTo>
                <a:lnTo>
                  <a:pt x="1516055" y="1516055"/>
                </a:lnTo>
                <a:lnTo>
                  <a:pt x="0" y="15160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699836" y="6969797"/>
            <a:ext cx="1267189" cy="1406035"/>
          </a:xfrm>
          <a:custGeom>
            <a:avLst/>
            <a:gdLst/>
            <a:ahLst/>
            <a:cxnLst/>
            <a:rect r="r" b="b" t="t" l="l"/>
            <a:pathLst>
              <a:path h="1406035" w="1267189">
                <a:moveTo>
                  <a:pt x="0" y="0"/>
                </a:moveTo>
                <a:lnTo>
                  <a:pt x="1267190" y="0"/>
                </a:lnTo>
                <a:lnTo>
                  <a:pt x="1267190" y="1406036"/>
                </a:lnTo>
                <a:lnTo>
                  <a:pt x="0" y="1406036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3796629" y="6836765"/>
            <a:ext cx="1488919" cy="1488919"/>
          </a:xfrm>
          <a:custGeom>
            <a:avLst/>
            <a:gdLst/>
            <a:ahLst/>
            <a:cxnLst/>
            <a:rect r="r" b="b" t="t" l="l"/>
            <a:pathLst>
              <a:path h="1488919" w="1488919">
                <a:moveTo>
                  <a:pt x="0" y="0"/>
                </a:moveTo>
                <a:lnTo>
                  <a:pt x="1488919" y="0"/>
                </a:lnTo>
                <a:lnTo>
                  <a:pt x="1488919" y="1488918"/>
                </a:lnTo>
                <a:lnTo>
                  <a:pt x="0" y="148891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630944" y="7119120"/>
            <a:ext cx="1214299" cy="1256713"/>
          </a:xfrm>
          <a:custGeom>
            <a:avLst/>
            <a:gdLst/>
            <a:ahLst/>
            <a:cxnLst/>
            <a:rect r="r" b="b" t="t" l="l"/>
            <a:pathLst>
              <a:path h="1256713" w="1214299">
                <a:moveTo>
                  <a:pt x="0" y="0"/>
                </a:moveTo>
                <a:lnTo>
                  <a:pt x="1214298" y="0"/>
                </a:lnTo>
                <a:lnTo>
                  <a:pt x="1214298" y="1256713"/>
                </a:lnTo>
                <a:lnTo>
                  <a:pt x="0" y="125671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352953" y="6947865"/>
            <a:ext cx="1465132" cy="954167"/>
          </a:xfrm>
          <a:custGeom>
            <a:avLst/>
            <a:gdLst/>
            <a:ahLst/>
            <a:cxnLst/>
            <a:rect r="r" b="b" t="t" l="l"/>
            <a:pathLst>
              <a:path h="954167" w="1465132">
                <a:moveTo>
                  <a:pt x="0" y="0"/>
                </a:moveTo>
                <a:lnTo>
                  <a:pt x="1465133" y="0"/>
                </a:lnTo>
                <a:lnTo>
                  <a:pt x="1465133" y="954168"/>
                </a:lnTo>
                <a:lnTo>
                  <a:pt x="0" y="95416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028700" y="3369999"/>
            <a:ext cx="1467747" cy="1091637"/>
          </a:xfrm>
          <a:custGeom>
            <a:avLst/>
            <a:gdLst/>
            <a:ahLst/>
            <a:cxnLst/>
            <a:rect r="r" b="b" t="t" l="l"/>
            <a:pathLst>
              <a:path h="1091637" w="1467747">
                <a:moveTo>
                  <a:pt x="0" y="0"/>
                </a:moveTo>
                <a:lnTo>
                  <a:pt x="1467747" y="0"/>
                </a:lnTo>
                <a:lnTo>
                  <a:pt x="1467747" y="1091637"/>
                </a:lnTo>
                <a:lnTo>
                  <a:pt x="0" y="1091637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4045803" y="3204923"/>
            <a:ext cx="1241770" cy="1188995"/>
          </a:xfrm>
          <a:custGeom>
            <a:avLst/>
            <a:gdLst/>
            <a:ahLst/>
            <a:cxnLst/>
            <a:rect r="r" b="b" t="t" l="l"/>
            <a:pathLst>
              <a:path h="1188995" w="1241770">
                <a:moveTo>
                  <a:pt x="0" y="0"/>
                </a:moveTo>
                <a:lnTo>
                  <a:pt x="1241771" y="0"/>
                </a:lnTo>
                <a:lnTo>
                  <a:pt x="1241771" y="1188995"/>
                </a:lnTo>
                <a:lnTo>
                  <a:pt x="0" y="1188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7081096" y="3204923"/>
            <a:ext cx="1214299" cy="1256713"/>
          </a:xfrm>
          <a:custGeom>
            <a:avLst/>
            <a:gdLst/>
            <a:ahLst/>
            <a:cxnLst/>
            <a:rect r="r" b="b" t="t" l="l"/>
            <a:pathLst>
              <a:path h="1256713" w="1214299">
                <a:moveTo>
                  <a:pt x="0" y="0"/>
                </a:moveTo>
                <a:lnTo>
                  <a:pt x="1214298" y="0"/>
                </a:lnTo>
                <a:lnTo>
                  <a:pt x="1214298" y="1256713"/>
                </a:lnTo>
                <a:lnTo>
                  <a:pt x="0" y="125671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4836899" y="2892503"/>
            <a:ext cx="1516054" cy="1516054"/>
          </a:xfrm>
          <a:custGeom>
            <a:avLst/>
            <a:gdLst/>
            <a:ahLst/>
            <a:cxnLst/>
            <a:rect r="r" b="b" t="t" l="l"/>
            <a:pathLst>
              <a:path h="1516054" w="1516054">
                <a:moveTo>
                  <a:pt x="0" y="0"/>
                </a:moveTo>
                <a:lnTo>
                  <a:pt x="1516054" y="0"/>
                </a:lnTo>
                <a:lnTo>
                  <a:pt x="1516054" y="1516055"/>
                </a:lnTo>
                <a:lnTo>
                  <a:pt x="0" y="151605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745414" y="2990211"/>
            <a:ext cx="1618884" cy="1403707"/>
          </a:xfrm>
          <a:custGeom>
            <a:avLst/>
            <a:gdLst/>
            <a:ahLst/>
            <a:cxnLst/>
            <a:rect r="r" b="b" t="t" l="l"/>
            <a:pathLst>
              <a:path h="1403707" w="1618884">
                <a:moveTo>
                  <a:pt x="0" y="0"/>
                </a:moveTo>
                <a:lnTo>
                  <a:pt x="1618884" y="0"/>
                </a:lnTo>
                <a:lnTo>
                  <a:pt x="1618884" y="1403707"/>
                </a:lnTo>
                <a:lnTo>
                  <a:pt x="0" y="1403707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2708329" y="3692065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1" y="0"/>
                </a:lnTo>
                <a:lnTo>
                  <a:pt x="971131" y="365498"/>
                </a:lnTo>
                <a:lnTo>
                  <a:pt x="0" y="36549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5801743" y="3650530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1" y="0"/>
                </a:lnTo>
                <a:lnTo>
                  <a:pt x="971131" y="365499"/>
                </a:lnTo>
                <a:lnTo>
                  <a:pt x="0" y="365499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8954953" y="3733068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1" y="0"/>
                </a:lnTo>
                <a:lnTo>
                  <a:pt x="971131" y="365499"/>
                </a:lnTo>
                <a:lnTo>
                  <a:pt x="0" y="365499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189748" y="3733068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0" y="0"/>
                </a:lnTo>
                <a:lnTo>
                  <a:pt x="971130" y="365499"/>
                </a:lnTo>
                <a:lnTo>
                  <a:pt x="0" y="365499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2150445" y="7378797"/>
            <a:ext cx="692003" cy="260445"/>
          </a:xfrm>
          <a:custGeom>
            <a:avLst/>
            <a:gdLst/>
            <a:ahLst/>
            <a:cxnLst/>
            <a:rect r="r" b="b" t="t" l="l"/>
            <a:pathLst>
              <a:path h="260445" w="692003">
                <a:moveTo>
                  <a:pt x="0" y="0"/>
                </a:moveTo>
                <a:lnTo>
                  <a:pt x="692003" y="0"/>
                </a:lnTo>
                <a:lnTo>
                  <a:pt x="692003" y="260445"/>
                </a:lnTo>
                <a:lnTo>
                  <a:pt x="0" y="260445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4405843" y="7312222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0" y="0"/>
                </a:lnTo>
                <a:lnTo>
                  <a:pt x="971130" y="365498"/>
                </a:lnTo>
                <a:lnTo>
                  <a:pt x="0" y="36549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6679342" y="7424949"/>
            <a:ext cx="803507" cy="302411"/>
          </a:xfrm>
          <a:custGeom>
            <a:avLst/>
            <a:gdLst/>
            <a:ahLst/>
            <a:cxnLst/>
            <a:rect r="r" b="b" t="t" l="l"/>
            <a:pathLst>
              <a:path h="302411" w="803507">
                <a:moveTo>
                  <a:pt x="0" y="0"/>
                </a:moveTo>
                <a:lnTo>
                  <a:pt x="803507" y="0"/>
                </a:lnTo>
                <a:lnTo>
                  <a:pt x="803507" y="302411"/>
                </a:lnTo>
                <a:lnTo>
                  <a:pt x="0" y="302411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8568699" y="7424949"/>
            <a:ext cx="971131" cy="365498"/>
          </a:xfrm>
          <a:custGeom>
            <a:avLst/>
            <a:gdLst/>
            <a:ahLst/>
            <a:cxnLst/>
            <a:rect r="r" b="b" t="t" l="l"/>
            <a:pathLst>
              <a:path h="365498" w="971131">
                <a:moveTo>
                  <a:pt x="0" y="0"/>
                </a:moveTo>
                <a:lnTo>
                  <a:pt x="971131" y="0"/>
                </a:lnTo>
                <a:lnTo>
                  <a:pt x="971131" y="365498"/>
                </a:lnTo>
                <a:lnTo>
                  <a:pt x="0" y="36549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0902392" y="7551319"/>
            <a:ext cx="671694" cy="252801"/>
          </a:xfrm>
          <a:custGeom>
            <a:avLst/>
            <a:gdLst/>
            <a:ahLst/>
            <a:cxnLst/>
            <a:rect r="r" b="b" t="t" l="l"/>
            <a:pathLst>
              <a:path h="252801" w="671694">
                <a:moveTo>
                  <a:pt x="0" y="0"/>
                </a:moveTo>
                <a:lnTo>
                  <a:pt x="671694" y="0"/>
                </a:lnTo>
                <a:lnTo>
                  <a:pt x="671694" y="252801"/>
                </a:lnTo>
                <a:lnTo>
                  <a:pt x="0" y="252801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3062276" y="7594897"/>
            <a:ext cx="613037" cy="230725"/>
          </a:xfrm>
          <a:custGeom>
            <a:avLst/>
            <a:gdLst/>
            <a:ahLst/>
            <a:cxnLst/>
            <a:rect r="r" b="b" t="t" l="l"/>
            <a:pathLst>
              <a:path h="230725" w="613037">
                <a:moveTo>
                  <a:pt x="0" y="0"/>
                </a:moveTo>
                <a:lnTo>
                  <a:pt x="613037" y="0"/>
                </a:lnTo>
                <a:lnTo>
                  <a:pt x="613037" y="230725"/>
                </a:lnTo>
                <a:lnTo>
                  <a:pt x="0" y="230725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5395643" y="7542286"/>
            <a:ext cx="719695" cy="270867"/>
          </a:xfrm>
          <a:custGeom>
            <a:avLst/>
            <a:gdLst/>
            <a:ahLst/>
            <a:cxnLst/>
            <a:rect r="r" b="b" t="t" l="l"/>
            <a:pathLst>
              <a:path h="270867" w="719695">
                <a:moveTo>
                  <a:pt x="0" y="0"/>
                </a:moveTo>
                <a:lnTo>
                  <a:pt x="719695" y="0"/>
                </a:lnTo>
                <a:lnTo>
                  <a:pt x="719695" y="270867"/>
                </a:lnTo>
                <a:lnTo>
                  <a:pt x="0" y="270867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0" y="5522124"/>
            <a:ext cx="18411909" cy="138089"/>
          </a:xfrm>
          <a:custGeom>
            <a:avLst/>
            <a:gdLst/>
            <a:ahLst/>
            <a:cxnLst/>
            <a:rect r="r" b="b" t="t" l="l"/>
            <a:pathLst>
              <a:path h="138089" w="18411909">
                <a:moveTo>
                  <a:pt x="0" y="0"/>
                </a:moveTo>
                <a:lnTo>
                  <a:pt x="18411909" y="0"/>
                </a:lnTo>
                <a:lnTo>
                  <a:pt x="18411909" y="138090"/>
                </a:lnTo>
                <a:lnTo>
                  <a:pt x="0" y="138090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539943" y="397051"/>
            <a:ext cx="11494731" cy="1139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6"/>
              </a:lnSpc>
            </a:pPr>
            <a:r>
              <a:rPr lang="en-US" b="true" sz="6697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Arquitectura de la solución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39943" y="8639764"/>
            <a:ext cx="2987759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Usu</a:t>
            </a:r>
            <a:r>
              <a:rPr lang="en-US" sz="2500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ario pide datos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550130" y="8827089"/>
            <a:ext cx="1474887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API</a:t>
            </a:r>
            <a:r>
              <a:rPr lang="en-US" sz="2500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 recibe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5193273" y="6079868"/>
            <a:ext cx="3448496" cy="430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76"/>
              </a:lnSpc>
              <a:spcBef>
                <a:spcPct val="0"/>
              </a:spcBef>
            </a:pPr>
            <a:r>
              <a:rPr lang="en-US" sz="2554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API consulta MongoDB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916444" y="8973205"/>
            <a:ext cx="3048149" cy="4301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90"/>
              </a:lnSpc>
              <a:spcBef>
                <a:spcPct val="0"/>
              </a:spcBef>
            </a:pPr>
            <a:r>
              <a:rPr lang="en-US" sz="2564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MongoDB responde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823385" y="5974539"/>
            <a:ext cx="4566493" cy="448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11"/>
              </a:lnSpc>
              <a:spcBef>
                <a:spcPct val="0"/>
              </a:spcBef>
            </a:pPr>
            <a:r>
              <a:rPr lang="en-US" sz="2579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API manda JSON al navegador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4772958" y="8154551"/>
            <a:ext cx="3515042" cy="815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8"/>
              </a:lnSpc>
              <a:spcBef>
                <a:spcPct val="0"/>
              </a:spcBef>
            </a:pPr>
            <a:r>
              <a:rPr lang="en-US" sz="2406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Usuario visualiza productos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79835" y="2193375"/>
            <a:ext cx="5674965" cy="4223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4"/>
              </a:lnSpc>
              <a:spcBef>
                <a:spcPct val="0"/>
              </a:spcBef>
            </a:pPr>
            <a:r>
              <a:rPr lang="en-US" b="true" sz="2495">
                <a:solidFill>
                  <a:srgbClr val="6BCBD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El administrador ejecuta el scraping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4405843" y="4827333"/>
            <a:ext cx="4036516" cy="431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05"/>
              </a:lnSpc>
              <a:spcBef>
                <a:spcPct val="0"/>
              </a:spcBef>
            </a:pPr>
            <a:r>
              <a:rPr lang="en-US" b="true" sz="2503">
                <a:solidFill>
                  <a:srgbClr val="6BCBD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 API dispara el proceso.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8334704" y="2027332"/>
            <a:ext cx="5826175" cy="448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27"/>
              </a:lnSpc>
              <a:spcBef>
                <a:spcPct val="0"/>
              </a:spcBef>
            </a:pPr>
            <a:r>
              <a:rPr lang="en-US" b="true" sz="2591">
                <a:solidFill>
                  <a:srgbClr val="6BCBD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b="true" sz="2591">
                <a:solidFill>
                  <a:srgbClr val="6BCBD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xtrae datos de los supermercados.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2472885" y="4689222"/>
            <a:ext cx="5579566" cy="430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98"/>
              </a:lnSpc>
              <a:spcBef>
                <a:spcPct val="0"/>
              </a:spcBef>
            </a:pPr>
            <a:r>
              <a:rPr lang="en-US" b="true" sz="2570">
                <a:solidFill>
                  <a:srgbClr val="6BCBD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Los datos se guardan en MongoDB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4595433" y="9255487"/>
            <a:ext cx="3515042" cy="8151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68"/>
              </a:lnSpc>
              <a:spcBef>
                <a:spcPct val="0"/>
              </a:spcBef>
            </a:pPr>
            <a:r>
              <a:rPr lang="en-US" sz="2406">
                <a:solidFill>
                  <a:srgbClr val="C5B88F"/>
                </a:solidFill>
                <a:latin typeface="Open Sans"/>
                <a:ea typeface="Open Sans"/>
                <a:cs typeface="Open Sans"/>
                <a:sym typeface="Open Sans"/>
              </a:rPr>
              <a:t>Cliente accede Dashboard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-37622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12694" y="1606979"/>
            <a:ext cx="14681570" cy="8258383"/>
          </a:xfrm>
          <a:custGeom>
            <a:avLst/>
            <a:gdLst/>
            <a:ahLst/>
            <a:cxnLst/>
            <a:rect r="r" b="b" t="t" l="l"/>
            <a:pathLst>
              <a:path h="8258383" w="14681570">
                <a:moveTo>
                  <a:pt x="0" y="0"/>
                </a:moveTo>
                <a:lnTo>
                  <a:pt x="14681569" y="0"/>
                </a:lnTo>
                <a:lnTo>
                  <a:pt x="14681569" y="8258383"/>
                </a:lnTo>
                <a:lnTo>
                  <a:pt x="0" y="82583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-531427" y="-299542"/>
            <a:ext cx="11638499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Mod</a:t>
            </a:r>
            <a:r>
              <a:rPr lang="en-US" b="true" sz="920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elo de datos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915380" y="6915028"/>
            <a:ext cx="2064829" cy="1937185"/>
          </a:xfrm>
          <a:custGeom>
            <a:avLst/>
            <a:gdLst/>
            <a:ahLst/>
            <a:cxnLst/>
            <a:rect r="r" b="b" t="t" l="l"/>
            <a:pathLst>
              <a:path h="1937185" w="2064829">
                <a:moveTo>
                  <a:pt x="0" y="0"/>
                </a:moveTo>
                <a:lnTo>
                  <a:pt x="2064828" y="0"/>
                </a:lnTo>
                <a:lnTo>
                  <a:pt x="2064828" y="1937184"/>
                </a:lnTo>
                <a:lnTo>
                  <a:pt x="0" y="19371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5078919" y="7044938"/>
            <a:ext cx="3134964" cy="1861385"/>
          </a:xfrm>
          <a:custGeom>
            <a:avLst/>
            <a:gdLst/>
            <a:ahLst/>
            <a:cxnLst/>
            <a:rect r="r" b="b" t="t" l="l"/>
            <a:pathLst>
              <a:path h="1861385" w="3134964">
                <a:moveTo>
                  <a:pt x="0" y="0"/>
                </a:moveTo>
                <a:lnTo>
                  <a:pt x="3134964" y="0"/>
                </a:lnTo>
                <a:lnTo>
                  <a:pt x="3134964" y="1861385"/>
                </a:lnTo>
                <a:lnTo>
                  <a:pt x="0" y="186138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994026" y="6686078"/>
            <a:ext cx="2220245" cy="2220245"/>
          </a:xfrm>
          <a:custGeom>
            <a:avLst/>
            <a:gdLst/>
            <a:ahLst/>
            <a:cxnLst/>
            <a:rect r="r" b="b" t="t" l="l"/>
            <a:pathLst>
              <a:path h="2220245" w="2220245">
                <a:moveTo>
                  <a:pt x="0" y="0"/>
                </a:moveTo>
                <a:lnTo>
                  <a:pt x="2220245" y="0"/>
                </a:lnTo>
                <a:lnTo>
                  <a:pt x="2220245" y="2220245"/>
                </a:lnTo>
                <a:lnTo>
                  <a:pt x="0" y="22202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943876" y="6860918"/>
            <a:ext cx="2460638" cy="2045405"/>
          </a:xfrm>
          <a:custGeom>
            <a:avLst/>
            <a:gdLst/>
            <a:ahLst/>
            <a:cxnLst/>
            <a:rect r="r" b="b" t="t" l="l"/>
            <a:pathLst>
              <a:path h="2045405" w="2460638">
                <a:moveTo>
                  <a:pt x="0" y="0"/>
                </a:moveTo>
                <a:lnTo>
                  <a:pt x="2460637" y="0"/>
                </a:lnTo>
                <a:lnTo>
                  <a:pt x="2460637" y="2045405"/>
                </a:lnTo>
                <a:lnTo>
                  <a:pt x="0" y="204540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4812640" y="2858591"/>
            <a:ext cx="3667521" cy="4578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53"/>
              </a:lnSpc>
            </a:pPr>
            <a:r>
              <a:rPr lang="en-US" sz="17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</a:t>
            </a:r>
            <a:r>
              <a:rPr lang="en-US" sz="17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ndencia trimestral de ahorro potencial (T4 vs T1)</a:t>
            </a:r>
          </a:p>
          <a:p>
            <a:pPr algn="ctr">
              <a:lnSpc>
                <a:spcPts val="2453"/>
              </a:lnSpc>
            </a:pPr>
          </a:p>
          <a:p>
            <a:pPr algn="ctr">
              <a:lnSpc>
                <a:spcPts val="2453"/>
              </a:lnSpc>
            </a:pPr>
            <a:r>
              <a:rPr lang="en-US" sz="17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Qué: Medir cuánto pueden ahorrar las Pymes comparando T4 y T1</a:t>
            </a:r>
          </a:p>
          <a:p>
            <a:pPr algn="ctr">
              <a:lnSpc>
                <a:spcPts val="2453"/>
              </a:lnSpc>
            </a:pPr>
            <a:r>
              <a:rPr lang="en-US" sz="17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qué: Identificar dónde conviene comprar según la evolución de precios.</a:t>
            </a:r>
          </a:p>
          <a:p>
            <a:pPr algn="ctr">
              <a:lnSpc>
                <a:spcPts val="2453"/>
              </a:lnSpc>
            </a:pPr>
            <a:r>
              <a:rPr lang="en-US" sz="1752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Cómo: Usar preciosHistoricos + productos, obtener precio mínimo por categoría y comparar entre trimestres.</a:t>
            </a:r>
          </a:p>
          <a:p>
            <a:pPr algn="ctr">
              <a:lnSpc>
                <a:spcPts val="2453"/>
              </a:lnSpc>
            </a:pPr>
          </a:p>
          <a:p>
            <a:pPr algn="ctr">
              <a:lnSpc>
                <a:spcPts val="2453"/>
              </a:lnSpc>
            </a:pPr>
          </a:p>
          <a:p>
            <a:pPr algn="ctr">
              <a:lnSpc>
                <a:spcPts val="2453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-387643" y="422402"/>
            <a:ext cx="13215588" cy="9417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27"/>
              </a:lnSpc>
            </a:pPr>
            <a:r>
              <a:rPr lang="en-US" sz="5519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El</a:t>
            </a:r>
            <a:r>
              <a:rPr lang="en-US" b="true" sz="551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ementos Analíticos a Incorporar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3857" y="2858591"/>
            <a:ext cx="3740583" cy="3946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24"/>
              </a:lnSpc>
            </a:pP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riación semestral de precios (2025-2026)</a:t>
            </a:r>
          </a:p>
          <a:p>
            <a:pPr algn="ctr">
              <a:lnSpc>
                <a:spcPts val="2424"/>
              </a:lnSpc>
            </a:pPr>
          </a:p>
          <a:p>
            <a:pPr algn="ctr">
              <a:lnSpc>
                <a:spcPts val="2424"/>
              </a:lnSpc>
            </a:pP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Qué: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Comparar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cios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pro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io por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eg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ría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 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rmer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entre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amb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os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semestre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s.</a:t>
            </a:r>
          </a:p>
          <a:p>
            <a:pPr algn="ctr">
              <a:lnSpc>
                <a:spcPts val="2424"/>
              </a:lnSpc>
            </a:pP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qué: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Detect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 alza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s/bajas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ev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al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comp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titivi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d.</a:t>
            </a:r>
          </a:p>
          <a:p>
            <a:pPr algn="ctr">
              <a:lnSpc>
                <a:spcPts val="2424"/>
              </a:lnSpc>
            </a:pP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Cóm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Hi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ric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s,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filt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eme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ula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 pro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y v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iación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or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ual</a:t>
            </a:r>
            <a:r>
              <a:rPr lang="en-US" sz="173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ctr">
              <a:lnSpc>
                <a:spcPts val="2424"/>
              </a:lnSpc>
            </a:pPr>
          </a:p>
          <a:p>
            <a:pPr algn="ctr">
              <a:lnSpc>
                <a:spcPts val="2424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9476166" y="2837313"/>
            <a:ext cx="3351779" cy="35285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9"/>
              </a:lnSpc>
            </a:pPr>
            <a:r>
              <a:rPr lang="en-US" sz="170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Comport</a:t>
            </a:r>
            <a:r>
              <a:rPr lang="en-US" sz="170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amiento de usuarios en el tiempo (Mensual)</a:t>
            </a:r>
          </a:p>
          <a:p>
            <a:pPr algn="ctr">
              <a:lnSpc>
                <a:spcPts val="2389"/>
              </a:lnSpc>
            </a:pPr>
          </a:p>
          <a:p>
            <a:pPr algn="ctr">
              <a:lnSpc>
                <a:spcPts val="2389"/>
              </a:lnSpc>
            </a:pPr>
            <a:r>
              <a:rPr lang="en-US" sz="170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Qué: Comparar clics y búsquedas entre dos periodos definidos.</a:t>
            </a:r>
          </a:p>
          <a:p>
            <a:pPr algn="ctr">
              <a:lnSpc>
                <a:spcPts val="2389"/>
              </a:lnSpc>
            </a:pPr>
            <a:r>
              <a:rPr lang="en-US" sz="170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qué: Mejorar experiencia, priorizar categorías y optimizar el uso de la plataforma.</a:t>
            </a:r>
          </a:p>
          <a:p>
            <a:pPr algn="ctr">
              <a:lnSpc>
                <a:spcPts val="2389"/>
              </a:lnSpc>
            </a:pPr>
            <a:r>
              <a:rPr lang="en-US" sz="170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Cómo: Usar clicsUsuarios y busquedas, agrupar por mes y analizar variaciones.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053804" y="2827788"/>
            <a:ext cx="3787980" cy="353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36"/>
              </a:lnSpc>
            </a:pPr>
            <a:r>
              <a:rPr lang="en-US" sz="166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Rankin</a:t>
            </a:r>
            <a:r>
              <a:rPr lang="en-US" sz="166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 mensual de variación de precios</a:t>
            </a:r>
          </a:p>
          <a:p>
            <a:pPr algn="ctr">
              <a:lnSpc>
                <a:spcPts val="2336"/>
              </a:lnSpc>
            </a:pPr>
          </a:p>
          <a:p>
            <a:pPr algn="ctr">
              <a:lnSpc>
                <a:spcPts val="2336"/>
              </a:lnSpc>
            </a:pPr>
            <a:r>
              <a:rPr lang="en-US" sz="166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Qué: Identificar productos con mayor alza o baja mensual.</a:t>
            </a:r>
          </a:p>
          <a:p>
            <a:pPr algn="ctr">
              <a:lnSpc>
                <a:spcPts val="2336"/>
              </a:lnSpc>
            </a:pPr>
            <a:r>
              <a:rPr lang="en-US" sz="166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Para qué: Alertar sobre cambios relevantes y apoyar decisiones de compra.</a:t>
            </a:r>
          </a:p>
          <a:p>
            <a:pPr algn="ctr">
              <a:lnSpc>
                <a:spcPts val="2336"/>
              </a:lnSpc>
            </a:pPr>
            <a:r>
              <a:rPr lang="en-US" sz="1668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Cómo: Usar preciosHistoricos, comparar último precio del mes actual vs anterior y calcular variación.</a:t>
            </a:r>
          </a:p>
          <a:p>
            <a:pPr algn="ctr">
              <a:lnSpc>
                <a:spcPts val="2336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graphicFrame>
        <p:nvGraphicFramePr>
          <p:cNvPr name="Object 4" id="4"/>
          <p:cNvGraphicFramePr/>
          <p:nvPr/>
        </p:nvGraphicFramePr>
        <p:xfrm>
          <a:off x="1762865" y="1895197"/>
          <a:ext cx="5458830" cy="8229600"/>
        </p:xfrm>
        <a:graphic>
          <a:graphicData uri="http://schemas.openxmlformats.org/presentationml/2006/ole">
            <p:oleObj imgW="7099300" imgH="98679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Freeform 5" id="5"/>
          <p:cNvSpPr/>
          <p:nvPr/>
        </p:nvSpPr>
        <p:spPr>
          <a:xfrm flipH="false" flipV="false" rot="0">
            <a:off x="7755271" y="2513233"/>
            <a:ext cx="689417" cy="689417"/>
          </a:xfrm>
          <a:custGeom>
            <a:avLst/>
            <a:gdLst/>
            <a:ahLst/>
            <a:cxnLst/>
            <a:rect r="r" b="b" t="t" l="l"/>
            <a:pathLst>
              <a:path h="689417" w="689417">
                <a:moveTo>
                  <a:pt x="0" y="0"/>
                </a:moveTo>
                <a:lnTo>
                  <a:pt x="689416" y="0"/>
                </a:lnTo>
                <a:lnTo>
                  <a:pt x="689416" y="689416"/>
                </a:lnTo>
                <a:lnTo>
                  <a:pt x="0" y="68941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7973561" y="3202649"/>
            <a:ext cx="577235" cy="577235"/>
          </a:xfrm>
          <a:custGeom>
            <a:avLst/>
            <a:gdLst/>
            <a:ahLst/>
            <a:cxnLst/>
            <a:rect r="r" b="b" t="t" l="l"/>
            <a:pathLst>
              <a:path h="577235" w="577235">
                <a:moveTo>
                  <a:pt x="0" y="0"/>
                </a:moveTo>
                <a:lnTo>
                  <a:pt x="577235" y="0"/>
                </a:lnTo>
                <a:lnTo>
                  <a:pt x="577235" y="577235"/>
                </a:lnTo>
                <a:lnTo>
                  <a:pt x="0" y="5772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7973561" y="3846247"/>
            <a:ext cx="696217" cy="696217"/>
          </a:xfrm>
          <a:custGeom>
            <a:avLst/>
            <a:gdLst/>
            <a:ahLst/>
            <a:cxnLst/>
            <a:rect r="r" b="b" t="t" l="l"/>
            <a:pathLst>
              <a:path h="696217" w="696217">
                <a:moveTo>
                  <a:pt x="0" y="0"/>
                </a:moveTo>
                <a:lnTo>
                  <a:pt x="696216" y="0"/>
                </a:lnTo>
                <a:lnTo>
                  <a:pt x="696216" y="696217"/>
                </a:lnTo>
                <a:lnTo>
                  <a:pt x="0" y="6962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669777" y="4608826"/>
            <a:ext cx="2028687" cy="669467"/>
          </a:xfrm>
          <a:custGeom>
            <a:avLst/>
            <a:gdLst/>
            <a:ahLst/>
            <a:cxnLst/>
            <a:rect r="r" b="b" t="t" l="l"/>
            <a:pathLst>
              <a:path h="669467" w="2028687">
                <a:moveTo>
                  <a:pt x="0" y="0"/>
                </a:moveTo>
                <a:lnTo>
                  <a:pt x="2028687" y="0"/>
                </a:lnTo>
                <a:lnTo>
                  <a:pt x="2028687" y="669467"/>
                </a:lnTo>
                <a:lnTo>
                  <a:pt x="0" y="6694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8262178" y="5544993"/>
            <a:ext cx="2993865" cy="602515"/>
          </a:xfrm>
          <a:custGeom>
            <a:avLst/>
            <a:gdLst/>
            <a:ahLst/>
            <a:cxnLst/>
            <a:rect r="r" b="b" t="t" l="l"/>
            <a:pathLst>
              <a:path h="602515" w="2993865">
                <a:moveTo>
                  <a:pt x="0" y="0"/>
                </a:moveTo>
                <a:lnTo>
                  <a:pt x="2993866" y="0"/>
                </a:lnTo>
                <a:lnTo>
                  <a:pt x="2993866" y="602515"/>
                </a:lnTo>
                <a:lnTo>
                  <a:pt x="0" y="60251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8669777" y="6147508"/>
            <a:ext cx="573807" cy="573807"/>
          </a:xfrm>
          <a:custGeom>
            <a:avLst/>
            <a:gdLst/>
            <a:ahLst/>
            <a:cxnLst/>
            <a:rect r="r" b="b" t="t" l="l"/>
            <a:pathLst>
              <a:path h="573807" w="573807">
                <a:moveTo>
                  <a:pt x="0" y="0"/>
                </a:moveTo>
                <a:lnTo>
                  <a:pt x="573808" y="0"/>
                </a:lnTo>
                <a:lnTo>
                  <a:pt x="573808" y="573808"/>
                </a:lnTo>
                <a:lnTo>
                  <a:pt x="0" y="5738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9410015" y="6173104"/>
            <a:ext cx="548212" cy="548212"/>
          </a:xfrm>
          <a:custGeom>
            <a:avLst/>
            <a:gdLst/>
            <a:ahLst/>
            <a:cxnLst/>
            <a:rect r="r" b="b" t="t" l="l"/>
            <a:pathLst>
              <a:path h="548212" w="548212">
                <a:moveTo>
                  <a:pt x="0" y="0"/>
                </a:moveTo>
                <a:lnTo>
                  <a:pt x="548212" y="0"/>
                </a:lnTo>
                <a:lnTo>
                  <a:pt x="548212" y="548212"/>
                </a:lnTo>
                <a:lnTo>
                  <a:pt x="0" y="54821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8262178" y="6864689"/>
            <a:ext cx="1890637" cy="594735"/>
          </a:xfrm>
          <a:custGeom>
            <a:avLst/>
            <a:gdLst/>
            <a:ahLst/>
            <a:cxnLst/>
            <a:rect r="r" b="b" t="t" l="l"/>
            <a:pathLst>
              <a:path h="594735" w="1890637">
                <a:moveTo>
                  <a:pt x="0" y="0"/>
                </a:moveTo>
                <a:lnTo>
                  <a:pt x="1890637" y="0"/>
                </a:lnTo>
                <a:lnTo>
                  <a:pt x="1890637" y="594735"/>
                </a:lnTo>
                <a:lnTo>
                  <a:pt x="0" y="59473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5923" t="0" r="-5923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8321669" y="7459424"/>
            <a:ext cx="1772612" cy="621111"/>
          </a:xfrm>
          <a:custGeom>
            <a:avLst/>
            <a:gdLst/>
            <a:ahLst/>
            <a:cxnLst/>
            <a:rect r="r" b="b" t="t" l="l"/>
            <a:pathLst>
              <a:path h="621111" w="1772612">
                <a:moveTo>
                  <a:pt x="0" y="0"/>
                </a:moveTo>
                <a:lnTo>
                  <a:pt x="1772612" y="0"/>
                </a:lnTo>
                <a:lnTo>
                  <a:pt x="1772612" y="621112"/>
                </a:lnTo>
                <a:lnTo>
                  <a:pt x="0" y="6211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-2976" r="0" b="-2976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8895421" y="8109111"/>
            <a:ext cx="2125611" cy="464977"/>
          </a:xfrm>
          <a:custGeom>
            <a:avLst/>
            <a:gdLst/>
            <a:ahLst/>
            <a:cxnLst/>
            <a:rect r="r" b="b" t="t" l="l"/>
            <a:pathLst>
              <a:path h="464977" w="2125611">
                <a:moveTo>
                  <a:pt x="0" y="0"/>
                </a:moveTo>
                <a:lnTo>
                  <a:pt x="2125611" y="0"/>
                </a:lnTo>
                <a:lnTo>
                  <a:pt x="2125611" y="464977"/>
                </a:lnTo>
                <a:lnTo>
                  <a:pt x="0" y="46497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8581014" y="8716963"/>
            <a:ext cx="1658003" cy="470245"/>
          </a:xfrm>
          <a:custGeom>
            <a:avLst/>
            <a:gdLst/>
            <a:ahLst/>
            <a:cxnLst/>
            <a:rect r="r" b="b" t="t" l="l"/>
            <a:pathLst>
              <a:path h="470245" w="1658003">
                <a:moveTo>
                  <a:pt x="0" y="0"/>
                </a:moveTo>
                <a:lnTo>
                  <a:pt x="1658002" y="0"/>
                </a:lnTo>
                <a:lnTo>
                  <a:pt x="1658002" y="470245"/>
                </a:lnTo>
                <a:lnTo>
                  <a:pt x="0" y="47024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-24856" r="0" b="-40417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-352812" y="201664"/>
            <a:ext cx="12505341" cy="1345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99"/>
              </a:lnSpc>
            </a:pPr>
            <a:r>
              <a:rPr lang="en-US" sz="7928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</a:t>
            </a:r>
            <a:r>
              <a:rPr lang="en-US" b="true" sz="7928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ecnologías utilizadas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127210" y="1891350"/>
            <a:ext cx="5052941" cy="4509750"/>
          </a:xfrm>
          <a:custGeom>
            <a:avLst/>
            <a:gdLst/>
            <a:ahLst/>
            <a:cxnLst/>
            <a:rect r="r" b="b" t="t" l="l"/>
            <a:pathLst>
              <a:path h="4509750" w="5052941">
                <a:moveTo>
                  <a:pt x="0" y="0"/>
                </a:moveTo>
                <a:lnTo>
                  <a:pt x="5052941" y="0"/>
                </a:lnTo>
                <a:lnTo>
                  <a:pt x="5052941" y="4509750"/>
                </a:lnTo>
                <a:lnTo>
                  <a:pt x="0" y="45097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553369" y="6568129"/>
            <a:ext cx="6705931" cy="3135023"/>
          </a:xfrm>
          <a:custGeom>
            <a:avLst/>
            <a:gdLst/>
            <a:ahLst/>
            <a:cxnLst/>
            <a:rect r="r" b="b" t="t" l="l"/>
            <a:pathLst>
              <a:path h="3135023" w="6705931">
                <a:moveTo>
                  <a:pt x="0" y="0"/>
                </a:moveTo>
                <a:lnTo>
                  <a:pt x="6705931" y="0"/>
                </a:lnTo>
                <a:lnTo>
                  <a:pt x="6705931" y="3135023"/>
                </a:lnTo>
                <a:lnTo>
                  <a:pt x="0" y="313502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569833" y="2518765"/>
            <a:ext cx="9438052" cy="6522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1"/>
              </a:lnSpc>
            </a:pPr>
            <a:r>
              <a:rPr lang="en-US" sz="2515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Consumidor:</a:t>
            </a:r>
          </a:p>
          <a:p>
            <a:pPr algn="l">
              <a:lnSpc>
                <a:spcPts val="3521"/>
              </a:lnSpc>
            </a:pP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Buscador unificado operativo.</a:t>
            </a: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Visualización clara de productos y prec</a:t>
            </a: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ios actualizados.</a:t>
            </a:r>
          </a:p>
          <a:p>
            <a:pPr algn="l">
              <a:lnSpc>
                <a:spcPts val="3521"/>
              </a:lnSpc>
            </a:pPr>
          </a:p>
          <a:p>
            <a:pPr algn="l">
              <a:lnSpc>
                <a:spcPts val="3521"/>
              </a:lnSpc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Pyme/Comercio:</a:t>
            </a:r>
          </a:p>
          <a:p>
            <a:pPr algn="l">
              <a:lnSpc>
                <a:spcPts val="3521"/>
              </a:lnSpc>
            </a:pP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BD centralizada lista para análisis temporal.</a:t>
            </a: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Historial de precios y dashboard inicial funcionando.</a:t>
            </a:r>
          </a:p>
          <a:p>
            <a:pPr algn="l">
              <a:lnSpc>
                <a:spcPts val="3521"/>
              </a:lnSpc>
            </a:pPr>
          </a:p>
          <a:p>
            <a:pPr algn="l">
              <a:lnSpc>
                <a:spcPts val="3521"/>
              </a:lnSpc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Técnico:</a:t>
            </a:r>
          </a:p>
          <a:p>
            <a:pPr algn="l">
              <a:lnSpc>
                <a:spcPts val="3521"/>
              </a:lnSpc>
            </a:pP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Sistema estable y modular.</a:t>
            </a:r>
          </a:p>
          <a:p>
            <a:pPr algn="l" marL="543027" indent="-271514" lvl="1">
              <a:lnSpc>
                <a:spcPts val="3521"/>
              </a:lnSpc>
              <a:buFont typeface="Arial"/>
              <a:buChar char="•"/>
            </a:pPr>
            <a:r>
              <a:rPr lang="en-US" b="true" sz="2515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Scraping administrado con datos diarios.</a:t>
            </a:r>
          </a:p>
          <a:p>
            <a:pPr algn="l">
              <a:lnSpc>
                <a:spcPts val="3326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569833" y="206693"/>
            <a:ext cx="10557377" cy="13255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31"/>
              </a:lnSpc>
            </a:pPr>
            <a:r>
              <a:rPr lang="en-US" sz="7736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b="true" sz="7736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esultados obtenidos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071901" y="2470729"/>
            <a:ext cx="6368401" cy="5945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4"/>
              </a:lnSpc>
              <a:spcBef>
                <a:spcPct val="0"/>
              </a:spcBef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2. Errores de Integración entre Backend y Frontend</a:t>
            </a:r>
          </a:p>
          <a:p>
            <a:pPr algn="l">
              <a:lnSpc>
                <a:spcPts val="2804"/>
              </a:lnSpc>
              <a:spcBef>
                <a:spcPct val="0"/>
              </a:spcBef>
            </a:pPr>
          </a:p>
          <a:p>
            <a:pPr algn="l">
              <a:lnSpc>
                <a:spcPts val="2804"/>
              </a:lnSpc>
              <a:spcBef>
                <a:spcPct val="0"/>
              </a:spcBef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Problema:</a:t>
            </a:r>
          </a:p>
          <a:p>
            <a:pPr algn="l">
              <a:lnSpc>
                <a:spcPts val="2804"/>
              </a:lnSpc>
              <a:spcBef>
                <a:spcPct val="0"/>
              </a:spcBef>
            </a:pPr>
          </a:p>
          <a:p>
            <a:pPr algn="l" marL="432567" indent="-216283" lvl="1">
              <a:lnSpc>
                <a:spcPts val="2804"/>
              </a:lnSpc>
              <a:spcBef>
                <a:spcPct val="0"/>
              </a:spcBef>
              <a:buFont typeface="Arial"/>
              <a:buChar char="•"/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El frontend no cargaba los datos en la página principal, quedando completamente en blanco debido a la ausencia de un bloque clave de inicialización.</a:t>
            </a:r>
          </a:p>
          <a:p>
            <a:pPr algn="l">
              <a:lnSpc>
                <a:spcPts val="2804"/>
              </a:lnSpc>
              <a:spcBef>
                <a:spcPct val="0"/>
              </a:spcBef>
            </a:pPr>
          </a:p>
          <a:p>
            <a:pPr algn="l">
              <a:lnSpc>
                <a:spcPts val="2804"/>
              </a:lnSpc>
              <a:spcBef>
                <a:spcPct val="0"/>
              </a:spcBef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Solución:</a:t>
            </a:r>
          </a:p>
          <a:p>
            <a:pPr algn="l">
              <a:lnSpc>
                <a:spcPts val="2804"/>
              </a:lnSpc>
              <a:spcBef>
                <a:spcPct val="0"/>
              </a:spcBef>
            </a:pPr>
          </a:p>
          <a:p>
            <a:pPr algn="l" marL="432567" indent="-216283" lvl="1">
              <a:lnSpc>
                <a:spcPts val="2804"/>
              </a:lnSpc>
              <a:spcBef>
                <a:spcPct val="0"/>
              </a:spcBef>
              <a:buFont typeface="Arial"/>
              <a:buChar char="•"/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Se identificó el script faltante y se restauró la función de carga de datos de la vista principal.</a:t>
            </a:r>
          </a:p>
          <a:p>
            <a:pPr algn="l">
              <a:lnSpc>
                <a:spcPts val="2804"/>
              </a:lnSpc>
              <a:spcBef>
                <a:spcPct val="0"/>
              </a:spcBef>
            </a:pPr>
          </a:p>
          <a:p>
            <a:pPr algn="l" marL="432567" indent="-216283" lvl="1">
              <a:lnSpc>
                <a:spcPts val="2804"/>
              </a:lnSpc>
              <a:spcBef>
                <a:spcPct val="0"/>
              </a:spcBef>
              <a:buFont typeface="Arial"/>
              <a:buChar char="•"/>
            </a:pPr>
            <a:r>
              <a:rPr lang="en-US" sz="2003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Tras la corrección, el sistema integró correctamente el panel administrativo, el catálogo y las APIs.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2109643" y="8444039"/>
            <a:ext cx="1343530" cy="1628521"/>
          </a:xfrm>
          <a:custGeom>
            <a:avLst/>
            <a:gdLst/>
            <a:ahLst/>
            <a:cxnLst/>
            <a:rect r="r" b="b" t="t" l="l"/>
            <a:pathLst>
              <a:path h="1628521" w="1343530">
                <a:moveTo>
                  <a:pt x="0" y="0"/>
                </a:moveTo>
                <a:lnTo>
                  <a:pt x="1343530" y="0"/>
                </a:lnTo>
                <a:lnTo>
                  <a:pt x="1343530" y="1628522"/>
                </a:lnTo>
                <a:lnTo>
                  <a:pt x="0" y="16285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8472570" y="8444039"/>
            <a:ext cx="1508227" cy="1469836"/>
          </a:xfrm>
          <a:custGeom>
            <a:avLst/>
            <a:gdLst/>
            <a:ahLst/>
            <a:cxnLst/>
            <a:rect r="r" b="b" t="t" l="l"/>
            <a:pathLst>
              <a:path h="1469836" w="1508227">
                <a:moveTo>
                  <a:pt x="0" y="0"/>
                </a:moveTo>
                <a:lnTo>
                  <a:pt x="1508228" y="0"/>
                </a:lnTo>
                <a:lnTo>
                  <a:pt x="1508228" y="1469836"/>
                </a:lnTo>
                <a:lnTo>
                  <a:pt x="0" y="146983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5481315" y="2968633"/>
            <a:ext cx="918112" cy="1016846"/>
          </a:xfrm>
          <a:custGeom>
            <a:avLst/>
            <a:gdLst/>
            <a:ahLst/>
            <a:cxnLst/>
            <a:rect r="r" b="b" t="t" l="l"/>
            <a:pathLst>
              <a:path h="1016846" w="918112">
                <a:moveTo>
                  <a:pt x="0" y="0"/>
                </a:moveTo>
                <a:lnTo>
                  <a:pt x="918112" y="0"/>
                </a:lnTo>
                <a:lnTo>
                  <a:pt x="918112" y="1016845"/>
                </a:lnTo>
                <a:lnTo>
                  <a:pt x="0" y="10168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54949" y="670892"/>
            <a:ext cx="10916234" cy="639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199"/>
              </a:lnSpc>
            </a:pPr>
            <a:r>
              <a:rPr lang="en-US" sz="3714" b="true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Obstáculos p</a:t>
            </a:r>
            <a:r>
              <a:rPr lang="en-US" b="true" sz="3714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resentados durante el desarrollo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14839" y="2480254"/>
            <a:ext cx="5798228" cy="59902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79"/>
              </a:lnSpc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1. Vol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atilidad y Complejidad de los Scrapers</a:t>
            </a:r>
          </a:p>
          <a:p>
            <a:pPr algn="l">
              <a:lnSpc>
                <a:spcPts val="2679"/>
              </a:lnSpc>
            </a:pPr>
          </a:p>
          <a:p>
            <a:pPr algn="l">
              <a:lnSpc>
                <a:spcPts val="2679"/>
              </a:lnSpc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Problema:</a:t>
            </a:r>
          </a:p>
          <a:p>
            <a:pPr algn="l">
              <a:lnSpc>
                <a:spcPts val="2679"/>
              </a:lnSpc>
            </a:pPr>
          </a:p>
          <a:p>
            <a:pPr algn="l" marL="413147" indent="-206573" lvl="1">
              <a:lnSpc>
                <a:spcPts val="2679"/>
              </a:lnSpc>
              <a:buFont typeface="Arial"/>
              <a:buChar char="•"/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Las páginas de los supermercados presentan estructuras cambiantes, cargadores dinámicos y selectores inestables.</a:t>
            </a:r>
          </a:p>
          <a:p>
            <a:pPr algn="l">
              <a:lnSpc>
                <a:spcPts val="2679"/>
              </a:lnSpc>
            </a:pPr>
          </a:p>
          <a:p>
            <a:pPr algn="l">
              <a:lnSpc>
                <a:spcPts val="2679"/>
              </a:lnSpc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Solución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</a:t>
            </a:r>
          </a:p>
          <a:p>
            <a:pPr algn="l">
              <a:lnSpc>
                <a:spcPts val="2679"/>
              </a:lnSpc>
            </a:pPr>
          </a:p>
          <a:p>
            <a:pPr algn="l" marL="413147" indent="-206573" lvl="1">
              <a:lnSpc>
                <a:spcPts val="2679"/>
              </a:lnSpc>
              <a:buFont typeface="Arial"/>
              <a:buChar char="•"/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ali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z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ó una depuración avanzada de selectores CSS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detección de nodos dinámicos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y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reestructuración de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 lógica de extracción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l">
              <a:lnSpc>
                <a:spcPts val="2679"/>
              </a:lnSpc>
            </a:pPr>
          </a:p>
          <a:p>
            <a:pPr algn="l" marL="413147" indent="-206573" lvl="1">
              <a:lnSpc>
                <a:spcPts val="2679"/>
              </a:lnSpc>
              <a:buFont typeface="Arial"/>
              <a:buChar char="•"/>
            </a:pP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Esto p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rmitió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stabi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iz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 las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aptura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 de  los productos,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asegurando  una 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be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tu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 compl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</a:t>
            </a:r>
            <a:r>
              <a:rPr lang="en-US" sz="1913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ta.</a:t>
            </a:r>
          </a:p>
          <a:p>
            <a:pPr algn="l">
              <a:lnSpc>
                <a:spcPts val="2679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2440302" y="2470729"/>
            <a:ext cx="5847698" cy="7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0"/>
              </a:lnSpc>
              <a:spcBef>
                <a:spcPct val="0"/>
              </a:spcBef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3. Migración Crítica de Base de Datos</a:t>
            </a:r>
          </a:p>
          <a:p>
            <a:pPr algn="l">
              <a:lnSpc>
                <a:spcPts val="3100"/>
              </a:lnSpc>
              <a:spcBef>
                <a:spcPct val="0"/>
              </a:spcBef>
            </a:pPr>
          </a:p>
          <a:p>
            <a:pPr algn="l">
              <a:lnSpc>
                <a:spcPts val="3100"/>
              </a:lnSpc>
              <a:spcBef>
                <a:spcPct val="0"/>
              </a:spcBef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Problema:</a:t>
            </a:r>
          </a:p>
          <a:p>
            <a:pPr algn="l">
              <a:lnSpc>
                <a:spcPts val="3100"/>
              </a:lnSpc>
              <a:spcBef>
                <a:spcPct val="0"/>
              </a:spcBef>
            </a:pPr>
          </a:p>
          <a:p>
            <a:pPr algn="l" marL="478201" indent="-239100" lvl="1">
              <a:lnSpc>
                <a:spcPts val="3100"/>
              </a:lnSpc>
              <a:spcBef>
                <a:spcPct val="0"/>
              </a:spcBef>
              <a:buFont typeface="Arial"/>
              <a:buChar char="•"/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El proyecto comenzó en Firebase, pero Firestore no soportaba las agregaciones complejas ni las consultas históricas necesarias para el módulo analítico.</a:t>
            </a:r>
          </a:p>
          <a:p>
            <a:pPr algn="l">
              <a:lnSpc>
                <a:spcPts val="3100"/>
              </a:lnSpc>
              <a:spcBef>
                <a:spcPct val="0"/>
              </a:spcBef>
            </a:pPr>
          </a:p>
          <a:p>
            <a:pPr algn="l">
              <a:lnSpc>
                <a:spcPts val="3100"/>
              </a:lnSpc>
              <a:spcBef>
                <a:spcPct val="0"/>
              </a:spcBef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Solución:</a:t>
            </a:r>
          </a:p>
          <a:p>
            <a:pPr algn="l">
              <a:lnSpc>
                <a:spcPts val="3100"/>
              </a:lnSpc>
              <a:spcBef>
                <a:spcPct val="0"/>
              </a:spcBef>
            </a:pPr>
          </a:p>
          <a:p>
            <a:pPr algn="l" marL="478201" indent="-239100" lvl="1">
              <a:lnSpc>
                <a:spcPts val="3100"/>
              </a:lnSpc>
              <a:spcBef>
                <a:spcPct val="0"/>
              </a:spcBef>
              <a:buFont typeface="Arial"/>
              <a:buChar char="•"/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Se ejecutó una migración completa a MongoDB Atlas, incluyendo refactorización del backend y rediseño del modelo de datos.</a:t>
            </a:r>
          </a:p>
          <a:p>
            <a:pPr algn="l">
              <a:lnSpc>
                <a:spcPts val="3100"/>
              </a:lnSpc>
              <a:spcBef>
                <a:spcPct val="0"/>
              </a:spcBef>
            </a:pPr>
          </a:p>
          <a:p>
            <a:pPr algn="l" marL="478201" indent="-239100" lvl="1">
              <a:lnSpc>
                <a:spcPts val="3100"/>
              </a:lnSpc>
              <a:spcBef>
                <a:spcPct val="0"/>
              </a:spcBef>
              <a:buFont typeface="Arial"/>
              <a:buChar char="•"/>
            </a:pPr>
            <a:r>
              <a:rPr lang="en-US" sz="2214" strike="noStrike" u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El cambio permitió manejar variación histórica, consultas comparativas y analítica avanzada con alto rendimiento.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749008" y="4495072"/>
            <a:ext cx="11824473" cy="6484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09"/>
              </a:lnSpc>
              <a:spcBef>
                <a:spcPct val="0"/>
              </a:spcBef>
            </a:pPr>
            <a:r>
              <a:rPr lang="en-US" b="true" sz="372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DEMOSTRACIÓN DEL RESULTADO DEL PROYECTO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15940" y="559457"/>
            <a:ext cx="10709250" cy="863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19"/>
              </a:lnSpc>
              <a:spcBef>
                <a:spcPct val="0"/>
              </a:spcBef>
            </a:pPr>
            <a:r>
              <a:rPr lang="en-US" b="true" sz="5014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</a:t>
            </a:r>
            <a:r>
              <a:rPr lang="en-US" b="true" sz="5014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onclusión y comentario final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051508" y="2249632"/>
            <a:ext cx="13676964" cy="5306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“Una plataforma que convierte datos </a:t>
            </a: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 inteligencia comercial.”</a:t>
            </a:r>
          </a:p>
          <a:p>
            <a:pPr algn="ctr">
              <a:lnSpc>
                <a:spcPts val="3862"/>
              </a:lnSpc>
              <a:spcBef>
                <a:spcPct val="0"/>
              </a:spcBef>
            </a:pPr>
          </a:p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 Precios centralizados. Información confiable.</a:t>
            </a:r>
          </a:p>
          <a:p>
            <a:pPr algn="ctr">
              <a:lnSpc>
                <a:spcPts val="3862"/>
              </a:lnSpc>
              <a:spcBef>
                <a:spcPct val="0"/>
              </a:spcBef>
            </a:pPr>
          </a:p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Variación histórica para comparar y anticipar.</a:t>
            </a:r>
          </a:p>
          <a:p>
            <a:pPr algn="ctr">
              <a:lnSpc>
                <a:spcPts val="3862"/>
              </a:lnSpc>
              <a:spcBef>
                <a:spcPct val="0"/>
              </a:spcBef>
            </a:pPr>
          </a:p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 Analítica estratégica para negocios.</a:t>
            </a:r>
          </a:p>
          <a:p>
            <a:pPr algn="ctr">
              <a:lnSpc>
                <a:spcPts val="3862"/>
              </a:lnSpc>
              <a:spcBef>
                <a:spcPct val="0"/>
              </a:spcBef>
            </a:pPr>
          </a:p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 Tendencias reales y comportamiento del mercado.</a:t>
            </a:r>
          </a:p>
          <a:p>
            <a:pPr algn="ctr">
              <a:lnSpc>
                <a:spcPts val="3862"/>
              </a:lnSpc>
              <a:spcBef>
                <a:spcPct val="0"/>
              </a:spcBef>
            </a:pPr>
          </a:p>
          <a:p>
            <a:pPr algn="ctr">
              <a:lnSpc>
                <a:spcPts val="3862"/>
              </a:lnSpc>
              <a:spcBef>
                <a:spcPct val="0"/>
              </a:spcBef>
            </a:pPr>
            <a:r>
              <a:rPr lang="en-US" b="true" sz="2759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“Analítica que impulsa eficiencia, ahorro y mejores decisiones”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4935425" y="8546295"/>
            <a:ext cx="1035140" cy="1035140"/>
          </a:xfrm>
          <a:custGeom>
            <a:avLst/>
            <a:gdLst/>
            <a:ahLst/>
            <a:cxnLst/>
            <a:rect r="r" b="b" t="t" l="l"/>
            <a:pathLst>
              <a:path h="1035140" w="1035140">
                <a:moveTo>
                  <a:pt x="0" y="0"/>
                </a:moveTo>
                <a:lnTo>
                  <a:pt x="1035140" y="0"/>
                </a:lnTo>
                <a:lnTo>
                  <a:pt x="1035140" y="1035140"/>
                </a:lnTo>
                <a:lnTo>
                  <a:pt x="0" y="103514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423031" y="8546295"/>
            <a:ext cx="933919" cy="1034353"/>
          </a:xfrm>
          <a:custGeom>
            <a:avLst/>
            <a:gdLst/>
            <a:ahLst/>
            <a:cxnLst/>
            <a:rect r="r" b="b" t="t" l="l"/>
            <a:pathLst>
              <a:path h="1034353" w="933919">
                <a:moveTo>
                  <a:pt x="0" y="0"/>
                </a:moveTo>
                <a:lnTo>
                  <a:pt x="933919" y="0"/>
                </a:lnTo>
                <a:lnTo>
                  <a:pt x="933919" y="1034353"/>
                </a:lnTo>
                <a:lnTo>
                  <a:pt x="0" y="10343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873796" y="8430383"/>
            <a:ext cx="1133012" cy="1150266"/>
          </a:xfrm>
          <a:custGeom>
            <a:avLst/>
            <a:gdLst/>
            <a:ahLst/>
            <a:cxnLst/>
            <a:rect r="r" b="b" t="t" l="l"/>
            <a:pathLst>
              <a:path h="1150266" w="1133012">
                <a:moveTo>
                  <a:pt x="0" y="0"/>
                </a:moveTo>
                <a:lnTo>
                  <a:pt x="1133011" y="0"/>
                </a:lnTo>
                <a:lnTo>
                  <a:pt x="1133011" y="1150265"/>
                </a:lnTo>
                <a:lnTo>
                  <a:pt x="0" y="115026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305" t="-11296" r="-799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440302" y="0"/>
            <a:ext cx="5847698" cy="1891350"/>
          </a:xfrm>
          <a:custGeom>
            <a:avLst/>
            <a:gdLst/>
            <a:ahLst/>
            <a:cxnLst/>
            <a:rect r="r" b="b" t="t" l="l"/>
            <a:pathLst>
              <a:path h="1891350" w="5847698">
                <a:moveTo>
                  <a:pt x="0" y="0"/>
                </a:moveTo>
                <a:lnTo>
                  <a:pt x="5847698" y="0"/>
                </a:lnTo>
                <a:lnTo>
                  <a:pt x="5847698" y="1891350"/>
                </a:lnTo>
                <a:lnTo>
                  <a:pt x="0" y="18913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1" t="0" r="-261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4139893" y="6220906"/>
            <a:ext cx="10008214" cy="32504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637"/>
              </a:lnSpc>
            </a:pPr>
            <a:r>
              <a:rPr lang="en-US" b="true" sz="14740">
                <a:solidFill>
                  <a:srgbClr val="FFDE59"/>
                </a:solidFill>
                <a:latin typeface="Recoleta Bold"/>
                <a:ea typeface="Recoleta Bold"/>
                <a:cs typeface="Recoleta Bold"/>
                <a:sym typeface="Recoleta Bold"/>
              </a:rPr>
              <a:t>Preguntas</a:t>
            </a:r>
          </a:p>
          <a:p>
            <a:pPr algn="ctr">
              <a:lnSpc>
                <a:spcPts val="20637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2117802"/>
            <a:ext cx="15934712" cy="437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65"/>
              </a:lnSpc>
            </a:pPr>
            <a:r>
              <a:rPr lang="en-US" b="true" sz="13832">
                <a:solidFill>
                  <a:srgbClr val="000000"/>
                </a:solidFill>
                <a:latin typeface="HK Modular"/>
                <a:ea typeface="HK Modular"/>
                <a:cs typeface="HK Modular"/>
                <a:sym typeface="HK Modular"/>
              </a:rPr>
              <a:t>MUCHAS</a:t>
            </a:r>
          </a:p>
          <a:p>
            <a:pPr algn="ctr">
              <a:lnSpc>
                <a:spcPts val="11065"/>
              </a:lnSpc>
            </a:pPr>
          </a:p>
          <a:p>
            <a:pPr algn="ctr">
              <a:lnSpc>
                <a:spcPts val="11065"/>
              </a:lnSpc>
              <a:spcBef>
                <a:spcPct val="0"/>
              </a:spcBef>
            </a:pPr>
            <a:r>
              <a:rPr lang="en-US" b="true" sz="13832">
                <a:solidFill>
                  <a:srgbClr val="000000"/>
                </a:solidFill>
                <a:latin typeface="HK Modular"/>
                <a:ea typeface="HK Modular"/>
                <a:cs typeface="HK Modular"/>
                <a:sym typeface="HK Modular"/>
              </a:rPr>
              <a:t> GRACIAS</a:t>
            </a:r>
            <a:r>
              <a:rPr lang="en-US" b="true" sz="13832">
                <a:solidFill>
                  <a:srgbClr val="000000"/>
                </a:solidFill>
                <a:latin typeface="HK Modular"/>
                <a:ea typeface="HK Modular"/>
                <a:cs typeface="HK Modular"/>
                <a:sym typeface="HK Modular"/>
              </a:rPr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DAG4rMGceWA</dc:identifier>
  <dcterms:modified xsi:type="dcterms:W3CDTF">2011-08-01T06:04:30Z</dcterms:modified>
  <cp:revision>1</cp:revision>
  <dc:title>Sistema analitico de consumo</dc:title>
</cp:coreProperties>
</file>